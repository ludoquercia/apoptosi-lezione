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de4d1b547c4c5a" /><Relationship Type="http://schemas.openxmlformats.org/officeDocument/2006/relationships/extended-properties" Target="/docProps/app.xml" Id="Rb95fc80a3167473c" /><Relationship Type="http://schemas.openxmlformats.org/officeDocument/2006/relationships/officeDocument" Target="/ppt/presentation.xml" Id="R10a883deeb87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132d1994a54129"/>
  </p:sldMasterIdLst>
  <p:notesMasterIdLst>
    <p:notesMasterId xmlns:r="http://schemas.openxmlformats.org/officeDocument/2006/relationships" r:id="R0f70521a2ea54779"/>
  </p:notesMasterIdLst>
  <p:sldIdLst>
    <p:sldId xmlns:r="http://schemas.openxmlformats.org/officeDocument/2006/relationships" id="256" r:id="R9ec64bb0cccd46ef"/>
    <p:sldId xmlns:r="http://schemas.openxmlformats.org/officeDocument/2006/relationships" id="257" r:id="Rd91fb7ce709b4478"/>
    <p:sldId xmlns:r="http://schemas.openxmlformats.org/officeDocument/2006/relationships" id="258" r:id="Rf788e042cd67495d"/>
    <p:sldId xmlns:r="http://schemas.openxmlformats.org/officeDocument/2006/relationships" id="259" r:id="Rba2787eedd1a4fa5"/>
    <p:sldId xmlns:r="http://schemas.openxmlformats.org/officeDocument/2006/relationships" id="260" r:id="R15efcfb69ce84cff"/>
    <p:sldId xmlns:r="http://schemas.openxmlformats.org/officeDocument/2006/relationships" id="261" r:id="R2d401cc7fbbb47d6"/>
    <p:sldId xmlns:r="http://schemas.openxmlformats.org/officeDocument/2006/relationships" id="262" r:id="R100c2ee4af8b4461"/>
    <p:sldId xmlns:r="http://schemas.openxmlformats.org/officeDocument/2006/relationships" id="263" r:id="R83d2ba3bc74b440e"/>
    <p:sldId xmlns:r="http://schemas.openxmlformats.org/officeDocument/2006/relationships" id="264" r:id="R2181d3fb673144ad"/>
    <p:sldId xmlns:r="http://schemas.openxmlformats.org/officeDocument/2006/relationships" id="265" r:id="R8d5b50f8621f4480"/>
    <p:sldId xmlns:r="http://schemas.openxmlformats.org/officeDocument/2006/relationships" id="266" r:id="Re10a22a2b0a84a3d"/>
    <p:sldId xmlns:r="http://schemas.openxmlformats.org/officeDocument/2006/relationships" id="267" r:id="R9ee66aaec96d4618"/>
    <p:sldId xmlns:r="http://schemas.openxmlformats.org/officeDocument/2006/relationships" id="268" r:id="R474f6cf88af04b4b"/>
    <p:sldId xmlns:r="http://schemas.openxmlformats.org/officeDocument/2006/relationships" id="269" r:id="Rfd582d75cd6e413e"/>
    <p:sldId xmlns:r="http://schemas.openxmlformats.org/officeDocument/2006/relationships" id="270" r:id="Rcca4f4ef0a9c4ff9"/>
    <p:sldId xmlns:r="http://schemas.openxmlformats.org/officeDocument/2006/relationships" id="271" r:id="Re9f153e189094b95"/>
    <p:sldId xmlns:r="http://schemas.openxmlformats.org/officeDocument/2006/relationships" id="272" r:id="R411fd1b1ddf74f06"/>
    <p:sldId xmlns:r="http://schemas.openxmlformats.org/officeDocument/2006/relationships" id="273" r:id="Rd5137c2f943c452a"/>
    <p:sldId xmlns:r="http://schemas.openxmlformats.org/officeDocument/2006/relationships" id="274" r:id="R2daf36b222714ef3"/>
    <p:sldId xmlns:r="http://schemas.openxmlformats.org/officeDocument/2006/relationships" id="275" r:id="Re07861b178414a2f"/>
    <p:sldId xmlns:r="http://schemas.openxmlformats.org/officeDocument/2006/relationships" id="276" r:id="R530aec6ce15a4ed8"/>
    <p:sldId xmlns:r="http://schemas.openxmlformats.org/officeDocument/2006/relationships" id="277" r:id="Rfd245df3b52a4343"/>
    <p:sldId xmlns:r="http://schemas.openxmlformats.org/officeDocument/2006/relationships" id="278" r:id="R70396ff5b8e74f3c"/>
    <p:sldId xmlns:r="http://schemas.openxmlformats.org/officeDocument/2006/relationships" id="279" r:id="R2b6feb3b67264574"/>
    <p:sldId xmlns:r="http://schemas.openxmlformats.org/officeDocument/2006/relationships" id="280" r:id="R6a24e2dba0f74e8c"/>
    <p:sldId xmlns:r="http://schemas.openxmlformats.org/officeDocument/2006/relationships" id="281" r:id="Rf45ee714b8d44af6"/>
    <p:sldId xmlns:r="http://schemas.openxmlformats.org/officeDocument/2006/relationships" id="282" r:id="R464c78cc20c34f40"/>
    <p:sldId xmlns:r="http://schemas.openxmlformats.org/officeDocument/2006/relationships" id="283" r:id="Rd85c59f70ba749b8"/>
    <p:sldId xmlns:r="http://schemas.openxmlformats.org/officeDocument/2006/relationships" id="284" r:id="R6d233c8a0d5c4da8"/>
    <p:sldId xmlns:r="http://schemas.openxmlformats.org/officeDocument/2006/relationships" id="285" r:id="R19021b7cd59b4a20"/>
    <p:sldId xmlns:r="http://schemas.openxmlformats.org/officeDocument/2006/relationships" id="286" r:id="R4d0fdee5c808467d"/>
    <p:sldId xmlns:r="http://schemas.openxmlformats.org/officeDocument/2006/relationships" id="287" r:id="R5507f0659e274b35"/>
    <p:sldId xmlns:r="http://schemas.openxmlformats.org/officeDocument/2006/relationships" id="288" r:id="Rb3c3c35d8c9e4491"/>
    <p:sldId xmlns:r="http://schemas.openxmlformats.org/officeDocument/2006/relationships" id="289" r:id="R98aaa02ac9174edf"/>
    <p:sldId xmlns:r="http://schemas.openxmlformats.org/officeDocument/2006/relationships" id="290" r:id="Rc9771f42521c4472"/>
    <p:sldId xmlns:r="http://schemas.openxmlformats.org/officeDocument/2006/relationships" id="291" r:id="R4a07f7317f82492e"/>
    <p:sldId xmlns:r="http://schemas.openxmlformats.org/officeDocument/2006/relationships" id="292" r:id="R93a032b7ca574533"/>
    <p:sldId xmlns:r="http://schemas.openxmlformats.org/officeDocument/2006/relationships" id="293" r:id="Ra0e6dde75cab4fde"/>
    <p:sldId xmlns:r="http://schemas.openxmlformats.org/officeDocument/2006/relationships" id="294" r:id="R7c9b821709244abe"/>
    <p:sldId xmlns:r="http://schemas.openxmlformats.org/officeDocument/2006/relationships" id="295" r:id="R9612b8133be84406"/>
    <p:sldId xmlns:r="http://schemas.openxmlformats.org/officeDocument/2006/relationships" id="296" r:id="R967cf16892674b6b"/>
    <p:sldId xmlns:r="http://schemas.openxmlformats.org/officeDocument/2006/relationships" id="297" r:id="Rb867e7bfbed34cdb"/>
    <p:sldId xmlns:r="http://schemas.openxmlformats.org/officeDocument/2006/relationships" id="298" r:id="R316920c1f15f42d1"/>
    <p:sldId xmlns:r="http://schemas.openxmlformats.org/officeDocument/2006/relationships" id="299" r:id="Re0efc23a51e14883"/>
    <p:sldId xmlns:r="http://schemas.openxmlformats.org/officeDocument/2006/relationships" id="300" r:id="R5ac7255ae0e444b0"/>
    <p:sldId xmlns:r="http://schemas.openxmlformats.org/officeDocument/2006/relationships" id="301" r:id="Rf602b542da2a4708"/>
    <p:sldId xmlns:r="http://schemas.openxmlformats.org/officeDocument/2006/relationships" id="302" r:id="Rb420f92d0d4348cb"/>
    <p:sldId xmlns:r="http://schemas.openxmlformats.org/officeDocument/2006/relationships" id="303" r:id="R40bee03b19094dbc"/>
    <p:sldId xmlns:r="http://schemas.openxmlformats.org/officeDocument/2006/relationships" id="304" r:id="R815964130c68412a"/>
    <p:sldId xmlns:r="http://schemas.openxmlformats.org/officeDocument/2006/relationships" id="305" r:id="Re1663eea28af44d9"/>
    <p:sldId xmlns:r="http://schemas.openxmlformats.org/officeDocument/2006/relationships" id="306" r:id="R3569490018d648f9"/>
    <p:sldId xmlns:r="http://schemas.openxmlformats.org/officeDocument/2006/relationships" id="307" r:id="Rafaaf8e257034cc3"/>
    <p:sldId xmlns:r="http://schemas.openxmlformats.org/officeDocument/2006/relationships" id="308" r:id="R16e559fb62164931"/>
    <p:sldId xmlns:r="http://schemas.openxmlformats.org/officeDocument/2006/relationships" id="309" r:id="Rd2eefbeabbd54be0"/>
    <p:sldId xmlns:r="http://schemas.openxmlformats.org/officeDocument/2006/relationships" id="310" r:id="Reac4297903054c0b"/>
    <p:sldId xmlns:r="http://schemas.openxmlformats.org/officeDocument/2006/relationships" id="311" r:id="R493680abae11487d"/>
    <p:sldId xmlns:r="http://schemas.openxmlformats.org/officeDocument/2006/relationships" id="312" r:id="Rae60bc282181411f"/>
    <p:sldId xmlns:r="http://schemas.openxmlformats.org/officeDocument/2006/relationships" id="313" r:id="R04f0d98dcc5a4f37"/>
    <p:sldId xmlns:r="http://schemas.openxmlformats.org/officeDocument/2006/relationships" id="314" r:id="R9ebbd42e6a004f99"/>
    <p:sldId xmlns:r="http://schemas.openxmlformats.org/officeDocument/2006/relationships" id="315" r:id="R4088e733bb3a4d91"/>
    <p:sldId xmlns:r="http://schemas.openxmlformats.org/officeDocument/2006/relationships" id="316" r:id="R6b5923f504724913"/>
    <p:sldId xmlns:r="http://schemas.openxmlformats.org/officeDocument/2006/relationships" id="317" r:id="Rd4ae6ce796b14b12"/>
    <p:sldId xmlns:r="http://schemas.openxmlformats.org/officeDocument/2006/relationships" id="318" r:id="Re861cc3a680b475f"/>
    <p:sldId xmlns:r="http://schemas.openxmlformats.org/officeDocument/2006/relationships" id="319" r:id="Rb99588d50c29425f"/>
    <p:sldId xmlns:r="http://schemas.openxmlformats.org/officeDocument/2006/relationships" id="320" r:id="Raf7cec578d70465c"/>
    <p:sldId xmlns:r="http://schemas.openxmlformats.org/officeDocument/2006/relationships" id="321" r:id="Rffd884d51ff34ca1"/>
    <p:sldId xmlns:r="http://schemas.openxmlformats.org/officeDocument/2006/relationships" id="322" r:id="Rb445e88163f1457b"/>
    <p:sldId xmlns:r="http://schemas.openxmlformats.org/officeDocument/2006/relationships" id="323" r:id="Reacf20f647ff4ec5"/>
    <p:sldId xmlns:r="http://schemas.openxmlformats.org/officeDocument/2006/relationships" id="324" r:id="R71a8a6586b8046e8"/>
    <p:sldId xmlns:r="http://schemas.openxmlformats.org/officeDocument/2006/relationships" id="325" r:id="R78a7ef3c158b4c3f"/>
    <p:sldId xmlns:r="http://schemas.openxmlformats.org/officeDocument/2006/relationships" id="326" r:id="R7eaa1964e5874823"/>
    <p:sldId xmlns:r="http://schemas.openxmlformats.org/officeDocument/2006/relationships" id="327" r:id="Rabf518afb90f4724"/>
    <p:sldId xmlns:r="http://schemas.openxmlformats.org/officeDocument/2006/relationships" id="328" r:id="R5a6af274842748ee"/>
    <p:sldId xmlns:r="http://schemas.openxmlformats.org/officeDocument/2006/relationships" id="329" r:id="Raf3ee24548384af4"/>
    <p:sldId xmlns:r="http://schemas.openxmlformats.org/officeDocument/2006/relationships" id="330" r:id="R736d660967674238"/>
    <p:sldId xmlns:r="http://schemas.openxmlformats.org/officeDocument/2006/relationships" id="331" r:id="Rc95218a05d7040af"/>
    <p:sldId xmlns:r="http://schemas.openxmlformats.org/officeDocument/2006/relationships" id="332" r:id="Ra5425d5afc2049ca"/>
    <p:sldId xmlns:r="http://schemas.openxmlformats.org/officeDocument/2006/relationships" id="333" r:id="Rdfd7a1f2d22247af"/>
    <p:sldId xmlns:r="http://schemas.openxmlformats.org/officeDocument/2006/relationships" id="334" r:id="R4e97509ee3494567"/>
    <p:sldId xmlns:r="http://schemas.openxmlformats.org/officeDocument/2006/relationships" id="335" r:id="Rf7c1c4d650074314"/>
    <p:sldId xmlns:r="http://schemas.openxmlformats.org/officeDocument/2006/relationships" id="336" r:id="Re9ad9c6bea4f4f4a"/>
    <p:sldId xmlns:r="http://schemas.openxmlformats.org/officeDocument/2006/relationships" id="337" r:id="R16377be4c39d4bff"/>
    <p:sldId xmlns:r="http://schemas.openxmlformats.org/officeDocument/2006/relationships" id="338" r:id="R55db052d4f434584"/>
    <p:sldId xmlns:r="http://schemas.openxmlformats.org/officeDocument/2006/relationships" id="339" r:id="R6354f208ad4444bd"/>
    <p:sldId xmlns:r="http://schemas.openxmlformats.org/officeDocument/2006/relationships" id="340" r:id="R89170ca187234c7b"/>
    <p:sldId xmlns:r="http://schemas.openxmlformats.org/officeDocument/2006/relationships" id="341" r:id="Rd1de8cb6f3c7430c"/>
    <p:sldId xmlns:r="http://schemas.openxmlformats.org/officeDocument/2006/relationships" id="342" r:id="R5002a5151cc04687"/>
    <p:sldId xmlns:r="http://schemas.openxmlformats.org/officeDocument/2006/relationships" id="343" r:id="Rcd64be28defb42fe"/>
    <p:sldId xmlns:r="http://schemas.openxmlformats.org/officeDocument/2006/relationships" id="344" r:id="R658031a728434919"/>
    <p:sldId xmlns:r="http://schemas.openxmlformats.org/officeDocument/2006/relationships" id="345" r:id="R72552c85110e4f6b"/>
    <p:sldId xmlns:r="http://schemas.openxmlformats.org/officeDocument/2006/relationships" id="346" r:id="R3cc1a98391a845a8"/>
    <p:sldId xmlns:r="http://schemas.openxmlformats.org/officeDocument/2006/relationships" id="347" r:id="R049144e94bb64e7e"/>
    <p:sldId xmlns:r="http://schemas.openxmlformats.org/officeDocument/2006/relationships" id="348" r:id="R2dc8b1371c114bc5"/>
    <p:sldId xmlns:r="http://schemas.openxmlformats.org/officeDocument/2006/relationships" id="349" r:id="R60ad6520721c4613"/>
    <p:sldId xmlns:r="http://schemas.openxmlformats.org/officeDocument/2006/relationships" id="350" r:id="R1d1832a2e8674e10"/>
    <p:sldId xmlns:r="http://schemas.openxmlformats.org/officeDocument/2006/relationships" id="351" r:id="Re9a42f52682a4dd6"/>
    <p:sldId xmlns:r="http://schemas.openxmlformats.org/officeDocument/2006/relationships" id="352" r:id="Rce7dafe47068452e"/>
    <p:sldId xmlns:r="http://schemas.openxmlformats.org/officeDocument/2006/relationships" id="353" r:id="R868c48b0c1134658"/>
    <p:sldId xmlns:r="http://schemas.openxmlformats.org/officeDocument/2006/relationships" id="354" r:id="Rcee46964cc30499c"/>
    <p:sldId xmlns:r="http://schemas.openxmlformats.org/officeDocument/2006/relationships" id="355" r:id="R196708936da448fe"/>
    <p:sldId xmlns:r="http://schemas.openxmlformats.org/officeDocument/2006/relationships" id="356" r:id="Re298dc6c345c4f59"/>
    <p:sldId xmlns:r="http://schemas.openxmlformats.org/officeDocument/2006/relationships" id="357" r:id="R85d8ffa9063f41fe"/>
    <p:sldId xmlns:r="http://schemas.openxmlformats.org/officeDocument/2006/relationships" id="358" r:id="R70fc6c509aff40dd"/>
    <p:sldId xmlns:r="http://schemas.openxmlformats.org/officeDocument/2006/relationships" id="359" r:id="R1115f2531fba404a"/>
    <p:sldId xmlns:r="http://schemas.openxmlformats.org/officeDocument/2006/relationships" id="360" r:id="R7f75b2a5bd974a49"/>
    <p:sldId xmlns:r="http://schemas.openxmlformats.org/officeDocument/2006/relationships" id="361" r:id="R894dd6ce9021466e"/>
    <p:sldId xmlns:r="http://schemas.openxmlformats.org/officeDocument/2006/relationships" id="362" r:id="R9219fe0c9b2b4b2a"/>
    <p:sldId xmlns:r="http://schemas.openxmlformats.org/officeDocument/2006/relationships" id="363" r:id="Rb54a960ea7ba4d57"/>
    <p:sldId xmlns:r="http://schemas.openxmlformats.org/officeDocument/2006/relationships" id="364" r:id="R2f84c021d2104c4b"/>
    <p:sldId xmlns:r="http://schemas.openxmlformats.org/officeDocument/2006/relationships" id="365" r:id="R574cd8b1e8d64320"/>
    <p:sldId xmlns:r="http://schemas.openxmlformats.org/officeDocument/2006/relationships" id="366" r:id="R773af3deee744254"/>
    <p:sldId xmlns:r="http://schemas.openxmlformats.org/officeDocument/2006/relationships" id="367" r:id="R10f9df38a6944c01"/>
    <p:sldId xmlns:r="http://schemas.openxmlformats.org/officeDocument/2006/relationships" id="368" r:id="Rf4ff47594ba14a98"/>
    <p:sldId xmlns:r="http://schemas.openxmlformats.org/officeDocument/2006/relationships" id="369" r:id="R50ee5c0c0eda406b"/>
    <p:sldId xmlns:r="http://schemas.openxmlformats.org/officeDocument/2006/relationships" id="370" r:id="R0feb722fbdc34f6a"/>
    <p:sldId xmlns:r="http://schemas.openxmlformats.org/officeDocument/2006/relationships" id="371" r:id="Rd175dabb61f845fc"/>
    <p:sldId xmlns:r="http://schemas.openxmlformats.org/officeDocument/2006/relationships" id="372" r:id="R0e410db1d27240cc"/>
    <p:sldId xmlns:r="http://schemas.openxmlformats.org/officeDocument/2006/relationships" id="373" r:id="R0f777788c7ca47bd"/>
    <p:sldId xmlns:r="http://schemas.openxmlformats.org/officeDocument/2006/relationships" id="374" r:id="Rb0418fe1d6a94f42"/>
    <p:sldId xmlns:r="http://schemas.openxmlformats.org/officeDocument/2006/relationships" id="375" r:id="R10438c4b0db244b0"/>
    <p:sldId xmlns:r="http://schemas.openxmlformats.org/officeDocument/2006/relationships" id="376" r:id="R253d121503804d23"/>
    <p:sldId xmlns:r="http://schemas.openxmlformats.org/officeDocument/2006/relationships" id="377" r:id="Rc5b272d5d11b4e5c"/>
    <p:sldId xmlns:r="http://schemas.openxmlformats.org/officeDocument/2006/relationships" id="378" r:id="R9868fde9a5524e91"/>
    <p:sldId xmlns:r="http://schemas.openxmlformats.org/officeDocument/2006/relationships" id="379" r:id="R0a4204e6da9447e8"/>
    <p:sldId xmlns:r="http://schemas.openxmlformats.org/officeDocument/2006/relationships" id="380" r:id="Ra6c506f59d4548fb"/>
    <p:sldId xmlns:r="http://schemas.openxmlformats.org/officeDocument/2006/relationships" id="381" r:id="Rc970cded102d4e6c"/>
    <p:sldId xmlns:r="http://schemas.openxmlformats.org/officeDocument/2006/relationships" id="382" r:id="R24dc213f74774638"/>
    <p:sldId xmlns:r="http://schemas.openxmlformats.org/officeDocument/2006/relationships" id="383" r:id="Rdd7a87ad9a444f8b"/>
  </p:sldIdLst>
  <p:sldSz cx="12192000" cy="8620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6c1d3b105438d" /><Relationship Type="http://schemas.openxmlformats.org/officeDocument/2006/relationships/slideMaster" Target="/ppt/slideMasters/slideMaster1.xml" Id="R1e132d1994a54129" /><Relationship Type="http://schemas.openxmlformats.org/officeDocument/2006/relationships/notesMaster" Target="/ppt/notesMasters/notesMaster1.xml" Id="R0f70521a2ea54779" /><Relationship Type="http://schemas.openxmlformats.org/officeDocument/2006/relationships/presProps" Target="/ppt/presProps.xml" Id="Rc52455607cfb4ff9" /><Relationship Type="http://schemas.openxmlformats.org/officeDocument/2006/relationships/tableStyles" Target="/ppt/tableStyles.xml" Id="Rbf199cf5bd8c4d74" /><Relationship Type="http://schemas.openxmlformats.org/officeDocument/2006/relationships/slide" Target="/ppt/slides/slide1.xml" Id="R9ec64bb0cccd46ef" /><Relationship Type="http://schemas.openxmlformats.org/officeDocument/2006/relationships/slide" Target="/ppt/slides/slide2.xml" Id="Rd91fb7ce709b4478" /><Relationship Type="http://schemas.openxmlformats.org/officeDocument/2006/relationships/slide" Target="/ppt/slides/slide3.xml" Id="Rf788e042cd67495d" /><Relationship Type="http://schemas.openxmlformats.org/officeDocument/2006/relationships/slide" Target="/ppt/slides/slide4.xml" Id="Rba2787eedd1a4fa5" /><Relationship Type="http://schemas.openxmlformats.org/officeDocument/2006/relationships/slide" Target="/ppt/slides/slide5.xml" Id="R15efcfb69ce84cff" /><Relationship Type="http://schemas.openxmlformats.org/officeDocument/2006/relationships/slide" Target="/ppt/slides/slide6.xml" Id="R2d401cc7fbbb47d6" /><Relationship Type="http://schemas.openxmlformats.org/officeDocument/2006/relationships/slide" Target="/ppt/slides/slide7.xml" Id="R100c2ee4af8b4461" /><Relationship Type="http://schemas.openxmlformats.org/officeDocument/2006/relationships/slide" Target="/ppt/slides/slide8.xml" Id="R83d2ba3bc74b440e" /><Relationship Type="http://schemas.openxmlformats.org/officeDocument/2006/relationships/slide" Target="/ppt/slides/slide9.xml" Id="R2181d3fb673144ad" /><Relationship Type="http://schemas.openxmlformats.org/officeDocument/2006/relationships/slide" Target="/ppt/slides/slide10.xml" Id="R8d5b50f8621f4480" /><Relationship Type="http://schemas.openxmlformats.org/officeDocument/2006/relationships/slide" Target="/ppt/slides/slide11.xml" Id="Re10a22a2b0a84a3d" /><Relationship Type="http://schemas.openxmlformats.org/officeDocument/2006/relationships/slide" Target="/ppt/slides/slide12.xml" Id="R9ee66aaec96d4618" /><Relationship Type="http://schemas.openxmlformats.org/officeDocument/2006/relationships/slide" Target="/ppt/slides/slide13.xml" Id="R474f6cf88af04b4b" /><Relationship Type="http://schemas.openxmlformats.org/officeDocument/2006/relationships/slide" Target="/ppt/slides/slide14.xml" Id="Rfd582d75cd6e413e" /><Relationship Type="http://schemas.openxmlformats.org/officeDocument/2006/relationships/slide" Target="/ppt/slides/slide15.xml" Id="Rcca4f4ef0a9c4ff9" /><Relationship Type="http://schemas.openxmlformats.org/officeDocument/2006/relationships/slide" Target="/ppt/slides/slide16.xml" Id="Re9f153e189094b95" /><Relationship Type="http://schemas.openxmlformats.org/officeDocument/2006/relationships/slide" Target="/ppt/slides/slide17.xml" Id="R411fd1b1ddf74f06" /><Relationship Type="http://schemas.openxmlformats.org/officeDocument/2006/relationships/slide" Target="/ppt/slides/slide18.xml" Id="Rd5137c2f943c452a" /><Relationship Type="http://schemas.openxmlformats.org/officeDocument/2006/relationships/slide" Target="/ppt/slides/slide19.xml" Id="R2daf36b222714ef3" /><Relationship Type="http://schemas.openxmlformats.org/officeDocument/2006/relationships/slide" Target="/ppt/slides/slide20.xml" Id="Re07861b178414a2f" /><Relationship Type="http://schemas.openxmlformats.org/officeDocument/2006/relationships/slide" Target="/ppt/slides/slide21.xml" Id="R530aec6ce15a4ed8" /><Relationship Type="http://schemas.openxmlformats.org/officeDocument/2006/relationships/slide" Target="/ppt/slides/slide22.xml" Id="Rfd245df3b52a4343" /><Relationship Type="http://schemas.openxmlformats.org/officeDocument/2006/relationships/slide" Target="/ppt/slides/slide23.xml" Id="R70396ff5b8e74f3c" /><Relationship Type="http://schemas.openxmlformats.org/officeDocument/2006/relationships/slide" Target="/ppt/slides/slide24.xml" Id="R2b6feb3b67264574" /><Relationship Type="http://schemas.openxmlformats.org/officeDocument/2006/relationships/slide" Target="/ppt/slides/slide25.xml" Id="R6a24e2dba0f74e8c" /><Relationship Type="http://schemas.openxmlformats.org/officeDocument/2006/relationships/slide" Target="/ppt/slides/slide26.xml" Id="Rf45ee714b8d44af6" /><Relationship Type="http://schemas.openxmlformats.org/officeDocument/2006/relationships/slide" Target="/ppt/slides/slide27.xml" Id="R464c78cc20c34f40" /><Relationship Type="http://schemas.openxmlformats.org/officeDocument/2006/relationships/slide" Target="/ppt/slides/slide28.xml" Id="Rd85c59f70ba749b8" /><Relationship Type="http://schemas.openxmlformats.org/officeDocument/2006/relationships/slide" Target="/ppt/slides/slide29.xml" Id="R6d233c8a0d5c4da8" /><Relationship Type="http://schemas.openxmlformats.org/officeDocument/2006/relationships/slide" Target="/ppt/slides/slide30.xml" Id="R19021b7cd59b4a20" /><Relationship Type="http://schemas.openxmlformats.org/officeDocument/2006/relationships/slide" Target="/ppt/slides/slide31.xml" Id="R4d0fdee5c808467d" /><Relationship Type="http://schemas.openxmlformats.org/officeDocument/2006/relationships/slide" Target="/ppt/slides/slide32.xml" Id="R5507f0659e274b35" /><Relationship Type="http://schemas.openxmlformats.org/officeDocument/2006/relationships/slide" Target="/ppt/slides/slide33.xml" Id="Rb3c3c35d8c9e4491" /><Relationship Type="http://schemas.openxmlformats.org/officeDocument/2006/relationships/slide" Target="/ppt/slides/slide34.xml" Id="R98aaa02ac9174edf" /><Relationship Type="http://schemas.openxmlformats.org/officeDocument/2006/relationships/slide" Target="/ppt/slides/slide35.xml" Id="Rc9771f42521c4472" /><Relationship Type="http://schemas.openxmlformats.org/officeDocument/2006/relationships/slide" Target="/ppt/slides/slide36.xml" Id="R4a07f7317f82492e" /><Relationship Type="http://schemas.openxmlformats.org/officeDocument/2006/relationships/slide" Target="/ppt/slides/slide37.xml" Id="R93a032b7ca574533" /><Relationship Type="http://schemas.openxmlformats.org/officeDocument/2006/relationships/slide" Target="/ppt/slides/slide38.xml" Id="Ra0e6dde75cab4fde" /><Relationship Type="http://schemas.openxmlformats.org/officeDocument/2006/relationships/slide" Target="/ppt/slides/slide39.xml" Id="R7c9b821709244abe" /><Relationship Type="http://schemas.openxmlformats.org/officeDocument/2006/relationships/slide" Target="/ppt/slides/slide40.xml" Id="R9612b8133be84406" /><Relationship Type="http://schemas.openxmlformats.org/officeDocument/2006/relationships/slide" Target="/ppt/slides/slide41.xml" Id="R967cf16892674b6b" /><Relationship Type="http://schemas.openxmlformats.org/officeDocument/2006/relationships/slide" Target="/ppt/slides/slide42.xml" Id="Rb867e7bfbed34cdb" /><Relationship Type="http://schemas.openxmlformats.org/officeDocument/2006/relationships/slide" Target="/ppt/slides/slide43.xml" Id="R316920c1f15f42d1" /><Relationship Type="http://schemas.openxmlformats.org/officeDocument/2006/relationships/slide" Target="/ppt/slides/slide44.xml" Id="Re0efc23a51e14883" /><Relationship Type="http://schemas.openxmlformats.org/officeDocument/2006/relationships/slide" Target="/ppt/slides/slide45.xml" Id="R5ac7255ae0e444b0" /><Relationship Type="http://schemas.openxmlformats.org/officeDocument/2006/relationships/slide" Target="/ppt/slides/slide46.xml" Id="Rf602b542da2a4708" /><Relationship Type="http://schemas.openxmlformats.org/officeDocument/2006/relationships/slide" Target="/ppt/slides/slide47.xml" Id="Rb420f92d0d4348cb" /><Relationship Type="http://schemas.openxmlformats.org/officeDocument/2006/relationships/slide" Target="/ppt/slides/slide48.xml" Id="R40bee03b19094dbc" /><Relationship Type="http://schemas.openxmlformats.org/officeDocument/2006/relationships/slide" Target="/ppt/slides/slide49.xml" Id="R815964130c68412a" /><Relationship Type="http://schemas.openxmlformats.org/officeDocument/2006/relationships/slide" Target="/ppt/slides/slide50.xml" Id="Re1663eea28af44d9" /><Relationship Type="http://schemas.openxmlformats.org/officeDocument/2006/relationships/slide" Target="/ppt/slides/slide51.xml" Id="R3569490018d648f9" /><Relationship Type="http://schemas.openxmlformats.org/officeDocument/2006/relationships/slide" Target="/ppt/slides/slide52.xml" Id="Rafaaf8e257034cc3" /><Relationship Type="http://schemas.openxmlformats.org/officeDocument/2006/relationships/slide" Target="/ppt/slides/slide53.xml" Id="R16e559fb62164931" /><Relationship Type="http://schemas.openxmlformats.org/officeDocument/2006/relationships/slide" Target="/ppt/slides/slide54.xml" Id="Rd2eefbeabbd54be0" /><Relationship Type="http://schemas.openxmlformats.org/officeDocument/2006/relationships/slide" Target="/ppt/slides/slide55.xml" Id="Reac4297903054c0b" /><Relationship Type="http://schemas.openxmlformats.org/officeDocument/2006/relationships/slide" Target="/ppt/slides/slide56.xml" Id="R493680abae11487d" /><Relationship Type="http://schemas.openxmlformats.org/officeDocument/2006/relationships/slide" Target="/ppt/slides/slide57.xml" Id="Rae60bc282181411f" /><Relationship Type="http://schemas.openxmlformats.org/officeDocument/2006/relationships/slide" Target="/ppt/slides/slide58.xml" Id="R04f0d98dcc5a4f37" /><Relationship Type="http://schemas.openxmlformats.org/officeDocument/2006/relationships/slide" Target="/ppt/slides/slide59.xml" Id="R9ebbd42e6a004f99" /><Relationship Type="http://schemas.openxmlformats.org/officeDocument/2006/relationships/slide" Target="/ppt/slides/slide60.xml" Id="R4088e733bb3a4d91" /><Relationship Type="http://schemas.openxmlformats.org/officeDocument/2006/relationships/slide" Target="/ppt/slides/slide61.xml" Id="R6b5923f504724913" /><Relationship Type="http://schemas.openxmlformats.org/officeDocument/2006/relationships/slide" Target="/ppt/slides/slide62.xml" Id="Rd4ae6ce796b14b12" /><Relationship Type="http://schemas.openxmlformats.org/officeDocument/2006/relationships/slide" Target="/ppt/slides/slide63.xml" Id="Re861cc3a680b475f" /><Relationship Type="http://schemas.openxmlformats.org/officeDocument/2006/relationships/slide" Target="/ppt/slides/slide64.xml" Id="Rb99588d50c29425f" /><Relationship Type="http://schemas.openxmlformats.org/officeDocument/2006/relationships/slide" Target="/ppt/slides/slide65.xml" Id="Raf7cec578d70465c" /><Relationship Type="http://schemas.openxmlformats.org/officeDocument/2006/relationships/slide" Target="/ppt/slides/slide66.xml" Id="Rffd884d51ff34ca1" /><Relationship Type="http://schemas.openxmlformats.org/officeDocument/2006/relationships/slide" Target="/ppt/slides/slide67.xml" Id="Rb445e88163f1457b" /><Relationship Type="http://schemas.openxmlformats.org/officeDocument/2006/relationships/slide" Target="/ppt/slides/slide68.xml" Id="Reacf20f647ff4ec5" /><Relationship Type="http://schemas.openxmlformats.org/officeDocument/2006/relationships/slide" Target="/ppt/slides/slide69.xml" Id="R71a8a6586b8046e8" /><Relationship Type="http://schemas.openxmlformats.org/officeDocument/2006/relationships/slide" Target="/ppt/slides/slide70.xml" Id="R78a7ef3c158b4c3f" /><Relationship Type="http://schemas.openxmlformats.org/officeDocument/2006/relationships/slide" Target="/ppt/slides/slide71.xml" Id="R7eaa1964e5874823" /><Relationship Type="http://schemas.openxmlformats.org/officeDocument/2006/relationships/slide" Target="/ppt/slides/slide72.xml" Id="Rabf518afb90f4724" /><Relationship Type="http://schemas.openxmlformats.org/officeDocument/2006/relationships/slide" Target="/ppt/slides/slide73.xml" Id="R5a6af274842748ee" /><Relationship Type="http://schemas.openxmlformats.org/officeDocument/2006/relationships/slide" Target="/ppt/slides/slide74.xml" Id="Raf3ee24548384af4" /><Relationship Type="http://schemas.openxmlformats.org/officeDocument/2006/relationships/slide" Target="/ppt/slides/slide75.xml" Id="R736d660967674238" /><Relationship Type="http://schemas.openxmlformats.org/officeDocument/2006/relationships/slide" Target="/ppt/slides/slide76.xml" Id="Rc95218a05d7040af" /><Relationship Type="http://schemas.openxmlformats.org/officeDocument/2006/relationships/slide" Target="/ppt/slides/slide77.xml" Id="Ra5425d5afc2049ca" /><Relationship Type="http://schemas.openxmlformats.org/officeDocument/2006/relationships/slide" Target="/ppt/slides/slide78.xml" Id="Rdfd7a1f2d22247af" /><Relationship Type="http://schemas.openxmlformats.org/officeDocument/2006/relationships/slide" Target="/ppt/slides/slide79.xml" Id="R4e97509ee3494567" /><Relationship Type="http://schemas.openxmlformats.org/officeDocument/2006/relationships/slide" Target="/ppt/slides/slide80.xml" Id="Rf7c1c4d650074314" /><Relationship Type="http://schemas.openxmlformats.org/officeDocument/2006/relationships/slide" Target="/ppt/slides/slide81.xml" Id="Re9ad9c6bea4f4f4a" /><Relationship Type="http://schemas.openxmlformats.org/officeDocument/2006/relationships/slide" Target="/ppt/slides/slide82.xml" Id="R16377be4c39d4bff" /><Relationship Type="http://schemas.openxmlformats.org/officeDocument/2006/relationships/slide" Target="/ppt/slides/slide83.xml" Id="R55db052d4f434584" /><Relationship Type="http://schemas.openxmlformats.org/officeDocument/2006/relationships/slide" Target="/ppt/slides/slide84.xml" Id="R6354f208ad4444bd" /><Relationship Type="http://schemas.openxmlformats.org/officeDocument/2006/relationships/slide" Target="/ppt/slides/slide85.xml" Id="R89170ca187234c7b" /><Relationship Type="http://schemas.openxmlformats.org/officeDocument/2006/relationships/slide" Target="/ppt/slides/slide86.xml" Id="Rd1de8cb6f3c7430c" /><Relationship Type="http://schemas.openxmlformats.org/officeDocument/2006/relationships/slide" Target="/ppt/slides/slide87.xml" Id="R5002a5151cc04687" /><Relationship Type="http://schemas.openxmlformats.org/officeDocument/2006/relationships/slide" Target="/ppt/slides/slide88.xml" Id="Rcd64be28defb42fe" /><Relationship Type="http://schemas.openxmlformats.org/officeDocument/2006/relationships/slide" Target="/ppt/slides/slide89.xml" Id="R658031a728434919" /><Relationship Type="http://schemas.openxmlformats.org/officeDocument/2006/relationships/slide" Target="/ppt/slides/slide90.xml" Id="R72552c85110e4f6b" /><Relationship Type="http://schemas.openxmlformats.org/officeDocument/2006/relationships/slide" Target="/ppt/slides/slide91.xml" Id="R3cc1a98391a845a8" /><Relationship Type="http://schemas.openxmlformats.org/officeDocument/2006/relationships/slide" Target="/ppt/slides/slide92.xml" Id="R049144e94bb64e7e" /><Relationship Type="http://schemas.openxmlformats.org/officeDocument/2006/relationships/slide" Target="/ppt/slides/slide93.xml" Id="R2dc8b1371c114bc5" /><Relationship Type="http://schemas.openxmlformats.org/officeDocument/2006/relationships/slide" Target="/ppt/slides/slide94.xml" Id="R60ad6520721c4613" /><Relationship Type="http://schemas.openxmlformats.org/officeDocument/2006/relationships/slide" Target="/ppt/slides/slide95.xml" Id="R1d1832a2e8674e10" /><Relationship Type="http://schemas.openxmlformats.org/officeDocument/2006/relationships/slide" Target="/ppt/slides/slide96.xml" Id="Re9a42f52682a4dd6" /><Relationship Type="http://schemas.openxmlformats.org/officeDocument/2006/relationships/slide" Target="/ppt/slides/slide97.xml" Id="Rce7dafe47068452e" /><Relationship Type="http://schemas.openxmlformats.org/officeDocument/2006/relationships/slide" Target="/ppt/slides/slide98.xml" Id="R868c48b0c1134658" /><Relationship Type="http://schemas.openxmlformats.org/officeDocument/2006/relationships/slide" Target="/ppt/slides/slide99.xml" Id="Rcee46964cc30499c" /><Relationship Type="http://schemas.openxmlformats.org/officeDocument/2006/relationships/slide" Target="/ppt/slides/slide100.xml" Id="R196708936da448fe" /><Relationship Type="http://schemas.openxmlformats.org/officeDocument/2006/relationships/slide" Target="/ppt/slides/slide101.xml" Id="Re298dc6c345c4f59" /><Relationship Type="http://schemas.openxmlformats.org/officeDocument/2006/relationships/slide" Target="/ppt/slides/slide102.xml" Id="R85d8ffa9063f41fe" /><Relationship Type="http://schemas.openxmlformats.org/officeDocument/2006/relationships/slide" Target="/ppt/slides/slide103.xml" Id="R70fc6c509aff40dd" /><Relationship Type="http://schemas.openxmlformats.org/officeDocument/2006/relationships/slide" Target="/ppt/slides/slide104.xml" Id="R1115f2531fba404a" /><Relationship Type="http://schemas.openxmlformats.org/officeDocument/2006/relationships/slide" Target="/ppt/slides/slide105.xml" Id="R7f75b2a5bd974a49" /><Relationship Type="http://schemas.openxmlformats.org/officeDocument/2006/relationships/slide" Target="/ppt/slides/slide106.xml" Id="R894dd6ce9021466e" /><Relationship Type="http://schemas.openxmlformats.org/officeDocument/2006/relationships/slide" Target="/ppt/slides/slide107.xml" Id="R9219fe0c9b2b4b2a" /><Relationship Type="http://schemas.openxmlformats.org/officeDocument/2006/relationships/slide" Target="/ppt/slides/slide108.xml" Id="Rb54a960ea7ba4d57" /><Relationship Type="http://schemas.openxmlformats.org/officeDocument/2006/relationships/slide" Target="/ppt/slides/slide109.xml" Id="R2f84c021d2104c4b" /><Relationship Type="http://schemas.openxmlformats.org/officeDocument/2006/relationships/slide" Target="/ppt/slides/slide110.xml" Id="R574cd8b1e8d64320" /><Relationship Type="http://schemas.openxmlformats.org/officeDocument/2006/relationships/slide" Target="/ppt/slides/slide111.xml" Id="R773af3deee744254" /><Relationship Type="http://schemas.openxmlformats.org/officeDocument/2006/relationships/slide" Target="/ppt/slides/slide112.xml" Id="R10f9df38a6944c01" /><Relationship Type="http://schemas.openxmlformats.org/officeDocument/2006/relationships/slide" Target="/ppt/slides/slide113.xml" Id="Rf4ff47594ba14a98" /><Relationship Type="http://schemas.openxmlformats.org/officeDocument/2006/relationships/slide" Target="/ppt/slides/slide114.xml" Id="R50ee5c0c0eda406b" /><Relationship Type="http://schemas.openxmlformats.org/officeDocument/2006/relationships/slide" Target="/ppt/slides/slide115.xml" Id="R0feb722fbdc34f6a" /><Relationship Type="http://schemas.openxmlformats.org/officeDocument/2006/relationships/slide" Target="/ppt/slides/slide116.xml" Id="Rd175dabb61f845fc" /><Relationship Type="http://schemas.openxmlformats.org/officeDocument/2006/relationships/slide" Target="/ppt/slides/slide117.xml" Id="R0e410db1d27240cc" /><Relationship Type="http://schemas.openxmlformats.org/officeDocument/2006/relationships/slide" Target="/ppt/slides/slide118.xml" Id="R0f777788c7ca47bd" /><Relationship Type="http://schemas.openxmlformats.org/officeDocument/2006/relationships/slide" Target="/ppt/slides/slide119.xml" Id="Rb0418fe1d6a94f42" /><Relationship Type="http://schemas.openxmlformats.org/officeDocument/2006/relationships/slide" Target="/ppt/slides/slide120.xml" Id="R10438c4b0db244b0" /><Relationship Type="http://schemas.openxmlformats.org/officeDocument/2006/relationships/slide" Target="/ppt/slides/slide121.xml" Id="R253d121503804d23" /><Relationship Type="http://schemas.openxmlformats.org/officeDocument/2006/relationships/slide" Target="/ppt/slides/slide122.xml" Id="Rc5b272d5d11b4e5c" /><Relationship Type="http://schemas.openxmlformats.org/officeDocument/2006/relationships/slide" Target="/ppt/slides/slide123.xml" Id="R9868fde9a5524e91" /><Relationship Type="http://schemas.openxmlformats.org/officeDocument/2006/relationships/slide" Target="/ppt/slides/slide124.xml" Id="R0a4204e6da9447e8" /><Relationship Type="http://schemas.openxmlformats.org/officeDocument/2006/relationships/slide" Target="/ppt/slides/slide125.xml" Id="Ra6c506f59d4548fb" /><Relationship Type="http://schemas.openxmlformats.org/officeDocument/2006/relationships/slide" Target="/ppt/slides/slide126.xml" Id="Rc970cded102d4e6c" /><Relationship Type="http://schemas.openxmlformats.org/officeDocument/2006/relationships/slide" Target="/ppt/slides/slide127.xml" Id="R24dc213f74774638" /><Relationship Type="http://schemas.openxmlformats.org/officeDocument/2006/relationships/slide" Target="/ppt/slides/slide128.xml" Id="Rdd7a87ad9a444f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e29b521428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566fcb0b9402f" /><Relationship Type="http://schemas.openxmlformats.org/officeDocument/2006/relationships/notesMaster" Target="/ppt/notesMasters/notesMaster1.xml" Id="R22d80aa34a4b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5f8680de54c79" /><Relationship Type="http://schemas.openxmlformats.org/officeDocument/2006/relationships/notesMaster" Target="/ppt/notesMasters/notesMaster1.xml" Id="Rcfc9ede1c32a47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98de6439c4ece" /><Relationship Type="http://schemas.openxmlformats.org/officeDocument/2006/relationships/notesMaster" Target="/ppt/notesMasters/notesMaster1.xml" Id="Ra647dc686c19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4789a90134487" /><Relationship Type="http://schemas.openxmlformats.org/officeDocument/2006/relationships/notesMaster" Target="/ppt/notesMasters/notesMaster1.xml" Id="Re61cb965b19448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4ffea6214746b7" /><Relationship Type="http://schemas.openxmlformats.org/officeDocument/2006/relationships/notesMaster" Target="/ppt/notesMasters/notesMaster1.xml" Id="R818c3a64d8d943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95027720cd484a" /><Relationship Type="http://schemas.openxmlformats.org/officeDocument/2006/relationships/notesMaster" Target="/ppt/notesMasters/notesMaster1.xml" Id="Rc7a1c45b695d4e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cdfe5f4cd6493b" /><Relationship Type="http://schemas.openxmlformats.org/officeDocument/2006/relationships/notesMaster" Target="/ppt/notesMasters/notesMaster1.xml" Id="R0d6c4d7d74d847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b398d5bd747c8" /><Relationship Type="http://schemas.openxmlformats.org/officeDocument/2006/relationships/notesMaster" Target="/ppt/notesMasters/notesMaster1.xml" Id="R76218a42eed0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c865b236d4714" /><Relationship Type="http://schemas.openxmlformats.org/officeDocument/2006/relationships/notesMaster" Target="/ppt/notesMasters/notesMaster1.xml" Id="R641386c66c5041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931e369932437c" /><Relationship Type="http://schemas.openxmlformats.org/officeDocument/2006/relationships/notesMaster" Target="/ppt/notesMasters/notesMaster1.xml" Id="R34d0d03160684b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5b5d20cc164e53" /><Relationship Type="http://schemas.openxmlformats.org/officeDocument/2006/relationships/notesMaster" Target="/ppt/notesMasters/notesMaster1.xml" Id="Rea4a06fc25c242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a337f354fe4cdc" /><Relationship Type="http://schemas.openxmlformats.org/officeDocument/2006/relationships/notesMaster" Target="/ppt/notesMasters/notesMaster1.xml" Id="Rd7475336d7b14e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6597539b864f83" /><Relationship Type="http://schemas.openxmlformats.org/officeDocument/2006/relationships/notesMaster" Target="/ppt/notesMasters/notesMaster1.xml" Id="Rf5fb2146d19843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08deb70d4b45bf" /><Relationship Type="http://schemas.openxmlformats.org/officeDocument/2006/relationships/notesMaster" Target="/ppt/notesMasters/notesMaster1.xml" Id="R645e0604b98746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15a653a6144469" /><Relationship Type="http://schemas.openxmlformats.org/officeDocument/2006/relationships/notesMaster" Target="/ppt/notesMasters/notesMaster1.xml" Id="R54a8faae2c7044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2a6b27e2e741d7" /><Relationship Type="http://schemas.openxmlformats.org/officeDocument/2006/relationships/notesMaster" Target="/ppt/notesMasters/notesMaster1.xml" Id="Rae738b53889b4a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534204c475442a" /><Relationship Type="http://schemas.openxmlformats.org/officeDocument/2006/relationships/notesMaster" Target="/ppt/notesMasters/notesMaster1.xml" Id="R0e0ee754c06048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6d416149cd40bd" /><Relationship Type="http://schemas.openxmlformats.org/officeDocument/2006/relationships/notesMaster" Target="/ppt/notesMasters/notesMaster1.xml" Id="Rb321445ed96041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7fea6f78af4bbc" /><Relationship Type="http://schemas.openxmlformats.org/officeDocument/2006/relationships/notesMaster" Target="/ppt/notesMasters/notesMaster1.xml" Id="R15d6296bc4584a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60c8a6f8ca4465" /><Relationship Type="http://schemas.openxmlformats.org/officeDocument/2006/relationships/notesMaster" Target="/ppt/notesMasters/notesMaster1.xml" Id="R410f0489b3c144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df5e7fe5c547bd" /><Relationship Type="http://schemas.openxmlformats.org/officeDocument/2006/relationships/notesMaster" Target="/ppt/notesMasters/notesMaster1.xml" Id="R8493a4b522ca40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a6e9b1bfea4947" /><Relationship Type="http://schemas.openxmlformats.org/officeDocument/2006/relationships/notesMaster" Target="/ppt/notesMasters/notesMaster1.xml" Id="R3adbb1f4074a43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ad2347c4a94dd4" /><Relationship Type="http://schemas.openxmlformats.org/officeDocument/2006/relationships/notesMaster" Target="/ppt/notesMasters/notesMaster1.xml" Id="Ree289d69906147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4fe5f184394354" /><Relationship Type="http://schemas.openxmlformats.org/officeDocument/2006/relationships/notesMaster" Target="/ppt/notesMasters/notesMaster1.xml" Id="R3c1f28f11a2e4b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7ed6f94d454146" /><Relationship Type="http://schemas.openxmlformats.org/officeDocument/2006/relationships/notesMaster" Target="/ppt/notesMasters/notesMaster1.xml" Id="R037551967e4b47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4ab500ede4f4e47" /><Relationship Type="http://schemas.openxmlformats.org/officeDocument/2006/relationships/notesMaster" Target="/ppt/notesMasters/notesMaster1.xml" Id="R20d8a6762c2e43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e79484fd784ed4" /><Relationship Type="http://schemas.openxmlformats.org/officeDocument/2006/relationships/notesMaster" Target="/ppt/notesMasters/notesMaster1.xml" Id="R1d03bf22c1c44f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87113e93cd40ce" /><Relationship Type="http://schemas.openxmlformats.org/officeDocument/2006/relationships/notesMaster" Target="/ppt/notesMasters/notesMaster1.xml" Id="R2cce6135473643e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bfd316fa5004140" /><Relationship Type="http://schemas.openxmlformats.org/officeDocument/2006/relationships/notesMaster" Target="/ppt/notesMasters/notesMaster1.xml" Id="R660c6a8440bf4a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e8b98da29749cf" /><Relationship Type="http://schemas.openxmlformats.org/officeDocument/2006/relationships/notesMaster" Target="/ppt/notesMasters/notesMaster1.xml" Id="Rcf9e538a2fad4e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2e81f17764d415d" /><Relationship Type="http://schemas.openxmlformats.org/officeDocument/2006/relationships/notesMaster" Target="/ppt/notesMasters/notesMaster1.xml" Id="R416855a9a46341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5b4f446acb0491e" /><Relationship Type="http://schemas.openxmlformats.org/officeDocument/2006/relationships/notesMaster" Target="/ppt/notesMasters/notesMaster1.xml" Id="R45606db73c0648d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6ee82efa204eaa" /><Relationship Type="http://schemas.openxmlformats.org/officeDocument/2006/relationships/notesMaster" Target="/ppt/notesMasters/notesMaster1.xml" Id="R6a533a69488548c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e280a5773c44e9" /><Relationship Type="http://schemas.openxmlformats.org/officeDocument/2006/relationships/notesMaster" Target="/ppt/notesMasters/notesMaster1.xml" Id="R250b909a586b4c1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9d511988334928" /><Relationship Type="http://schemas.openxmlformats.org/officeDocument/2006/relationships/notesMaster" Target="/ppt/notesMasters/notesMaster1.xml" Id="R4fca865b0aa845a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0a5041ffb84828" /><Relationship Type="http://schemas.openxmlformats.org/officeDocument/2006/relationships/notesMaster" Target="/ppt/notesMasters/notesMaster1.xml" Id="Rf8707bbfa0e64a7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f4268faacf64942" /><Relationship Type="http://schemas.openxmlformats.org/officeDocument/2006/relationships/notesMaster" Target="/ppt/notesMasters/notesMaster1.xml" Id="R3e869da135d440d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ded62118be14064" /><Relationship Type="http://schemas.openxmlformats.org/officeDocument/2006/relationships/notesMaster" Target="/ppt/notesMasters/notesMaster1.xml" Id="R310367830dd64d9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96daf03dbf644f5" /><Relationship Type="http://schemas.openxmlformats.org/officeDocument/2006/relationships/notesMaster" Target="/ppt/notesMasters/notesMaster1.xml" Id="R36fe7a732f1443c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b28c3d7dd74b58" /><Relationship Type="http://schemas.openxmlformats.org/officeDocument/2006/relationships/notesMaster" Target="/ppt/notesMasters/notesMaster1.xml" Id="R20b4cb68cb7a49a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237136e6a1d4a94" /><Relationship Type="http://schemas.openxmlformats.org/officeDocument/2006/relationships/notesMaster" Target="/ppt/notesMasters/notesMaster1.xml" Id="R3b0ca2f6b54c4fa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ac51b41eb814bbe" /><Relationship Type="http://schemas.openxmlformats.org/officeDocument/2006/relationships/notesMaster" Target="/ppt/notesMasters/notesMaster1.xml" Id="Re06d04f28575421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c4b2fbe2134e5f" /><Relationship Type="http://schemas.openxmlformats.org/officeDocument/2006/relationships/notesMaster" Target="/ppt/notesMasters/notesMaster1.xml" Id="Rfe9cbf6fed87428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a0af7055fb54883" /><Relationship Type="http://schemas.openxmlformats.org/officeDocument/2006/relationships/notesMaster" Target="/ppt/notesMasters/notesMaster1.xml" Id="R9d4626f6f1e64dd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e8e95f463dc4efc" /><Relationship Type="http://schemas.openxmlformats.org/officeDocument/2006/relationships/notesMaster" Target="/ppt/notesMasters/notesMaster1.xml" Id="Ra67515fd134f416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f5452ebe8db4379" /><Relationship Type="http://schemas.openxmlformats.org/officeDocument/2006/relationships/notesMaster" Target="/ppt/notesMasters/notesMaster1.xml" Id="R4643fb24a995402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42863d427bf42bf" /><Relationship Type="http://schemas.openxmlformats.org/officeDocument/2006/relationships/notesMaster" Target="/ppt/notesMasters/notesMaster1.xml" Id="Rb6ecf59b8e1b468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7456305cc274be6" /><Relationship Type="http://schemas.openxmlformats.org/officeDocument/2006/relationships/notesMaster" Target="/ppt/notesMasters/notesMaster1.xml" Id="R021053a894fe445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8bd4b567d38481c" /><Relationship Type="http://schemas.openxmlformats.org/officeDocument/2006/relationships/notesMaster" Target="/ppt/notesMasters/notesMaster1.xml" Id="R31d900bf7f854c4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318dbbd91a940ae" /><Relationship Type="http://schemas.openxmlformats.org/officeDocument/2006/relationships/notesMaster" Target="/ppt/notesMasters/notesMaster1.xml" Id="R1df409593ff8426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467cdad76344fda" /><Relationship Type="http://schemas.openxmlformats.org/officeDocument/2006/relationships/notesMaster" Target="/ppt/notesMasters/notesMaster1.xml" Id="R52f1f626e194417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c025f1925bf4158" /><Relationship Type="http://schemas.openxmlformats.org/officeDocument/2006/relationships/notesMaster" Target="/ppt/notesMasters/notesMaster1.xml" Id="R687b1147c9c64a4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a91c99bb98945ab" /><Relationship Type="http://schemas.openxmlformats.org/officeDocument/2006/relationships/notesMaster" Target="/ppt/notesMasters/notesMaster1.xml" Id="Rfde63124ab3d417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b3b94621ce64749" /><Relationship Type="http://schemas.openxmlformats.org/officeDocument/2006/relationships/notesMaster" Target="/ppt/notesMasters/notesMaster1.xml" Id="R4f4fdff6e8db4d7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1c2710f2d104431" /><Relationship Type="http://schemas.openxmlformats.org/officeDocument/2006/relationships/notesMaster" Target="/ppt/notesMasters/notesMaster1.xml" Id="Ra33e2ebbb9d34e2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e29a2ac0b5d4d81" /><Relationship Type="http://schemas.openxmlformats.org/officeDocument/2006/relationships/notesMaster" Target="/ppt/notesMasters/notesMaster1.xml" Id="R3c641c7fc5d8434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f1d6aff8d8a4d4e" /><Relationship Type="http://schemas.openxmlformats.org/officeDocument/2006/relationships/notesMaster" Target="/ppt/notesMasters/notesMaster1.xml" Id="R317dce0ac57f4c7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20263a562514a85" /><Relationship Type="http://schemas.openxmlformats.org/officeDocument/2006/relationships/notesMaster" Target="/ppt/notesMasters/notesMaster1.xml" Id="R8d123eecf409456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8e30dfb60474787" /><Relationship Type="http://schemas.openxmlformats.org/officeDocument/2006/relationships/notesMaster" Target="/ppt/notesMasters/notesMaster1.xml" Id="Rb7927fdd7ffd45c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d5fe400cb714238" /><Relationship Type="http://schemas.openxmlformats.org/officeDocument/2006/relationships/notesMaster" Target="/ppt/notesMasters/notesMaster1.xml" Id="R3ab643a60c6a4b1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ca92f0df22e4c61" /><Relationship Type="http://schemas.openxmlformats.org/officeDocument/2006/relationships/notesMaster" Target="/ppt/notesMasters/notesMaster1.xml" Id="R0c98fe56198f480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9747f5428804043" /><Relationship Type="http://schemas.openxmlformats.org/officeDocument/2006/relationships/notesMaster" Target="/ppt/notesMasters/notesMaster1.xml" Id="R271409fd886b49d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9f0324a8d784ef4" /><Relationship Type="http://schemas.openxmlformats.org/officeDocument/2006/relationships/notesMaster" Target="/ppt/notesMasters/notesMaster1.xml" Id="Re03020def189433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35686acb1774da1" /><Relationship Type="http://schemas.openxmlformats.org/officeDocument/2006/relationships/notesMaster" Target="/ppt/notesMasters/notesMaster1.xml" Id="R7c3f13baed584c2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2ea7749b194430a" /><Relationship Type="http://schemas.openxmlformats.org/officeDocument/2006/relationships/notesMaster" Target="/ppt/notesMasters/notesMaster1.xml" Id="R6924f565d2224f4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ad2cd0d75ba40d5" /><Relationship Type="http://schemas.openxmlformats.org/officeDocument/2006/relationships/notesMaster" Target="/ppt/notesMasters/notesMaster1.xml" Id="Rffd5573fc1df4b2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1763ab8c80f4047" /><Relationship Type="http://schemas.openxmlformats.org/officeDocument/2006/relationships/notesMaster" Target="/ppt/notesMasters/notesMaster1.xml" Id="Ra6bc90ccb8b94cf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74f88deca524833" /><Relationship Type="http://schemas.openxmlformats.org/officeDocument/2006/relationships/notesMaster" Target="/ppt/notesMasters/notesMaster1.xml" Id="R174a82ed5b0547ab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6c7950356124600" /><Relationship Type="http://schemas.openxmlformats.org/officeDocument/2006/relationships/notesMaster" Target="/ppt/notesMasters/notesMaster1.xml" Id="Rfab9cfd56f854bb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48f1ba57b824c81" /><Relationship Type="http://schemas.openxmlformats.org/officeDocument/2006/relationships/notesMaster" Target="/ppt/notesMasters/notesMaster1.xml" Id="Rf93329fef1bd41c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88644bc3a4e428f" /><Relationship Type="http://schemas.openxmlformats.org/officeDocument/2006/relationships/notesMaster" Target="/ppt/notesMasters/notesMaster1.xml" Id="R27ca4a847d6f471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772b0be9df64930" /><Relationship Type="http://schemas.openxmlformats.org/officeDocument/2006/relationships/notesMaster" Target="/ppt/notesMasters/notesMaster1.xml" Id="R70ce3b116d904ffb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49694f8778e4537" /><Relationship Type="http://schemas.openxmlformats.org/officeDocument/2006/relationships/notesMaster" Target="/ppt/notesMasters/notesMaster1.xml" Id="Ra109b891b26a443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804dd87b3364553" /><Relationship Type="http://schemas.openxmlformats.org/officeDocument/2006/relationships/notesMaster" Target="/ppt/notesMasters/notesMaster1.xml" Id="Rc6cd0847032645d1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9ab58fab4da4476" /><Relationship Type="http://schemas.openxmlformats.org/officeDocument/2006/relationships/notesMaster" Target="/ppt/notesMasters/notesMaster1.xml" Id="Rf6c7dc6ab1624fe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23a6906868e9425e" /><Relationship Type="http://schemas.openxmlformats.org/officeDocument/2006/relationships/notesMaster" Target="/ppt/notesMasters/notesMaster1.xml" Id="Re7ee07ebb9724ed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f953daa5a6f4aea" /><Relationship Type="http://schemas.openxmlformats.org/officeDocument/2006/relationships/notesMaster" Target="/ppt/notesMasters/notesMaster1.xml" Id="Rc7e88b8c3f79405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6a097681501417a" /><Relationship Type="http://schemas.openxmlformats.org/officeDocument/2006/relationships/notesMaster" Target="/ppt/notesMasters/notesMaster1.xml" Id="R7b8772475bcc47ab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6e0e459b1974084" /><Relationship Type="http://schemas.openxmlformats.org/officeDocument/2006/relationships/notesMaster" Target="/ppt/notesMasters/notesMaster1.xml" Id="R4144469d5d16478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57cb77dcff348eb" /><Relationship Type="http://schemas.openxmlformats.org/officeDocument/2006/relationships/notesMaster" Target="/ppt/notesMasters/notesMaster1.xml" Id="R9d210c583eaa44b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4a5b30ca7ef4e4a" /><Relationship Type="http://schemas.openxmlformats.org/officeDocument/2006/relationships/notesMaster" Target="/ppt/notesMasters/notesMaster1.xml" Id="R8410f9d80a2a4363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b0c815ce7a44d3f" /><Relationship Type="http://schemas.openxmlformats.org/officeDocument/2006/relationships/notesMaster" Target="/ppt/notesMasters/notesMaster1.xml" Id="R1b6c876388994452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1b2cea0930714f89" /><Relationship Type="http://schemas.openxmlformats.org/officeDocument/2006/relationships/notesMaster" Target="/ppt/notesMasters/notesMaster1.xml" Id="Ra533c5715c9b4a69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05710bc6df84a31" /><Relationship Type="http://schemas.openxmlformats.org/officeDocument/2006/relationships/notesMaster" Target="/ppt/notesMasters/notesMaster1.xml" Id="R7d111d74bdc24030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4a9efb59eba4d64" /><Relationship Type="http://schemas.openxmlformats.org/officeDocument/2006/relationships/notesMaster" Target="/ppt/notesMasters/notesMaster1.xml" Id="Rbbadac1f1dab467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8fb63a5a3aa4090" /><Relationship Type="http://schemas.openxmlformats.org/officeDocument/2006/relationships/notesMaster" Target="/ppt/notesMasters/notesMaster1.xml" Id="R6d2c417c44474b7c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61c553087a7419d" /><Relationship Type="http://schemas.openxmlformats.org/officeDocument/2006/relationships/notesMaster" Target="/ppt/notesMasters/notesMaster1.xml" Id="R3edb51ea1c19460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965b72f729040b3" /><Relationship Type="http://schemas.openxmlformats.org/officeDocument/2006/relationships/notesMaster" Target="/ppt/notesMasters/notesMaster1.xml" Id="Rfeb49a5194f8448b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b0651c2c85d04f44" /><Relationship Type="http://schemas.openxmlformats.org/officeDocument/2006/relationships/notesMaster" Target="/ppt/notesMasters/notesMaster1.xml" Id="R52bc3232e15b4aac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e9ff94619e404743" /><Relationship Type="http://schemas.openxmlformats.org/officeDocument/2006/relationships/notesMaster" Target="/ppt/notesMasters/notesMaster1.xml" Id="Rabfa484bd3174ac9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b7bf27c0f2254c1c" /><Relationship Type="http://schemas.openxmlformats.org/officeDocument/2006/relationships/notesMaster" Target="/ppt/notesMasters/notesMaster1.xml" Id="R8a0394bb43a04b3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d0019e1879c4537" /><Relationship Type="http://schemas.openxmlformats.org/officeDocument/2006/relationships/notesMaster" Target="/ppt/notesMasters/notesMaster1.xml" Id="R18115ee5476943ea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636d31b0ebf642d9" /><Relationship Type="http://schemas.openxmlformats.org/officeDocument/2006/relationships/notesMaster" Target="/ppt/notesMasters/notesMaster1.xml" Id="R5b6a8965620947b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aea753eb84334d1a" /><Relationship Type="http://schemas.openxmlformats.org/officeDocument/2006/relationships/notesMaster" Target="/ppt/notesMasters/notesMaster1.xml" Id="R634a9b43388241ab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a5155471587d4cf5" /><Relationship Type="http://schemas.openxmlformats.org/officeDocument/2006/relationships/notesMaster" Target="/ppt/notesMasters/notesMaster1.xml" Id="Rae67d62df452410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932f225593e4bc9" /><Relationship Type="http://schemas.openxmlformats.org/officeDocument/2006/relationships/notesMaster" Target="/ppt/notesMasters/notesMaster1.xml" Id="R6bfdd5dca6534383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1029d25bd8d449b9" /><Relationship Type="http://schemas.openxmlformats.org/officeDocument/2006/relationships/notesMaster" Target="/ppt/notesMasters/notesMaster1.xml" Id="Rc1814ae098b54fc4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8b5850a714174641" /><Relationship Type="http://schemas.openxmlformats.org/officeDocument/2006/relationships/notesMaster" Target="/ppt/notesMasters/notesMaster1.xml" Id="Rc023496f00ac4ea5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fe359de2c7f4a07" /><Relationship Type="http://schemas.openxmlformats.org/officeDocument/2006/relationships/notesMaster" Target="/ppt/notesMasters/notesMaster1.xml" Id="Rec9b63930568444a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f9420097960a49b0" /><Relationship Type="http://schemas.openxmlformats.org/officeDocument/2006/relationships/notesMaster" Target="/ppt/notesMasters/notesMaster1.xml" Id="R666ca6016a6c427d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0dcf33241a34e08" /><Relationship Type="http://schemas.openxmlformats.org/officeDocument/2006/relationships/notesMaster" Target="/ppt/notesMasters/notesMaster1.xml" Id="R7a06c1d189f74062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3984cbd2e4f34720" /><Relationship Type="http://schemas.openxmlformats.org/officeDocument/2006/relationships/notesMaster" Target="/ppt/notesMasters/notesMaster1.xml" Id="R17f4c745633845f3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c042b9a817a64de5" /><Relationship Type="http://schemas.openxmlformats.org/officeDocument/2006/relationships/notesMaster" Target="/ppt/notesMasters/notesMaster1.xml" Id="Re3b76b41b38c4d76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48563250cea4adc" /><Relationship Type="http://schemas.openxmlformats.org/officeDocument/2006/relationships/notesMaster" Target="/ppt/notesMasters/notesMaster1.xml" Id="Raa3ef16c24d84e4f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a8b5a5c1fdce4759" /><Relationship Type="http://schemas.openxmlformats.org/officeDocument/2006/relationships/notesMaster" Target="/ppt/notesMasters/notesMaster1.xml" Id="R7094b6c1fef54e9e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53d5cb6e8b7c42cd" /><Relationship Type="http://schemas.openxmlformats.org/officeDocument/2006/relationships/notesMaster" Target="/ppt/notesMasters/notesMaster1.xml" Id="Rda3d8a261b404171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4c26ebb32ab046b6" /><Relationship Type="http://schemas.openxmlformats.org/officeDocument/2006/relationships/notesMaster" Target="/ppt/notesMasters/notesMaster1.xml" Id="R717064744eff4ce6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45a472b781a4c2e" /><Relationship Type="http://schemas.openxmlformats.org/officeDocument/2006/relationships/notesMaster" Target="/ppt/notesMasters/notesMaster1.xml" Id="R7db023b42beb44b3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09fa0a078350496f" /><Relationship Type="http://schemas.openxmlformats.org/officeDocument/2006/relationships/notesMaster" Target="/ppt/notesMasters/notesMaster1.xml" Id="R74e9e0407cb24ac5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4b8d0e98b654c0f" /><Relationship Type="http://schemas.openxmlformats.org/officeDocument/2006/relationships/notesMaster" Target="/ppt/notesMasters/notesMaster1.xml" Id="Ra547bc834e344a26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507f6d1a662f4b39" /><Relationship Type="http://schemas.openxmlformats.org/officeDocument/2006/relationships/notesMaster" Target="/ppt/notesMasters/notesMaster1.xml" Id="R7d413be184914204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4d88c58cbde4b86" /><Relationship Type="http://schemas.openxmlformats.org/officeDocument/2006/relationships/notesMaster" Target="/ppt/notesMasters/notesMaster1.xml" Id="Rb1248ca658764ff4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c6d3349ce8194706" /><Relationship Type="http://schemas.openxmlformats.org/officeDocument/2006/relationships/notesMaster" Target="/ppt/notesMasters/notesMaster1.xml" Id="R1bd25252ff0b4287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adaae6e08fe4945" /><Relationship Type="http://schemas.openxmlformats.org/officeDocument/2006/relationships/notesMaster" Target="/ppt/notesMasters/notesMaster1.xml" Id="R02790c20612e49bf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2435679c3564e4f" /><Relationship Type="http://schemas.openxmlformats.org/officeDocument/2006/relationships/notesMaster" Target="/ppt/notesMasters/notesMaster1.xml" Id="R247b4664b82f4f6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cb30d497b24a42ab" /><Relationship Type="http://schemas.openxmlformats.org/officeDocument/2006/relationships/notesMaster" Target="/ppt/notesMasters/notesMaster1.xml" Id="R9d564dc28223494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85bbf307761042ba" /><Relationship Type="http://schemas.openxmlformats.org/officeDocument/2006/relationships/notesMaster" Target="/ppt/notesMasters/notesMaster1.xml" Id="Ra09af402fad3415d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3b6f09ee266f4376" /><Relationship Type="http://schemas.openxmlformats.org/officeDocument/2006/relationships/notesMaster" Target="/ppt/notesMasters/notesMaster1.xml" Id="Re9897a646d914e46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bc5afb8618bf4c40" /><Relationship Type="http://schemas.openxmlformats.org/officeDocument/2006/relationships/notesMaster" Target="/ppt/notesMasters/notesMaster1.xml" Id="R6e6a150c10d24f5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9aff2ff20d22466f" /><Relationship Type="http://schemas.openxmlformats.org/officeDocument/2006/relationships/notesMaster" Target="/ppt/notesMasters/notesMaster1.xml" Id="R114fa8f656d8490f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e9a372de953a48e7" /><Relationship Type="http://schemas.openxmlformats.org/officeDocument/2006/relationships/notesMaster" Target="/ppt/notesMasters/notesMaster1.xml" Id="R4b0decb2a36740b7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9ac2f9b7f2d4d5f" /><Relationship Type="http://schemas.openxmlformats.org/officeDocument/2006/relationships/notesMaster" Target="/ppt/notesMasters/notesMaster1.xml" Id="R4e89ea48cd3a4860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e8df289599cc4cf2" /><Relationship Type="http://schemas.openxmlformats.org/officeDocument/2006/relationships/notesMaster" Target="/ppt/notesMasters/notesMaster1.xml" Id="R6cbd2742ed554f29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a5b9befbdee94433" /><Relationship Type="http://schemas.openxmlformats.org/officeDocument/2006/relationships/notesMaster" Target="/ppt/notesMasters/notesMaster1.xml" Id="R54851cc8f3e34eb6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976fc8bd1024a37" /><Relationship Type="http://schemas.openxmlformats.org/officeDocument/2006/relationships/notesMaster" Target="/ppt/notesMasters/notesMaster1.xml" Id="Rb9bfd723d2314654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34f695c0277b4ec9" /><Relationship Type="http://schemas.openxmlformats.org/officeDocument/2006/relationships/notesMaster" Target="/ppt/notesMasters/notesMaster1.xml" Id="Rbfafeb9409dd4df7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83f664b86bdf4abc" /><Relationship Type="http://schemas.openxmlformats.org/officeDocument/2006/relationships/notesMaster" Target="/ppt/notesMasters/notesMaster1.xml" Id="Rb9488f50b54d4503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444dafe701854ac2" /><Relationship Type="http://schemas.openxmlformats.org/officeDocument/2006/relationships/notesMaster" Target="/ppt/notesMasters/notesMaster1.xml" Id="Raadfe6f346114a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https://ludoquercia.github.io/apoptosi-lezione/ciclo-cellulare/#u-ciclo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https://ludoquercia.github.io/apoptosi-lezione/ciclo-cellulare/#f-dna-cromosomi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https://ludoquercia.github.io/apoptosi-lezione/ciclo-cellulare/#d-quattro-fasi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https://ludoquercia.github.io/apoptosi-lezione/ciclo-cellulare/#u-g0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https://ludoquercia.github.io/apoptosi-lezione/ciclo-cellulare/#u-tempo-dna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https://ludoquercia.github.io/apoptosi-lezione/ciclo-cellulare/#d-tempi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https://ludoquercia.github.io/apoptosi-lezione/ciclo-cellulare/#d-citometria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https://ludoquercia.github.io/apoptosi-lezione/ciclo-cellulare/#u-cicline-cdk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https://ludoquercia.github.io/apoptosi-lezione/ciclo-cellulare/#r-chinasi-d1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https://ludoquercia.github.io/apoptosi-lezione/ciclo-cellulare/#u-interruttori-cdk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https://ludoquercia.github.io/apoptosi-lezione/ciclo-cellulare/#r-cdk-switch-d1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https://ludoquercia.github.io/apoptosi-lezione/ciclo-cellulare/#d-famiglie-cki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https://ludoquercia.github.io/apoptosi-lezione/ciclo-cellulare/#u-rb-e2f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https://ludoquercia.github.io/apoptosi-lezione/ciclo-cellulare/#r-rb-d1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https://ludoquercia.github.io/apoptosi-lezione/ciclo-cellulare/#d-greatwall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https://ludoquercia.github.io/apoptosi-lezione/ciclo-cellulare/#r-proteolysis-basics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https://ludoquercia.github.io/apoptosi-lezione/ciclo-cellulare/#d-scf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https://ludoquercia.github.io/apoptosi-lezione/ciclo-cellulare/#d-apc-attivatori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https://ludoquercia.github.io/apoptosi-lezione/ciclo-cellulare/#d-apc-feedback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https://ludoquercia.github.io/apoptosi-lezione/ciclo-cellulare/#d-licensing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https://ludoquercia.github.io/apoptosi-lezione/ciclo-cellulare/#d-no-rireplicazione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https://ludoquercia.github.io/apoptosi-lezione/ciclo-cellulare/#u-regolatori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https://ludoquercia.github.io/apoptosi-lezione/ciclo-cellulare/#r-readers-d1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https://ludoquercia.github.io/apoptosi-lezione/ciclo-cellulare/#r-readers-d1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https://ludoquercia.github.io/apoptosi-lezione/ciclo-cellulare/#r-mitosis-d1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https://ludoquercia.github.io/apoptosi-lezione/ciclo-cellulare/#r-mitosis-d1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https://ludoquercia.github.io/apoptosi-lezione/ciclo-cellulare/#u-coesina-condensina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https://ludoquercia.github.io/apoptosi-lezione/ciclo-cellulare/#r-chromatin-d1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https://ludoquercia.github.io/apoptosi-lezione/ciclo-cellulare/#r-chromatin-d1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https://ludoquercia.github.io/apoptosi-lezione/ciclo-cellulare/#r-chromatin-d1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https://ludoquercia.github.io/apoptosi-lezione/ciclo-cellulare/#u-chinasi-mitotiche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https://ludoquercia.github.io/apoptosi-lezione/ciclo-cellulare/#r-kinases-m-d1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https://ludoquercia.github.io/apoptosi-lezione/ciclo-cellulare/#u-microtubuli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https://ludoquercia.github.io/apoptosi-lezione/ciclo-cellulare/#u-centrosoma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https://ludoquercia.github.io/apoptosi-lezione/ciclo-cellulare/#r-centrosomes-d1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https://ludoquercia.github.io/apoptosi-lezione/ciclo-cellulare/#u-nucleazione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https://ludoquercia.github.io/apoptosi-lezione/ciclo-cellulare/#r-nucleation-d1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https://ludoquercia.github.io/apoptosi-lezione/ciclo-cellulare/#u-dinamica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https://ludoquercia.github.io/apoptosi-lezione/ciclo-cellulare/#u-motori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https://ludoquercia.github.io/apoptosi-lezione/ciclo-cellulare/#r-motors-d1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https://ludoquercia.github.io/apoptosi-lezione/ciclo-cellulare/#r-motors-d1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https://ludoquercia.github.io/apoptosi-lezione/ciclo-cellulare/#u-involucro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https://ludoquercia.github.io/apoptosi-lezione/ciclo-cellulare/#r-envelope-d1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https://ludoquercia.github.io/apoptosi-lezione/ciclo-cellulare/#u-cinetocore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https://ludoquercia.github.io/apoptosi-lezione/ciclo-cellulare/#u-attacchi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https://ludoquercia.github.io/apoptosi-lezione/ciclo-cellulare/#u-sac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https://ludoquercia.github.io/apoptosi-lezione/ciclo-cellulare/#u-separasi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https://ludoquercia.github.io/apoptosi-lezione/ciclo-cellulare/#u-anafase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https://ludoquercia.github.io/apoptosi-lezione/ciclo-cellulare/#u-telofase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https://ludoquercia.github.io/apoptosi-lezione/ciclo-cellulare/#r-telophase-d1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https://ludoquercia.github.io/apoptosi-lezione/ciclo-cellulare/#u-citodieresi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https://ludoquercia.github.io/apoptosi-lezione/ciclo-cellulare/#r-cytokinesis-d1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https://ludoquercia.github.io/apoptosi-lezione/ciclo-cellulare/#d-golgi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https://ludoquercia.github.io/apoptosi-lezione/ciclo-cellulare/#r-organelles-d1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https://ludoquercia.github.io/apoptosi-lezione/ciclo-cellulare/#u-asimmetria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https://ludoquercia.github.io/apoptosi-lezione/ciclo-cellulare/#r-asymmetry-d1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https://ludoquercia.github.io/apoptosi-lezione/ciclo-cellulare/#u-segnali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https://ludoquercia.github.io/apoptosi-lezione/ciclo-cellulare/#u-myc-mtor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https://ludoquercia.github.io/apoptosi-lezione/ciclo-cellulare/#d-mtor-proteine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https://ludoquercia.github.io/apoptosi-lezione/ciclo-cellulare/#r-growth-d1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https://ludoquercia.github.io/apoptosi-lezione/ciclo-cellulare/#u-danno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https://ludoquercia.github.io/apoptosi-lezione/ciclo-cellulare/#r-damage-d1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https://ludoquercia.github.io/apoptosi-lezione/ciclo-cellulare/#r-damage-d1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https://ludoquercia.github.io/apoptosi-lezione/ciclo-cellulare/#u-senescenza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https://ludoquercia.github.io/apoptosi-lezione/ciclo-cellulare/#r-senescence-d1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https://ludoquercia.github.io/apoptosi-lezione/ciclo-cellulare/#u-oncogeni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https://ludoquercia.github.io/apoptosi-lezione/ciclo-cellulare/#r-oncogenes-d1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https://ludoquercia.github.io/apoptosi-lezione/ciclo-cellulare/#r-oncogene-map-d1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https://ludoquercia.github.io/apoptosi-lezione/ciclo-cellulare/#r-oncogene-map-d1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https://ludoquercia.github.io/apoptosi-lezione/ciclo-cellulare/#u-oncosoppressori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https://ludoquercia.github.io/apoptosi-lezione/ciclo-cellulare/#r-suppressors-d1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https://ludoquercia.github.io/apoptosi-lezione/ciclo-cellulare/#r-suppressors-d1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https://ludoquercia.github.io/apoptosi-lezione/ciclo-cellulare/#r-suppressors-d1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https://ludoquercia.github.io/apoptosi-lezione/ciclo-cellulare/#r-suppressors-d1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https://ludoquercia.github.io/apoptosi-lezione/ciclo-cellulare/#u-retinoblastoma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https://ludoquercia.github.io/apoptosi-lezione/ciclo-cellulare/#r-two-hits-d1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https://ludoquercia.github.io/apoptosi-lezione/ciclo-cellulare/#u-linea-germinale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https://ludoquercia.github.io/apoptosi-lezione/ciclo-cellulare/#u-linea-germinale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https://ludoquercia.github.io/apoptosi-lezione/ciclo-cellulare/#r-germline-d1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https://ludoquercia.github.io/apoptosi-lezione/ciclo-cellulare/#r-germline-d1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https://ludoquercia.github.io/apoptosi-lezione/ciclo-cellulare/#u-meiosi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https://ludoquercia.github.io/apoptosi-lezione/ciclo-cellulare/#u-meiosi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https://ludoquercia.github.io/apoptosi-lezione/ciclo-cellulare/#u-sry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https://ludoquercia.github.io/apoptosi-lezione/ciclo-cellulare/#u-sry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https://ludoquercia.github.io/apoptosi-lezione/ciclo-cellulare/#r-gonad-d1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https://ludoquercia.github.io/apoptosi-lezione/ciclo-cellulare/#u-ormoni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https://ludoquercia.github.io/apoptosi-lezione/ciclo-cellulare/#u-ormoni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https://ludoquercia.github.io/apoptosi-lezione/ciclo-cellulare/#r-ducts-d1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https://ludoquercia.github.io/apoptosi-lezione/ciclo-cellulare/#u-retinoico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https://ludoquercia.github.io/apoptosi-lezione/ciclo-cellulare/#u-profase-i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https://ludoquercia.github.io/apoptosi-lezione/ciclo-cellulare/#u-profase-i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https://ludoquercia.github.io/apoptosi-lezione/ciclo-cellulare/#u-profase-i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https://ludoquercia.github.io/apoptosi-lezione/ciclo-cellulare/#r-synapsis-d1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https://ludoquercia.github.io/apoptosi-lezione/ciclo-cellulare/#u-crossing-over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https://ludoquercia.github.io/apoptosi-lezione/ciclo-cellulare/#u-crossing-over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https://ludoquercia.github.io/apoptosi-lezione/ciclo-cellulare/#u-crossing-over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https://ludoquercia.github.io/apoptosi-lezione/ciclo-cellulare/#u-rec8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https://ludoquercia.github.io/apoptosi-lezione/ciclo-cellulare/#u-rec8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https://ludoquercia.github.io/apoptosi-lezione/ciclo-cellulare/#u-variabilita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https://ludoquercia.github.io/apoptosi-lezione/ciclo-cellulare/#u-variabilita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https://ludoquercia.github.io/apoptosi-lezione/ciclo-cellulare/#u-aneuploidia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https://ludoquercia.github.io/apoptosi-lezione/ciclo-cellulare/#u-aneuploidia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https://ludoquercia.github.io/apoptosi-lezione/ciclo-cellulare/#r-aneuploidy-d1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https://ludoquercia.github.io/apoptosi-lezione/ciclo-cellulare/#r-aneuploidy-d1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https://ludoquercia.github.io/apoptosi-lezione/ciclo-cellulare/#u-ovocita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https://ludoquercia.github.io/apoptosi-lezione/ciclo-cellulare/#u-ovocita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https://ludoquercia.github.io/apoptosi-lezione/ciclo-cellulare/#r-oocyte-d1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https://ludoquercia.github.io/apoptosi-lezione/ciclo-cellulare/#u-follicolo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https://ludoquercia.github.io/apoptosi-lezione/ciclo-cellulare/#u-follicolo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https://ludoquercia.github.io/apoptosi-lezione/ciclo-cellulare/#u-spermatozoo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https://ludoquercia.github.io/apoptosi-lezione/ciclo-cellulare/#u-spermatozoo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https://ludoquercia.github.io/apoptosi-lezione/ciclo-cellulare/#u-spermatogenesi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https://ludoquercia.github.io/apoptosi-lezione/ciclo-cellulare/#r-spermatogenesis-d1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https://ludoquercia.github.io/apoptosi-lezione/ciclo-cellulare/#u-ponti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https://ludoquercia.github.io/apoptosi-lezione/ciclo-cellulare/#u-ponti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https://ludoquercia.github.io/apoptosi-lezione/ciclo-cellulare/#u-capacitazione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https://ludoquercia.github.io/apoptosi-lezione/ciclo-cellulare/#u-capacitazione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https://ludoquercia.github.io/apoptosi-lezione/ciclo-cellulare/#u-zona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https://ludoquercia.github.io/apoptosi-lezione/ciclo-cellulare/#u-zona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https://ludoquercia.github.io/apoptosi-lezione/ciclo-cellulare/#r-fertilization-d1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https://ludoquercia.github.io/apoptosi-lezione/ciclo-cellulare/#r-fertilization-d1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https://ludoquercia.github.io/apoptosi-lezione/ciclo-cellulare/#u-calcio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https://ludoquercia.github.io/apoptosi-lezione/ciclo-cellulare/#u-calcio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https://ludoquercia.github.io/apoptosi-lezione/ciclo-cellulare/#r-zygote-d1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https://ludoquercia.github.io/apoptosi-lezione/ciclo-cellulare/#r-zygote-d1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https://ludoquercia.github.io/apoptosi-lezione/ciclo-cellulare/#u-polispermia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https://ludoquercia.github.io/apoptosi-lezione/ciclo-cellulare/#u-polispermia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https://ludoquercia.github.io/apoptosi-lezione/ciclo-cellulare/#u-prossima-lezione</a:t>
            </a:r>
          </a:p>
          <a:p xmlns:a="http://schemas.openxmlformats.org/drawingml/2006/main">
            <a:r>
              <a:t>Versione per la stampa, 25 settembre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25820d7567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d4bc46b0474c64" /><Relationship Type="http://schemas.openxmlformats.org/officeDocument/2006/relationships/slideLayout" Target="/ppt/slideLayouts/slideLayout1.xml" Id="Raa93ac6781d845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93ac6781d845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4a65603cc46e3" /><Relationship Type="http://schemas.openxmlformats.org/officeDocument/2006/relationships/image" Target="/ppt/media/image.png" Id="R141d58f07bc54f3f" /><Relationship Type="http://schemas.openxmlformats.org/officeDocument/2006/relationships/notesSlide" Target="/ppt/notesSlides/notesSlide1.xml" Id="Rf88763004296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fd111de24272" /><Relationship Type="http://schemas.openxmlformats.org/officeDocument/2006/relationships/image" Target="/ppt/media/image2.png" Id="R78497e9f34ba455c" /><Relationship Type="http://schemas.openxmlformats.org/officeDocument/2006/relationships/notesSlide" Target="/ppt/notesSlides/notesSlide2.xml" Id="Rd40b97a3eea743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9e82d55044ca2" /><Relationship Type="http://schemas.openxmlformats.org/officeDocument/2006/relationships/image" Target="/ppt/media/image3.png" Id="R892a5ad5a1674c7f" /><Relationship Type="http://schemas.openxmlformats.org/officeDocument/2006/relationships/notesSlide" Target="/ppt/notesSlides/notesSlide3.xml" Id="Ref848c89f278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2e29ff5a44a3f" /><Relationship Type="http://schemas.openxmlformats.org/officeDocument/2006/relationships/image" Target="/ppt/media/image4.png" Id="R3f5b8082ad964208" /><Relationship Type="http://schemas.openxmlformats.org/officeDocument/2006/relationships/notesSlide" Target="/ppt/notesSlides/notesSlide4.xml" Id="R2dcfd71d496240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79c973ddf4985" /><Relationship Type="http://schemas.openxmlformats.org/officeDocument/2006/relationships/image" Target="/ppt/media/image5.png" Id="R43d4cb4161b14e71" /><Relationship Type="http://schemas.openxmlformats.org/officeDocument/2006/relationships/notesSlide" Target="/ppt/notesSlides/notesSlide5.xml" Id="R1134d238ab0f4f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f156472a544bf" /><Relationship Type="http://schemas.openxmlformats.org/officeDocument/2006/relationships/image" Target="/ppt/media/image6.png" Id="Ref2b1a67179248de" /><Relationship Type="http://schemas.openxmlformats.org/officeDocument/2006/relationships/notesSlide" Target="/ppt/notesSlides/notesSlide6.xml" Id="R631d4115a49b43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f424a6ed64d20" /><Relationship Type="http://schemas.openxmlformats.org/officeDocument/2006/relationships/image" Target="/ppt/media/image7.png" Id="Rc1209cfd82964087" /><Relationship Type="http://schemas.openxmlformats.org/officeDocument/2006/relationships/notesSlide" Target="/ppt/notesSlides/notesSlide7.xml" Id="R45fe38baff9f4f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9c1d730ba4e9a" /><Relationship Type="http://schemas.openxmlformats.org/officeDocument/2006/relationships/image" Target="/ppt/media/image8.png" Id="Ra9dc34d5f1674d48" /><Relationship Type="http://schemas.openxmlformats.org/officeDocument/2006/relationships/notesSlide" Target="/ppt/notesSlides/notesSlide8.xml" Id="Rd1c66077d4fa4a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1f3291d7f4109" /><Relationship Type="http://schemas.openxmlformats.org/officeDocument/2006/relationships/image" Target="/ppt/media/image9.png" Id="R0317ff4e575047b6" /><Relationship Type="http://schemas.openxmlformats.org/officeDocument/2006/relationships/notesSlide" Target="/ppt/notesSlides/notesSlide9.xml" Id="R219e13f1aa7d48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5884c7f114de7" /><Relationship Type="http://schemas.openxmlformats.org/officeDocument/2006/relationships/image" Target="/ppt/media/image10.png" Id="R6130ce16f8324f5d" /><Relationship Type="http://schemas.openxmlformats.org/officeDocument/2006/relationships/notesSlide" Target="/ppt/notesSlides/notesSlide10.xml" Id="Re2b5e261959f41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6ede76e3b466b" /><Relationship Type="http://schemas.openxmlformats.org/officeDocument/2006/relationships/image" Target="/ppt/media/image11.png" Id="Rac45ebdef4cd4bff" /><Relationship Type="http://schemas.openxmlformats.org/officeDocument/2006/relationships/notesSlide" Target="/ppt/notesSlides/notesSlide11.xml" Id="R4997964b9f0e42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782581d81497f" /><Relationship Type="http://schemas.openxmlformats.org/officeDocument/2006/relationships/image" Target="/ppt/media/image12.png" Id="Rfa79524b00e44270" /><Relationship Type="http://schemas.openxmlformats.org/officeDocument/2006/relationships/notesSlide" Target="/ppt/notesSlides/notesSlide12.xml" Id="R576cfd94504e47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80a041e784b15" /><Relationship Type="http://schemas.openxmlformats.org/officeDocument/2006/relationships/image" Target="/ppt/media/image13.png" Id="R19835ffe1e6a47ca" /><Relationship Type="http://schemas.openxmlformats.org/officeDocument/2006/relationships/notesSlide" Target="/ppt/notesSlides/notesSlide13.xml" Id="R53dbeba531c44a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0eb45d5064a65" /><Relationship Type="http://schemas.openxmlformats.org/officeDocument/2006/relationships/image" Target="/ppt/media/image14.png" Id="R71d5972ffc5a4a0e" /><Relationship Type="http://schemas.openxmlformats.org/officeDocument/2006/relationships/notesSlide" Target="/ppt/notesSlides/notesSlide14.xml" Id="R6907da4225f747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3b2df937a4b7b" /><Relationship Type="http://schemas.openxmlformats.org/officeDocument/2006/relationships/image" Target="/ppt/media/image15.png" Id="R721111ae8e4048fb" /><Relationship Type="http://schemas.openxmlformats.org/officeDocument/2006/relationships/notesSlide" Target="/ppt/notesSlides/notesSlide15.xml" Id="Re8766771a84b4d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0170c4f414502" /><Relationship Type="http://schemas.openxmlformats.org/officeDocument/2006/relationships/image" Target="/ppt/media/image16.png" Id="R95635accf7a84ed5" /><Relationship Type="http://schemas.openxmlformats.org/officeDocument/2006/relationships/notesSlide" Target="/ppt/notesSlides/notesSlide16.xml" Id="Rf1b0d4365a6f42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671f604354adf" /><Relationship Type="http://schemas.openxmlformats.org/officeDocument/2006/relationships/image" Target="/ppt/media/image17.png" Id="R02299d3093b7439e" /><Relationship Type="http://schemas.openxmlformats.org/officeDocument/2006/relationships/notesSlide" Target="/ppt/notesSlides/notesSlide17.xml" Id="R95b5520e9bd14b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51117784946ae" /><Relationship Type="http://schemas.openxmlformats.org/officeDocument/2006/relationships/image" Target="/ppt/media/image18.png" Id="R092832f184c645a2" /><Relationship Type="http://schemas.openxmlformats.org/officeDocument/2006/relationships/notesSlide" Target="/ppt/notesSlides/notesSlide18.xml" Id="Rd98ef800dc4d43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b35f0559e4f38" /><Relationship Type="http://schemas.openxmlformats.org/officeDocument/2006/relationships/image" Target="/ppt/media/image19.png" Id="R75b927baf3c54f9c" /><Relationship Type="http://schemas.openxmlformats.org/officeDocument/2006/relationships/notesSlide" Target="/ppt/notesSlides/notesSlide19.xml" Id="Rbb2d810cea7740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39f5a61984538" /><Relationship Type="http://schemas.openxmlformats.org/officeDocument/2006/relationships/image" Target="/ppt/media/image20.png" Id="R3ff3a5c5771749ee" /><Relationship Type="http://schemas.openxmlformats.org/officeDocument/2006/relationships/notesSlide" Target="/ppt/notesSlides/notesSlide20.xml" Id="R5a74a53441174d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3619f400346c4" /><Relationship Type="http://schemas.openxmlformats.org/officeDocument/2006/relationships/image" Target="/ppt/media/image21.png" Id="R06ed744bf4874217" /><Relationship Type="http://schemas.openxmlformats.org/officeDocument/2006/relationships/notesSlide" Target="/ppt/notesSlides/notesSlide21.xml" Id="Rbfaae44e222b45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b015735d41e2" /><Relationship Type="http://schemas.openxmlformats.org/officeDocument/2006/relationships/image" Target="/ppt/media/image22.png" Id="R79a7f3fd7b1f492f" /><Relationship Type="http://schemas.openxmlformats.org/officeDocument/2006/relationships/notesSlide" Target="/ppt/notesSlides/notesSlide22.xml" Id="Rc54e3a7c3b5046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d723a7a1544c1" /><Relationship Type="http://schemas.openxmlformats.org/officeDocument/2006/relationships/image" Target="/ppt/media/image23.png" Id="R89f3f395c1214ceb" /><Relationship Type="http://schemas.openxmlformats.org/officeDocument/2006/relationships/notesSlide" Target="/ppt/notesSlides/notesSlide23.xml" Id="Rb3232f9bc82b49f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b782c11114e3e" /><Relationship Type="http://schemas.openxmlformats.org/officeDocument/2006/relationships/image" Target="/ppt/media/image24.png" Id="R2e1f1b7094a24782" /><Relationship Type="http://schemas.openxmlformats.org/officeDocument/2006/relationships/notesSlide" Target="/ppt/notesSlides/notesSlide24.xml" Id="Rf18884eef3c044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4f898375241ff" /><Relationship Type="http://schemas.openxmlformats.org/officeDocument/2006/relationships/image" Target="/ppt/media/image25.png" Id="R6e05111a159a45cb" /><Relationship Type="http://schemas.openxmlformats.org/officeDocument/2006/relationships/notesSlide" Target="/ppt/notesSlides/notesSlide25.xml" Id="Rc64b0181a7db49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32d14cf3e47d0" /><Relationship Type="http://schemas.openxmlformats.org/officeDocument/2006/relationships/image" Target="/ppt/media/image26.png" Id="Ra677c116be064048" /><Relationship Type="http://schemas.openxmlformats.org/officeDocument/2006/relationships/notesSlide" Target="/ppt/notesSlides/notesSlide26.xml" Id="Rfb58957692df42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32844ee06493d" /><Relationship Type="http://schemas.openxmlformats.org/officeDocument/2006/relationships/image" Target="/ppt/media/image27.png" Id="Rb43863a4d7d84a09" /><Relationship Type="http://schemas.openxmlformats.org/officeDocument/2006/relationships/notesSlide" Target="/ppt/notesSlides/notesSlide27.xml" Id="R05a27a9feadd41e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f7ee6f7e544ed" /><Relationship Type="http://schemas.openxmlformats.org/officeDocument/2006/relationships/image" Target="/ppt/media/image28.png" Id="Rbf282416838c4517" /><Relationship Type="http://schemas.openxmlformats.org/officeDocument/2006/relationships/notesSlide" Target="/ppt/notesSlides/notesSlide28.xml" Id="R024c4afb445e403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184b688974553" /><Relationship Type="http://schemas.openxmlformats.org/officeDocument/2006/relationships/image" Target="/ppt/media/image29.png" Id="R3ca8a5981d5b47c3" /><Relationship Type="http://schemas.openxmlformats.org/officeDocument/2006/relationships/notesSlide" Target="/ppt/notesSlides/notesSlide29.xml" Id="R05ed53ac1eac4a9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d4012a3c6461a" /><Relationship Type="http://schemas.openxmlformats.org/officeDocument/2006/relationships/image" Target="/ppt/media/image30.png" Id="R92eef5c930e14606" /><Relationship Type="http://schemas.openxmlformats.org/officeDocument/2006/relationships/notesSlide" Target="/ppt/notesSlides/notesSlide30.xml" Id="R6aa90c53553a49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d6ad7f2da4486" /><Relationship Type="http://schemas.openxmlformats.org/officeDocument/2006/relationships/image" Target="/ppt/media/image31.png" Id="R011a8dfa72424c82" /><Relationship Type="http://schemas.openxmlformats.org/officeDocument/2006/relationships/notesSlide" Target="/ppt/notesSlides/notesSlide31.xml" Id="R42cda84fa2dd49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5eebc175d4425" /><Relationship Type="http://schemas.openxmlformats.org/officeDocument/2006/relationships/image" Target="/ppt/media/image32.png" Id="Rea84aee7e0654509" /><Relationship Type="http://schemas.openxmlformats.org/officeDocument/2006/relationships/notesSlide" Target="/ppt/notesSlides/notesSlide32.xml" Id="R4e002041e0da41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e387111924b62" /><Relationship Type="http://schemas.openxmlformats.org/officeDocument/2006/relationships/image" Target="/ppt/media/image33.png" Id="R6764bda4968b4779" /><Relationship Type="http://schemas.openxmlformats.org/officeDocument/2006/relationships/notesSlide" Target="/ppt/notesSlides/notesSlide33.xml" Id="Rcdda5de5eda74b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44259276b4650" /><Relationship Type="http://schemas.openxmlformats.org/officeDocument/2006/relationships/image" Target="/ppt/media/image34.png" Id="R49fe8fb4aee94d0b" /><Relationship Type="http://schemas.openxmlformats.org/officeDocument/2006/relationships/notesSlide" Target="/ppt/notesSlides/notesSlide34.xml" Id="Rba17dcc27f714a7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0ae0b59354da2" /><Relationship Type="http://schemas.openxmlformats.org/officeDocument/2006/relationships/image" Target="/ppt/media/image35.png" Id="R25c5041b29ff44c7" /><Relationship Type="http://schemas.openxmlformats.org/officeDocument/2006/relationships/notesSlide" Target="/ppt/notesSlides/notesSlide35.xml" Id="Rc7b872b8901d4da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5fed3a45c45a8" /><Relationship Type="http://schemas.openxmlformats.org/officeDocument/2006/relationships/image" Target="/ppt/media/image36.png" Id="R7d4ff725646241ec" /><Relationship Type="http://schemas.openxmlformats.org/officeDocument/2006/relationships/notesSlide" Target="/ppt/notesSlides/notesSlide36.xml" Id="R744b515d077449c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17f0447c5499c" /><Relationship Type="http://schemas.openxmlformats.org/officeDocument/2006/relationships/image" Target="/ppt/media/image37.png" Id="Rc7c29357582141b7" /><Relationship Type="http://schemas.openxmlformats.org/officeDocument/2006/relationships/notesSlide" Target="/ppt/notesSlides/notesSlide37.xml" Id="Rce394b6187414a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4705949594dc4" /><Relationship Type="http://schemas.openxmlformats.org/officeDocument/2006/relationships/image" Target="/ppt/media/image38.png" Id="Ra4ab5b468d5540fd" /><Relationship Type="http://schemas.openxmlformats.org/officeDocument/2006/relationships/notesSlide" Target="/ppt/notesSlides/notesSlide38.xml" Id="R5fed14c917f44b7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10060a3e14f65" /><Relationship Type="http://schemas.openxmlformats.org/officeDocument/2006/relationships/image" Target="/ppt/media/image39.png" Id="R76ba9089ea2a4f3d" /><Relationship Type="http://schemas.openxmlformats.org/officeDocument/2006/relationships/notesSlide" Target="/ppt/notesSlides/notesSlide39.xml" Id="R446b59d28dba4d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cec82bb264061" /><Relationship Type="http://schemas.openxmlformats.org/officeDocument/2006/relationships/image" Target="/ppt/media/image40.png" Id="Rc224847049e04cff" /><Relationship Type="http://schemas.openxmlformats.org/officeDocument/2006/relationships/notesSlide" Target="/ppt/notesSlides/notesSlide40.xml" Id="Rd3d87cc4befd4f9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42926cebf4bf0" /><Relationship Type="http://schemas.openxmlformats.org/officeDocument/2006/relationships/image" Target="/ppt/media/image41.png" Id="R70554f7eebe04726" /><Relationship Type="http://schemas.openxmlformats.org/officeDocument/2006/relationships/notesSlide" Target="/ppt/notesSlides/notesSlide41.xml" Id="R11f7e71c33fe481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50873108749b6" /><Relationship Type="http://schemas.openxmlformats.org/officeDocument/2006/relationships/image" Target="/ppt/media/image42.png" Id="R6478298a656c43bb" /><Relationship Type="http://schemas.openxmlformats.org/officeDocument/2006/relationships/notesSlide" Target="/ppt/notesSlides/notesSlide42.xml" Id="Rc2d351e7f29b484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8f66f2f664009" /><Relationship Type="http://schemas.openxmlformats.org/officeDocument/2006/relationships/image" Target="/ppt/media/image43.png" Id="R27af8e3817774bbc" /><Relationship Type="http://schemas.openxmlformats.org/officeDocument/2006/relationships/notesSlide" Target="/ppt/notesSlides/notesSlide43.xml" Id="Rbc4d3423ffc1450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fd961f1ea4a92" /><Relationship Type="http://schemas.openxmlformats.org/officeDocument/2006/relationships/image" Target="/ppt/media/image44.png" Id="R3aac1554b639436f" /><Relationship Type="http://schemas.openxmlformats.org/officeDocument/2006/relationships/notesSlide" Target="/ppt/notesSlides/notesSlide44.xml" Id="R33f1bee5f74746d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61206545640a7" /><Relationship Type="http://schemas.openxmlformats.org/officeDocument/2006/relationships/image" Target="/ppt/media/image45.png" Id="Ra252469df9864c02" /><Relationship Type="http://schemas.openxmlformats.org/officeDocument/2006/relationships/notesSlide" Target="/ppt/notesSlides/notesSlide45.xml" Id="Rf1204e37f6194b1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cc21442594f81" /><Relationship Type="http://schemas.openxmlformats.org/officeDocument/2006/relationships/image" Target="/ppt/media/image46.png" Id="R82f7cbab88c14a01" /><Relationship Type="http://schemas.openxmlformats.org/officeDocument/2006/relationships/notesSlide" Target="/ppt/notesSlides/notesSlide46.xml" Id="R4bd8c63351ef42e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9d6f656c14470" /><Relationship Type="http://schemas.openxmlformats.org/officeDocument/2006/relationships/image" Target="/ppt/media/image47.png" Id="Rec2fb120a2ba4abf" /><Relationship Type="http://schemas.openxmlformats.org/officeDocument/2006/relationships/notesSlide" Target="/ppt/notesSlides/notesSlide47.xml" Id="R2bed15c57630474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2aba484f34c3f" /><Relationship Type="http://schemas.openxmlformats.org/officeDocument/2006/relationships/image" Target="/ppt/media/image48.png" Id="Rccb15baa0213433b" /><Relationship Type="http://schemas.openxmlformats.org/officeDocument/2006/relationships/notesSlide" Target="/ppt/notesSlides/notesSlide48.xml" Id="R60af97ca1e8d452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878d8e8f44716" /><Relationship Type="http://schemas.openxmlformats.org/officeDocument/2006/relationships/image" Target="/ppt/media/image49.png" Id="R875889daa135423b" /><Relationship Type="http://schemas.openxmlformats.org/officeDocument/2006/relationships/notesSlide" Target="/ppt/notesSlides/notesSlide49.xml" Id="Rcb099e39292c408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1e172925e449c" /><Relationship Type="http://schemas.openxmlformats.org/officeDocument/2006/relationships/image" Target="/ppt/media/image50.png" Id="R63424daaec6c42e9" /><Relationship Type="http://schemas.openxmlformats.org/officeDocument/2006/relationships/notesSlide" Target="/ppt/notesSlides/notesSlide50.xml" Id="Rd3cfe373782545e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fe04f939f47c3" /><Relationship Type="http://schemas.openxmlformats.org/officeDocument/2006/relationships/image" Target="/ppt/media/image51.png" Id="Re06a1f67efa34629" /><Relationship Type="http://schemas.openxmlformats.org/officeDocument/2006/relationships/notesSlide" Target="/ppt/notesSlides/notesSlide51.xml" Id="Rcce8db5ed4da406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d78c799e04380" /><Relationship Type="http://schemas.openxmlformats.org/officeDocument/2006/relationships/image" Target="/ppt/media/image52.png" Id="R68be253b4ada47b3" /><Relationship Type="http://schemas.openxmlformats.org/officeDocument/2006/relationships/notesSlide" Target="/ppt/notesSlides/notesSlide52.xml" Id="R6dd38e5861af4e4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a1857ef234c07" /><Relationship Type="http://schemas.openxmlformats.org/officeDocument/2006/relationships/image" Target="/ppt/media/image53.png" Id="R685a44c76c5f41b6" /><Relationship Type="http://schemas.openxmlformats.org/officeDocument/2006/relationships/notesSlide" Target="/ppt/notesSlides/notesSlide53.xml" Id="R82618241666942b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007bf891c4f23" /><Relationship Type="http://schemas.openxmlformats.org/officeDocument/2006/relationships/image" Target="/ppt/media/image54.png" Id="Rf0a9e209438e4b77" /><Relationship Type="http://schemas.openxmlformats.org/officeDocument/2006/relationships/notesSlide" Target="/ppt/notesSlides/notesSlide54.xml" Id="Rb9aab044827742d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9fcf35c84ff4" /><Relationship Type="http://schemas.openxmlformats.org/officeDocument/2006/relationships/image" Target="/ppt/media/image55.png" Id="Ra0464662ca524808" /><Relationship Type="http://schemas.openxmlformats.org/officeDocument/2006/relationships/notesSlide" Target="/ppt/notesSlides/notesSlide55.xml" Id="R410b4dfa6631403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8a66ddc1c45db" /><Relationship Type="http://schemas.openxmlformats.org/officeDocument/2006/relationships/image" Target="/ppt/media/image56.png" Id="Rdc4a90c07ca84a62" /><Relationship Type="http://schemas.openxmlformats.org/officeDocument/2006/relationships/notesSlide" Target="/ppt/notesSlides/notesSlide56.xml" Id="R615ee8c44a524cd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d75cee07a4b90" /><Relationship Type="http://schemas.openxmlformats.org/officeDocument/2006/relationships/image" Target="/ppt/media/image57.png" Id="Rcaa7eadbde314495" /><Relationship Type="http://schemas.openxmlformats.org/officeDocument/2006/relationships/notesSlide" Target="/ppt/notesSlides/notesSlide57.xml" Id="R855fd07b7c9344a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1b83b9167453d" /><Relationship Type="http://schemas.openxmlformats.org/officeDocument/2006/relationships/image" Target="/ppt/media/image58.png" Id="Rd8727fc8b52d44eb" /><Relationship Type="http://schemas.openxmlformats.org/officeDocument/2006/relationships/notesSlide" Target="/ppt/notesSlides/notesSlide58.xml" Id="Rb2d772786024424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d850dc1194170" /><Relationship Type="http://schemas.openxmlformats.org/officeDocument/2006/relationships/image" Target="/ppt/media/image59.png" Id="R44267be28fbb4ee9" /><Relationship Type="http://schemas.openxmlformats.org/officeDocument/2006/relationships/notesSlide" Target="/ppt/notesSlides/notesSlide59.xml" Id="Rcd18de160831494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e045e30454c8a" /><Relationship Type="http://schemas.openxmlformats.org/officeDocument/2006/relationships/image" Target="/ppt/media/image60.png" Id="R50d57466917d4660" /><Relationship Type="http://schemas.openxmlformats.org/officeDocument/2006/relationships/notesSlide" Target="/ppt/notesSlides/notesSlide60.xml" Id="R5fb3e05aedd14f1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6c43764084f74" /><Relationship Type="http://schemas.openxmlformats.org/officeDocument/2006/relationships/image" Target="/ppt/media/image61.png" Id="Rf5e9fdebb5064deb" /><Relationship Type="http://schemas.openxmlformats.org/officeDocument/2006/relationships/notesSlide" Target="/ppt/notesSlides/notesSlide61.xml" Id="R88c3d8360e62410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032213b784d34" /><Relationship Type="http://schemas.openxmlformats.org/officeDocument/2006/relationships/image" Target="/ppt/media/image62.png" Id="Rcfe04227293b498d" /><Relationship Type="http://schemas.openxmlformats.org/officeDocument/2006/relationships/notesSlide" Target="/ppt/notesSlides/notesSlide62.xml" Id="R081b765fb83a422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1ca53d68d4a04" /><Relationship Type="http://schemas.openxmlformats.org/officeDocument/2006/relationships/image" Target="/ppt/media/image63.png" Id="Rd3e1948109d140cb" /><Relationship Type="http://schemas.openxmlformats.org/officeDocument/2006/relationships/notesSlide" Target="/ppt/notesSlides/notesSlide63.xml" Id="R5b55366b00964de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868dff47a44c1" /><Relationship Type="http://schemas.openxmlformats.org/officeDocument/2006/relationships/image" Target="/ppt/media/image64.png" Id="Rd2ca8022c7344f79" /><Relationship Type="http://schemas.openxmlformats.org/officeDocument/2006/relationships/notesSlide" Target="/ppt/notesSlides/notesSlide64.xml" Id="Raebb08c34a39470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1324526c94097" /><Relationship Type="http://schemas.openxmlformats.org/officeDocument/2006/relationships/image" Target="/ppt/media/image65.png" Id="R4d600647c65845f4" /><Relationship Type="http://schemas.openxmlformats.org/officeDocument/2006/relationships/notesSlide" Target="/ppt/notesSlides/notesSlide65.xml" Id="R3aae78e0c37f4a4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84a895d6b4fed" /><Relationship Type="http://schemas.openxmlformats.org/officeDocument/2006/relationships/image" Target="/ppt/media/image66.png" Id="R8d3940e8278545da" /><Relationship Type="http://schemas.openxmlformats.org/officeDocument/2006/relationships/notesSlide" Target="/ppt/notesSlides/notesSlide66.xml" Id="R69d1a63274ed47a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4173accc44321" /><Relationship Type="http://schemas.openxmlformats.org/officeDocument/2006/relationships/image" Target="/ppt/media/image67.png" Id="Rfc32c4edc6c64453" /><Relationship Type="http://schemas.openxmlformats.org/officeDocument/2006/relationships/notesSlide" Target="/ppt/notesSlides/notesSlide67.xml" Id="Rd568eaa126c3481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9bd598c904491" /><Relationship Type="http://schemas.openxmlformats.org/officeDocument/2006/relationships/image" Target="/ppt/media/image68.png" Id="Re9ce79cb80b94e74" /><Relationship Type="http://schemas.openxmlformats.org/officeDocument/2006/relationships/notesSlide" Target="/ppt/notesSlides/notesSlide68.xml" Id="R3dee6e56147d4c5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9697948b7467a" /><Relationship Type="http://schemas.openxmlformats.org/officeDocument/2006/relationships/image" Target="/ppt/media/image69.png" Id="Raa4acacfe674401b" /><Relationship Type="http://schemas.openxmlformats.org/officeDocument/2006/relationships/notesSlide" Target="/ppt/notesSlides/notesSlide69.xml" Id="R44a924ad5d21413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a0ced1ae941b1" /><Relationship Type="http://schemas.openxmlformats.org/officeDocument/2006/relationships/image" Target="/ppt/media/image70.png" Id="R1144735392e34c4c" /><Relationship Type="http://schemas.openxmlformats.org/officeDocument/2006/relationships/notesSlide" Target="/ppt/notesSlides/notesSlide70.xml" Id="R6809f684e7484d8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a14f54aed485f" /><Relationship Type="http://schemas.openxmlformats.org/officeDocument/2006/relationships/image" Target="/ppt/media/image71.png" Id="R9dbbd4fa102045bf" /><Relationship Type="http://schemas.openxmlformats.org/officeDocument/2006/relationships/notesSlide" Target="/ppt/notesSlides/notesSlide71.xml" Id="Ra78a83e12041414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7b09623194217" /><Relationship Type="http://schemas.openxmlformats.org/officeDocument/2006/relationships/image" Target="/ppt/media/image72.png" Id="R6ce553ec3896477d" /><Relationship Type="http://schemas.openxmlformats.org/officeDocument/2006/relationships/notesSlide" Target="/ppt/notesSlides/notesSlide72.xml" Id="R480ed400b62b42b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d283812fe4ef8" /><Relationship Type="http://schemas.openxmlformats.org/officeDocument/2006/relationships/image" Target="/ppt/media/image73.png" Id="R4800adbee41544ae" /><Relationship Type="http://schemas.openxmlformats.org/officeDocument/2006/relationships/notesSlide" Target="/ppt/notesSlides/notesSlide73.xml" Id="Rb0c823de6ae84dc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431a6a60a4d30" /><Relationship Type="http://schemas.openxmlformats.org/officeDocument/2006/relationships/image" Target="/ppt/media/image74.png" Id="R91660eea700c4586" /><Relationship Type="http://schemas.openxmlformats.org/officeDocument/2006/relationships/notesSlide" Target="/ppt/notesSlides/notesSlide74.xml" Id="Raecfeb8a0c1d468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07d62a5594735" /><Relationship Type="http://schemas.openxmlformats.org/officeDocument/2006/relationships/image" Target="/ppt/media/image75.png" Id="Rffa7aed9b3a54d36" /><Relationship Type="http://schemas.openxmlformats.org/officeDocument/2006/relationships/notesSlide" Target="/ppt/notesSlides/notesSlide75.xml" Id="R4cd5893837ea4fa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bf2b8532a4461" /><Relationship Type="http://schemas.openxmlformats.org/officeDocument/2006/relationships/image" Target="/ppt/media/image76.png" Id="R936586c4e6d24702" /><Relationship Type="http://schemas.openxmlformats.org/officeDocument/2006/relationships/notesSlide" Target="/ppt/notesSlides/notesSlide76.xml" Id="R964b6caf23a947b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6004c77d54433" /><Relationship Type="http://schemas.openxmlformats.org/officeDocument/2006/relationships/image" Target="/ppt/media/image77.png" Id="Rafcad4db620645e1" /><Relationship Type="http://schemas.openxmlformats.org/officeDocument/2006/relationships/notesSlide" Target="/ppt/notesSlides/notesSlide77.xml" Id="Rfa8343e246da472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4ae2d54fb4df9" /><Relationship Type="http://schemas.openxmlformats.org/officeDocument/2006/relationships/image" Target="/ppt/media/image78.png" Id="R715e893e97104d93" /><Relationship Type="http://schemas.openxmlformats.org/officeDocument/2006/relationships/notesSlide" Target="/ppt/notesSlides/notesSlide78.xml" Id="R9418bd54fbed4bc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66f1d50bb4930" /><Relationship Type="http://schemas.openxmlformats.org/officeDocument/2006/relationships/image" Target="/ppt/media/image79.png" Id="Rf608bd3a734047a7" /><Relationship Type="http://schemas.openxmlformats.org/officeDocument/2006/relationships/notesSlide" Target="/ppt/notesSlides/notesSlide79.xml" Id="Re0a7b4d0a56f44d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e2c8db396456b" /><Relationship Type="http://schemas.openxmlformats.org/officeDocument/2006/relationships/image" Target="/ppt/media/image80.png" Id="R46660b2135ac4e26" /><Relationship Type="http://schemas.openxmlformats.org/officeDocument/2006/relationships/notesSlide" Target="/ppt/notesSlides/notesSlide80.xml" Id="R18fbde3c9d9f4a2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81fa546e842a0" /><Relationship Type="http://schemas.openxmlformats.org/officeDocument/2006/relationships/image" Target="/ppt/media/image81.png" Id="R17c2dfdf139647de" /><Relationship Type="http://schemas.openxmlformats.org/officeDocument/2006/relationships/notesSlide" Target="/ppt/notesSlides/notesSlide81.xml" Id="R840ac6f7486f44a7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40e338821465c" /><Relationship Type="http://schemas.openxmlformats.org/officeDocument/2006/relationships/image" Target="/ppt/media/image82.png" Id="R5594c83ce05243a0" /><Relationship Type="http://schemas.openxmlformats.org/officeDocument/2006/relationships/notesSlide" Target="/ppt/notesSlides/notesSlide82.xml" Id="R064c1d077cd9440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3cf32d7ca4f91" /><Relationship Type="http://schemas.openxmlformats.org/officeDocument/2006/relationships/image" Target="/ppt/media/image83.png" Id="Rd43a5c11a6324bd4" /><Relationship Type="http://schemas.openxmlformats.org/officeDocument/2006/relationships/notesSlide" Target="/ppt/notesSlides/notesSlide83.xml" Id="R6c1946d73f754d2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23ca9f6864f19" /><Relationship Type="http://schemas.openxmlformats.org/officeDocument/2006/relationships/image" Target="/ppt/media/image84.png" Id="R88edb2e401114fd0" /><Relationship Type="http://schemas.openxmlformats.org/officeDocument/2006/relationships/notesSlide" Target="/ppt/notesSlides/notesSlide84.xml" Id="Re5c6b26723244c9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cdd39c2474b0b" /><Relationship Type="http://schemas.openxmlformats.org/officeDocument/2006/relationships/image" Target="/ppt/media/image85.png" Id="Ra318cf09b6cd4b51" /><Relationship Type="http://schemas.openxmlformats.org/officeDocument/2006/relationships/notesSlide" Target="/ppt/notesSlides/notesSlide85.xml" Id="R398efe77f1c745a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b4d3deaf54a92" /><Relationship Type="http://schemas.openxmlformats.org/officeDocument/2006/relationships/image" Target="/ppt/media/image86.png" Id="R35000d0046e245cb" /><Relationship Type="http://schemas.openxmlformats.org/officeDocument/2006/relationships/notesSlide" Target="/ppt/notesSlides/notesSlide86.xml" Id="Rdf8cdf27d87b410c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feadb565b4d18" /><Relationship Type="http://schemas.openxmlformats.org/officeDocument/2006/relationships/image" Target="/ppt/media/image87.png" Id="R13ca5bf18eef4bba" /><Relationship Type="http://schemas.openxmlformats.org/officeDocument/2006/relationships/notesSlide" Target="/ppt/notesSlides/notesSlide87.xml" Id="R3bc0fae593b1450f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1f20e277c4724" /><Relationship Type="http://schemas.openxmlformats.org/officeDocument/2006/relationships/image" Target="/ppt/media/image88.png" Id="R9f291f100c504567" /><Relationship Type="http://schemas.openxmlformats.org/officeDocument/2006/relationships/notesSlide" Target="/ppt/notesSlides/notesSlide88.xml" Id="R68560676028b433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0c33db76841fd" /><Relationship Type="http://schemas.openxmlformats.org/officeDocument/2006/relationships/image" Target="/ppt/media/image89.png" Id="R035dcff917844a58" /><Relationship Type="http://schemas.openxmlformats.org/officeDocument/2006/relationships/notesSlide" Target="/ppt/notesSlides/notesSlide89.xml" Id="Rd2cb679a64b54060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d2d9fc9874132" /><Relationship Type="http://schemas.openxmlformats.org/officeDocument/2006/relationships/image" Target="/ppt/media/image90.png" Id="R73a4211efd5b40c2" /><Relationship Type="http://schemas.openxmlformats.org/officeDocument/2006/relationships/notesSlide" Target="/ppt/notesSlides/notesSlide90.xml" Id="R5c82bc79b4b443a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04f1e1f1742d1" /><Relationship Type="http://schemas.openxmlformats.org/officeDocument/2006/relationships/image" Target="/ppt/media/image91.png" Id="R44f4affe66ff434c" /><Relationship Type="http://schemas.openxmlformats.org/officeDocument/2006/relationships/notesSlide" Target="/ppt/notesSlides/notesSlide91.xml" Id="Rd676f192ab694b8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5cfa3c28f4075" /><Relationship Type="http://schemas.openxmlformats.org/officeDocument/2006/relationships/image" Target="/ppt/media/image92.png" Id="Rd2602160464d41b8" /><Relationship Type="http://schemas.openxmlformats.org/officeDocument/2006/relationships/notesSlide" Target="/ppt/notesSlides/notesSlide92.xml" Id="R02bb4706c0c941c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de23d90cb4a74" /><Relationship Type="http://schemas.openxmlformats.org/officeDocument/2006/relationships/image" Target="/ppt/media/image93.png" Id="Rf0359a6dae3d479c" /><Relationship Type="http://schemas.openxmlformats.org/officeDocument/2006/relationships/notesSlide" Target="/ppt/notesSlides/notesSlide93.xml" Id="R03625cf9eab74cc2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62b53281947ca" /><Relationship Type="http://schemas.openxmlformats.org/officeDocument/2006/relationships/image" Target="/ppt/media/image94.png" Id="R85cf06109ea04594" /><Relationship Type="http://schemas.openxmlformats.org/officeDocument/2006/relationships/notesSlide" Target="/ppt/notesSlides/notesSlide94.xml" Id="R5e78af91d6df41e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a309b7b674508" /><Relationship Type="http://schemas.openxmlformats.org/officeDocument/2006/relationships/image" Target="/ppt/media/image95.png" Id="Rce91a29c31ba450d" /><Relationship Type="http://schemas.openxmlformats.org/officeDocument/2006/relationships/notesSlide" Target="/ppt/notesSlides/notesSlide95.xml" Id="R6ffabb85fb8346b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5ec205e0041e1" /><Relationship Type="http://schemas.openxmlformats.org/officeDocument/2006/relationships/image" Target="/ppt/media/image96.png" Id="R2b8ec5af59624b5b" /><Relationship Type="http://schemas.openxmlformats.org/officeDocument/2006/relationships/notesSlide" Target="/ppt/notesSlides/notesSlide96.xml" Id="Rabadcb93feff4a7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0a213d9bb4df8" /><Relationship Type="http://schemas.openxmlformats.org/officeDocument/2006/relationships/image" Target="/ppt/media/image97.png" Id="R253006c0d5154487" /><Relationship Type="http://schemas.openxmlformats.org/officeDocument/2006/relationships/notesSlide" Target="/ppt/notesSlides/notesSlide97.xml" Id="Rf582cf35a6674813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17e35a8a94061" /><Relationship Type="http://schemas.openxmlformats.org/officeDocument/2006/relationships/image" Target="/ppt/media/image98.png" Id="Re2ac2cd5349d4b8a" /><Relationship Type="http://schemas.openxmlformats.org/officeDocument/2006/relationships/notesSlide" Target="/ppt/notesSlides/notesSlide98.xml" Id="Rb00bfb5199594672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1fb984af34bed" /><Relationship Type="http://schemas.openxmlformats.org/officeDocument/2006/relationships/image" Target="/ppt/media/image99.png" Id="R4d5759a3e44a4c29" /><Relationship Type="http://schemas.openxmlformats.org/officeDocument/2006/relationships/notesSlide" Target="/ppt/notesSlides/notesSlide99.xml" Id="R57db7df38c2f48ea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21e438ad47d4" /><Relationship Type="http://schemas.openxmlformats.org/officeDocument/2006/relationships/image" Target="/ppt/media/image100.png" Id="R43cab37217ed48cb" /><Relationship Type="http://schemas.openxmlformats.org/officeDocument/2006/relationships/notesSlide" Target="/ppt/notesSlides/notesSlide100.xml" Id="Re8537b28f0634a3e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cbca1ff5840f8" /><Relationship Type="http://schemas.openxmlformats.org/officeDocument/2006/relationships/image" Target="/ppt/media/image101.png" Id="R2e31870c3c744a48" /><Relationship Type="http://schemas.openxmlformats.org/officeDocument/2006/relationships/notesSlide" Target="/ppt/notesSlides/notesSlide101.xml" Id="R99719037ca1549e6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5b60b156e4b74" /><Relationship Type="http://schemas.openxmlformats.org/officeDocument/2006/relationships/image" Target="/ppt/media/image102.png" Id="R59e6db96fa6a4c06" /><Relationship Type="http://schemas.openxmlformats.org/officeDocument/2006/relationships/notesSlide" Target="/ppt/notesSlides/notesSlide102.xml" Id="Rdc8a4b4ab0eb4cf9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eb56d6e694675" /><Relationship Type="http://schemas.openxmlformats.org/officeDocument/2006/relationships/image" Target="/ppt/media/image103.png" Id="Rdb27d33da8b841d2" /><Relationship Type="http://schemas.openxmlformats.org/officeDocument/2006/relationships/notesSlide" Target="/ppt/notesSlides/notesSlide103.xml" Id="R05da21ad5f25460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1f12bfebd44d4" /><Relationship Type="http://schemas.openxmlformats.org/officeDocument/2006/relationships/image" Target="/ppt/media/image104.png" Id="R494d976329ec411e" /><Relationship Type="http://schemas.openxmlformats.org/officeDocument/2006/relationships/notesSlide" Target="/ppt/notesSlides/notesSlide104.xml" Id="Rd9bb4f7d0f124487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7dc5194334045" /><Relationship Type="http://schemas.openxmlformats.org/officeDocument/2006/relationships/image" Target="/ppt/media/image105.png" Id="R2fbac512483a4c25" /><Relationship Type="http://schemas.openxmlformats.org/officeDocument/2006/relationships/notesSlide" Target="/ppt/notesSlides/notesSlide105.xml" Id="Rfadf0acb7c7b479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e034458ad4e3b" /><Relationship Type="http://schemas.openxmlformats.org/officeDocument/2006/relationships/image" Target="/ppt/media/image106.png" Id="R378bcbadffb74754" /><Relationship Type="http://schemas.openxmlformats.org/officeDocument/2006/relationships/notesSlide" Target="/ppt/notesSlides/notesSlide106.xml" Id="R0c36854d86d842d2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47a3d0d4c4bbe" /><Relationship Type="http://schemas.openxmlformats.org/officeDocument/2006/relationships/image" Target="/ppt/media/image107.png" Id="R7f5efb42d0554a00" /><Relationship Type="http://schemas.openxmlformats.org/officeDocument/2006/relationships/notesSlide" Target="/ppt/notesSlides/notesSlide107.xml" Id="R5359631e9a0c44e7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7021a05d54b1c" /><Relationship Type="http://schemas.openxmlformats.org/officeDocument/2006/relationships/image" Target="/ppt/media/image108.png" Id="Ra74ca9c216544f67" /><Relationship Type="http://schemas.openxmlformats.org/officeDocument/2006/relationships/notesSlide" Target="/ppt/notesSlides/notesSlide108.xml" Id="Ra26abf7ce9a146fa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cec074eb34c58" /><Relationship Type="http://schemas.openxmlformats.org/officeDocument/2006/relationships/image" Target="/ppt/media/image109.png" Id="Rcce3d93ffb954400" /><Relationship Type="http://schemas.openxmlformats.org/officeDocument/2006/relationships/notesSlide" Target="/ppt/notesSlides/notesSlide109.xml" Id="Ra4f112156afd46e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0a1528b814d5a" /><Relationship Type="http://schemas.openxmlformats.org/officeDocument/2006/relationships/image" Target="/ppt/media/image110.png" Id="R61ebc3bca42441b9" /><Relationship Type="http://schemas.openxmlformats.org/officeDocument/2006/relationships/notesSlide" Target="/ppt/notesSlides/notesSlide110.xml" Id="R5a615f8cf5a44032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f2fd147544521" /><Relationship Type="http://schemas.openxmlformats.org/officeDocument/2006/relationships/image" Target="/ppt/media/image111.png" Id="Rc7aab2e6fc45487f" /><Relationship Type="http://schemas.openxmlformats.org/officeDocument/2006/relationships/notesSlide" Target="/ppt/notesSlides/notesSlide111.xml" Id="Rae24ae247577493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7c81b39724601" /><Relationship Type="http://schemas.openxmlformats.org/officeDocument/2006/relationships/image" Target="/ppt/media/image112.png" Id="Rba82839fc70d48d7" /><Relationship Type="http://schemas.openxmlformats.org/officeDocument/2006/relationships/notesSlide" Target="/ppt/notesSlides/notesSlide112.xml" Id="R83d8205affa149bf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e7c4672e34cae" /><Relationship Type="http://schemas.openxmlformats.org/officeDocument/2006/relationships/image" Target="/ppt/media/image113.png" Id="R6edf8e0d92344353" /><Relationship Type="http://schemas.openxmlformats.org/officeDocument/2006/relationships/notesSlide" Target="/ppt/notesSlides/notesSlide113.xml" Id="R02435448053d4c8d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f1e3491cb4d32" /><Relationship Type="http://schemas.openxmlformats.org/officeDocument/2006/relationships/image" Target="/ppt/media/image114.png" Id="R25dc9c3e6fe94fdc" /><Relationship Type="http://schemas.openxmlformats.org/officeDocument/2006/relationships/notesSlide" Target="/ppt/notesSlides/notesSlide114.xml" Id="R5da844313a2e4988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c6adf6d844245" /><Relationship Type="http://schemas.openxmlformats.org/officeDocument/2006/relationships/image" Target="/ppt/media/image115.png" Id="R2669d97161c449f7" /><Relationship Type="http://schemas.openxmlformats.org/officeDocument/2006/relationships/notesSlide" Target="/ppt/notesSlides/notesSlide115.xml" Id="Rf5c225ef787b489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c071222a24681" /><Relationship Type="http://schemas.openxmlformats.org/officeDocument/2006/relationships/image" Target="/ppt/media/image116.png" Id="R7db840a47ea943c6" /><Relationship Type="http://schemas.openxmlformats.org/officeDocument/2006/relationships/notesSlide" Target="/ppt/notesSlides/notesSlide116.xml" Id="R2a39057617794b01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d96c8ed364c38" /><Relationship Type="http://schemas.openxmlformats.org/officeDocument/2006/relationships/image" Target="/ppt/media/image117.png" Id="Rba9ef4cf96da4200" /><Relationship Type="http://schemas.openxmlformats.org/officeDocument/2006/relationships/notesSlide" Target="/ppt/notesSlides/notesSlide117.xml" Id="Ra6ed3d94c6734301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faa36c80c4fb0" /><Relationship Type="http://schemas.openxmlformats.org/officeDocument/2006/relationships/image" Target="/ppt/media/image118.png" Id="Rd4b138ddfa8f475d" /><Relationship Type="http://schemas.openxmlformats.org/officeDocument/2006/relationships/notesSlide" Target="/ppt/notesSlides/notesSlide118.xml" Id="R9c6390b2525b4e3c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59e842b4a4081" /><Relationship Type="http://schemas.openxmlformats.org/officeDocument/2006/relationships/image" Target="/ppt/media/image119.png" Id="R919da636d2264bcd" /><Relationship Type="http://schemas.openxmlformats.org/officeDocument/2006/relationships/notesSlide" Target="/ppt/notesSlides/notesSlide119.xml" Id="Ra70754a1e5d1490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da4b8583c4c39" /><Relationship Type="http://schemas.openxmlformats.org/officeDocument/2006/relationships/image" Target="/ppt/media/image120.png" Id="R4e2e4328914f4375" /><Relationship Type="http://schemas.openxmlformats.org/officeDocument/2006/relationships/notesSlide" Target="/ppt/notesSlides/notesSlide120.xml" Id="R45109f3c4eb8436a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f2aad614a43ad" /><Relationship Type="http://schemas.openxmlformats.org/officeDocument/2006/relationships/image" Target="/ppt/media/image121.png" Id="R7a694e9768cf4195" /><Relationship Type="http://schemas.openxmlformats.org/officeDocument/2006/relationships/notesSlide" Target="/ppt/notesSlides/notesSlide121.xml" Id="R3e226c479f9947e6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ff4949cf84804" /><Relationship Type="http://schemas.openxmlformats.org/officeDocument/2006/relationships/image" Target="/ppt/media/image122.png" Id="Rdf2d716f29aa4ae5" /><Relationship Type="http://schemas.openxmlformats.org/officeDocument/2006/relationships/notesSlide" Target="/ppt/notesSlides/notesSlide122.xml" Id="Ra74aea28157a42ab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3670a72ea4e2c" /><Relationship Type="http://schemas.openxmlformats.org/officeDocument/2006/relationships/image" Target="/ppt/media/image123.png" Id="R56cbb63531744f58" /><Relationship Type="http://schemas.openxmlformats.org/officeDocument/2006/relationships/notesSlide" Target="/ppt/notesSlides/notesSlide123.xml" Id="R0be4d37d79be41ee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2fbb5341e4f94" /><Relationship Type="http://schemas.openxmlformats.org/officeDocument/2006/relationships/image" Target="/ppt/media/image124.png" Id="R662f15f57ce04f10" /><Relationship Type="http://schemas.openxmlformats.org/officeDocument/2006/relationships/notesSlide" Target="/ppt/notesSlides/notesSlide124.xml" Id="R172a1d244d934545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1c22e8372489d" /><Relationship Type="http://schemas.openxmlformats.org/officeDocument/2006/relationships/image" Target="/ppt/media/image125.png" Id="R62f875fa3ba34ade" /><Relationship Type="http://schemas.openxmlformats.org/officeDocument/2006/relationships/notesSlide" Target="/ppt/notesSlides/notesSlide125.xml" Id="Rd9b0d2460c024ffc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aae525cd43f2" /><Relationship Type="http://schemas.openxmlformats.org/officeDocument/2006/relationships/image" Target="/ppt/media/image126.png" Id="R42390879a4f94951" /><Relationship Type="http://schemas.openxmlformats.org/officeDocument/2006/relationships/notesSlide" Target="/ppt/notesSlides/notesSlide126.xml" Id="R6fe05c56a66f4bea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bed396efb466a" /><Relationship Type="http://schemas.openxmlformats.org/officeDocument/2006/relationships/image" Target="/ppt/media/image127.png" Id="Rbecf754e62404403" /><Relationship Type="http://schemas.openxmlformats.org/officeDocument/2006/relationships/notesSlide" Target="/ppt/notesSlides/notesSlide127.xml" Id="Rf69b28cc83e749d9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0505aa4764dee" /><Relationship Type="http://schemas.openxmlformats.org/officeDocument/2006/relationships/image" Target="/ppt/media/image128.png" Id="Rb45c436761e1413a" /><Relationship Type="http://schemas.openxmlformats.org/officeDocument/2006/relationships/notesSlide" Target="/ppt/notesSlides/notesSlide128.xml" Id="R22042172728849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3E80B-070D-45DC-87D3-3BC2F23A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AD90C-807D-4B57-8240-217A1D8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75C7-7177-48CC-ACDF-50E097D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passa da una cellula a due?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3FE73-0D63-43A0-A5CA-441295F5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Crescere, copiare il </a:t>
            </a:r>
            <a:r>
              <a:rPr b="1" i="0"/>
              <a:t>genoma</a:t>
            </a:r>
            <a:r>
              <a:rPr b="0" i="0"/>
              <a:t> — l’insieme del DNA — e distribuirne </a:t>
            </a:r>
            <a:r>
              <a:rPr b="1" i="0"/>
              <a:t>una copia completa</a:t>
            </a:r>
            <a:r>
              <a:rPr b="0" i="0"/>
              <a:t> a ogni figlia.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E1A52-4A64-454A-9A6C-AD0DDB1D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Crescere</a:t>
            </a:r>
            <a:r>
              <a:t>. </a:t>
            </a:r>
            <a:r>
              <a:rPr b="0" i="0"/>
              <a:t>Produrre </a:t>
            </a:r>
            <a:r>
              <a:rPr b="1" i="0"/>
              <a:t>massa e componenti</a:t>
            </a:r>
            <a:r>
              <a:rPr b="0" i="0"/>
              <a:t> cellulari. Le proteine e gli organelli, strutture interne con funzioni specializzate, non si duplicano tutti insieme come il DNA.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32492-9C28-4DF4-B389-9E38BB7F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Copiare una sola volta</a:t>
            </a:r>
            <a:r>
              <a:t>. </a:t>
            </a:r>
            <a:r>
              <a:rPr b="0" i="0"/>
              <a:t>Replicare accuratamente il genoma </a:t>
            </a:r>
            <a:r>
              <a:rPr b="1" i="0"/>
              <a:t>una sola volta</a:t>
            </a:r>
            <a:r>
              <a:rPr b="0" i="0"/>
              <a:t> per ciclo.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7BF7C-9EDE-4732-8607-6096D45C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Tenere associate le copie</a:t>
            </a:r>
            <a:r>
              <a:t>. </a:t>
            </a:r>
            <a:r>
              <a:rPr b="0" i="0"/>
              <a:t>Mantenere le copie riconoscibili e </a:t>
            </a:r>
            <a:r>
              <a:rPr b="1" i="0"/>
              <a:t>associate</a:t>
            </a:r>
            <a:r>
              <a:rPr b="0" i="0"/>
              <a:t> fino alla loro separazione.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89D8E-E5E4-4CBF-A775-DD24F54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027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Segregare</a:t>
            </a:r>
            <a:r>
              <a:t>. </a:t>
            </a:r>
            <a:r>
              <a:rPr b="0" i="0"/>
              <a:t>Distribuire </a:t>
            </a:r>
            <a:r>
              <a:rPr b="1" i="0"/>
              <a:t>una copia completa</a:t>
            </a:r>
            <a:r>
              <a:rPr b="0" i="0"/>
              <a:t> del genoma a ciascun futuro nucleo.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691FC-8B4B-4666-82F4-781EA76C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330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Dividere il citoplasma</a:t>
            </a:r>
            <a:r>
              <a:t>. </a:t>
            </a:r>
            <a:r>
              <a:rPr b="0" i="0"/>
              <a:t>La </a:t>
            </a:r>
            <a:r>
              <a:rPr b="1" i="0"/>
              <a:t>citodieresi</a:t>
            </a:r>
            <a:r>
              <a:rPr b="0" i="0"/>
              <a:t> separa la cellula in due figlie. Nella mitosi normale ricevono lo stesso patrimonio genetico.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1642C-3048-4CA5-A047-C64CBD0E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523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Ordinare e controllare</a:t>
            </a:r>
            <a:r>
              <a:t>. </a:t>
            </a:r>
            <a:r>
              <a:rPr b="0" i="0"/>
              <a:t>Ogni passaggio dipende dal </a:t>
            </a:r>
            <a:r>
              <a:rPr b="1" i="0"/>
              <a:t>completamento dei precedenti</a:t>
            </a:r>
            <a:r>
              <a:rPr b="0" i="0"/>
              <a:t>. Prima mappa: G1 → S → G2 → M.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d58f07bc54f3f"/>
          <a:stretch xmlns:a="http://schemas.openxmlformats.org/drawingml/2006/main"/>
        </p:blipFill>
        <p:spPr>
          <a:xfrm xmlns:a="http://schemas.openxmlformats.org/drawingml/2006/main">
            <a:off x="7296150" y="2398395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3F3FF-CC2B-4165-8121-2FF4A0B7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7E903-58FE-435F-9E58-F47E69A6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1/95    |    1/128</a:t>
            </a:r>
          </a:p>
        </p:txBody>
      </p:sp>
    </p:spTree>
    <p:extLst>
      <p:ext uri="{BB962C8B-B14F-4D97-AF65-F5344CB8AC3E}">
        <p14:creationId xmlns:p14="http://schemas.microsoft.com/office/powerpoint/2010/main" val="388122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E6364-2C7C-4614-8A04-0B86A27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8B465-791E-4322-A2D5-8B2FF144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543A4-F556-4D70-A1AA-CB076451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Che cosa cambia in un cromosoma quando il DNA si copia?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08F6A-1761-46F5-B059-F848A7C3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Seguiamo lo stesso cromosoma prima e dopo la copia del </a:t>
            </a:r>
            <a:r>
              <a:rPr b="1" i="0"/>
              <a:t>DNA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831D0-FB57-4124-BD45-1A1A3667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L’oggetto</a:t>
            </a:r>
            <a:r>
              <a:t>. </a:t>
            </a:r>
            <a:r>
              <a:rPr b="0" i="0"/>
              <a:t>Il </a:t>
            </a:r>
            <a:r>
              <a:rPr b="1" i="0"/>
              <a:t>DNA</a:t>
            </a:r>
            <a:r>
              <a:rPr b="0" i="0"/>
              <a:t> è la molecola; il cromosoma è la sua organizzazione con </a:t>
            </a:r>
            <a:r>
              <a:rPr b="1" i="0"/>
              <a:t>proteine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6932D-BE0F-4423-BD2F-3F8ACC4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013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Prima di S</a:t>
            </a:r>
            <a:r>
              <a:t>. </a:t>
            </a:r>
            <a:r>
              <a:rPr b="0" i="0"/>
              <a:t>Un </a:t>
            </a:r>
            <a:r>
              <a:rPr b="1" i="0"/>
              <a:t>cromosoma non duplicato</a:t>
            </a:r>
            <a:r>
              <a:rPr b="0" i="0"/>
              <a:t> contiene una sola molecola di DNA a doppia elica.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4A367-B3BE-4F0D-92DD-C92D569E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316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Durante e dopo S</a:t>
            </a:r>
            <a:r>
              <a:t>. </a:t>
            </a:r>
            <a:r>
              <a:rPr b="0" i="0"/>
              <a:t>La molecola si replica: il </a:t>
            </a:r>
            <a:r>
              <a:rPr b="1" i="0"/>
              <a:t>cromosoma duplicato</a:t>
            </a:r>
            <a:r>
              <a:rPr b="0" i="0"/>
              <a:t> ha due </a:t>
            </a:r>
            <a:r>
              <a:rPr b="1" i="0"/>
              <a:t>cromatidi fratelli</a:t>
            </a:r>
            <a:r>
              <a:rPr b="0" i="0"/>
              <a:t> associati, ciascuno con una molecola di DNA.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92C85-1E20-4ED9-82D9-EBA0C30C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5093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Non è sempre una X</a:t>
            </a:r>
            <a:r>
              <a:t>. </a:t>
            </a:r>
            <a:r>
              <a:rPr b="0" i="0"/>
              <a:t>La X mostra un </a:t>
            </a:r>
            <a:r>
              <a:rPr b="1" i="0"/>
              <a:t>cromosoma duplicato</a:t>
            </a:r>
            <a:r>
              <a:rPr b="0" i="0"/>
              <a:t> e compatto. Il </a:t>
            </a:r>
            <a:r>
              <a:rPr b="1" i="0"/>
              <a:t>centromero</a:t>
            </a:r>
            <a:r>
              <a:rPr b="0" i="0"/>
              <a:t> è la regione su cui si organizza l’aggancio al fuso, il sistema di fibre che distribuisce i cromosomi. La </a:t>
            </a:r>
            <a:r>
              <a:rPr b="1" i="0"/>
              <a:t>cromatina</a:t>
            </a:r>
            <a:r>
              <a:rPr b="0" i="0"/>
              <a:t>, DNA con le sue proteine, in interfase è in gran parte meno compatta.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B1D71-3EA7-4A63-8B0F-06F1DB72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480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Dopo M</a:t>
            </a:r>
            <a:r>
              <a:t>. </a:t>
            </a:r>
            <a:r>
              <a:rPr b="1" i="0"/>
              <a:t>Cromatidi fratelli</a:t>
            </a:r>
            <a:r>
              <a:rPr b="0" i="0"/>
              <a:t> separati → due cromosomi, uno per ciascun nucleo figlio.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97e9f34ba455c"/>
          <a:stretch xmlns:a="http://schemas.openxmlformats.org/drawingml/2006/main"/>
        </p:blipFill>
        <p:spPr>
          <a:xfrm xmlns:a="http://schemas.openxmlformats.org/drawingml/2006/main">
            <a:off x="7296150" y="2717482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5224D-D57D-4A95-A0F5-6A564CA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0A05C-69A2-4042-A9A8-C1CA11C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2/95    |    2/128</a:t>
            </a:r>
          </a:p>
        </p:txBody>
      </p:sp>
    </p:spTree>
    <p:extLst>
      <p:ext uri="{BB962C8B-B14F-4D97-AF65-F5344CB8AC3E}">
        <p14:creationId xmlns:p14="http://schemas.microsoft.com/office/powerpoint/2010/main" val="1457931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58A15-5D3F-499D-B3FF-AEDDDD54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A2AC-308F-4BB2-9B61-2914EC01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095C5-E816-4B7F-B4E2-BBDBB54D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In quale ordine si prepara e si divide una cellula?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E6359-B67E-4D85-B31A-EB2F9D23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fasi si distinguono per lo </a:t>
            </a:r>
            <a:r>
              <a:rPr b="1" i="0"/>
              <a:t>stato della cellula</a:t>
            </a:r>
            <a:r>
              <a:rPr b="0" i="0"/>
              <a:t> e del DNA, non per una durata fissa.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81B58-510B-4145-A5AE-04E80118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G1 · prima della replicazione</a:t>
            </a:r>
            <a:r>
              <a:t>. </a:t>
            </a:r>
            <a:r>
              <a:rPr b="0" i="0"/>
              <a:t>Tra la </a:t>
            </a:r>
            <a:r>
              <a:rPr b="1" i="0"/>
              <a:t>mitosi</a:t>
            </a:r>
            <a:r>
              <a:rPr b="0" i="0"/>
              <a:t> precedente e S: crescita, segnali e preparazione. Il DNA non è ancora replicato.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4BE82-2262-449E-BCD8-A030870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 · sintesi del DNA</a:t>
            </a:r>
            <a:r>
              <a:t>. </a:t>
            </a:r>
            <a:r>
              <a:rPr b="0" i="0"/>
              <a:t>Il genoma </a:t>
            </a:r>
            <a:r>
              <a:rPr b="1" i="0"/>
              <a:t>viene replicato</a:t>
            </a:r>
            <a:r>
              <a:rPr b="0" i="0"/>
              <a:t>. Ogni cromosoma acquisisce due cromatidi fratelli.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E2450-11C6-4250-90F6-ADBB41E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G2 · dopo la replicazione</a:t>
            </a:r>
            <a:r>
              <a:t>. </a:t>
            </a:r>
            <a:r>
              <a:rPr b="0" i="0"/>
              <a:t>Tra S e M: le copie </a:t>
            </a:r>
            <a:r>
              <a:rPr b="1" i="0"/>
              <a:t>restano associate</a:t>
            </a:r>
            <a:r>
              <a:rPr b="0" i="0"/>
              <a:t> e la cellula si prepara alla segregazione. G1 + S + G2 = </a:t>
            </a:r>
            <a:r>
              <a:rPr b="1" i="0"/>
              <a:t>interfase</a:t>
            </a:r>
            <a:r>
              <a:rPr b="0" i="0"/>
              <a:t>, non inattività.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E4ABA-03D6-4B17-95C0-FEB07888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 · due processi coordinati</a:t>
            </a:r>
            <a:r>
              <a:t>. </a:t>
            </a:r>
            <a:r>
              <a:rPr b="0" i="0"/>
              <a:t>La </a:t>
            </a:r>
            <a:r>
              <a:rPr b="1" i="0"/>
              <a:t>mitosi</a:t>
            </a:r>
            <a:r>
              <a:rPr b="0" i="0"/>
              <a:t> distribuisce i cromosomi ai due nuclei; la </a:t>
            </a:r>
            <a:r>
              <a:rPr b="1" i="0"/>
              <a:t>citodieresi</a:t>
            </a:r>
            <a:r>
              <a:rPr b="0" i="0"/>
              <a:t> divide il citoplasma.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a5ad5a1674c7f"/>
          <a:stretch xmlns:a="http://schemas.openxmlformats.org/drawingml/2006/main"/>
        </p:blipFill>
        <p:spPr>
          <a:xfrm xmlns:a="http://schemas.openxmlformats.org/drawingml/2006/main">
            <a:off x="7296150" y="2398395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2D835-B602-46FA-8498-CB99428F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210D-FBE0-40C2-80CD-68B757C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3/95    |    3/128</a:t>
            </a:r>
          </a:p>
        </p:txBody>
      </p:sp>
    </p:spTree>
    <p:extLst>
      <p:ext uri="{BB962C8B-B14F-4D97-AF65-F5344CB8AC3E}">
        <p14:creationId xmlns:p14="http://schemas.microsoft.com/office/powerpoint/2010/main" val="952522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70267-992C-48E2-ACE3-EFE22EBE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AFC66-8D6A-4A9B-935C-499C66D8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495C3-EB44-4E40-9B42-108DC51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Una cellula deve sempre continuare a dividersi?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5CD64-9615-49D3-AC6F-5F12AEE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ciclo può arrestarsi se mancano le condizioni per proseguire. I </a:t>
            </a:r>
            <a:r>
              <a:rPr b="1" i="0"/>
              <a:t>checkpoint</a:t>
            </a:r>
            <a:r>
              <a:rPr b="0" i="0"/>
              <a:t> sono sistemi di controllo della progressione.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12940-A6F9-4545-BD0B-B9A978D6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Proseguire</a:t>
            </a:r>
            <a:r>
              <a:t>. </a:t>
            </a:r>
            <a:r>
              <a:rPr b="0" i="0"/>
              <a:t>Se le condizioni lo consentono, da </a:t>
            </a:r>
            <a:r>
              <a:rPr b="1" i="0"/>
              <a:t>G1</a:t>
            </a:r>
            <a:r>
              <a:rPr b="0" i="0"/>
              <a:t> si procede verso </a:t>
            </a:r>
            <a:r>
              <a:rPr b="1" i="0"/>
              <a:t>S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28C81-5A3E-4BD0-A832-992E4B69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Uscire in G0</a:t>
            </a:r>
            <a:r>
              <a:t>. </a:t>
            </a:r>
            <a:r>
              <a:rPr b="0" i="0"/>
              <a:t>La </a:t>
            </a:r>
            <a:r>
              <a:rPr b="1" i="0"/>
              <a:t>quiescenza</a:t>
            </a:r>
            <a:r>
              <a:rPr b="0" i="0"/>
              <a:t> è uno stato fuori dal ciclo proliferativo: la cellula attende segnali.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033D0-6E65-492A-88E4-BAA643CF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Rientrare</a:t>
            </a:r>
            <a:r>
              <a:t>. </a:t>
            </a:r>
            <a:r>
              <a:rPr b="0" i="0"/>
              <a:t>In molti casi la </a:t>
            </a:r>
            <a:r>
              <a:rPr b="1" i="0"/>
              <a:t>quiescenza</a:t>
            </a:r>
            <a:r>
              <a:rPr b="0" i="0"/>
              <a:t> è reversibile: segnali adeguati consentono di tornare in </a:t>
            </a:r>
            <a:r>
              <a:rPr b="1" i="0"/>
              <a:t>G1</a:t>
            </a:r>
            <a:r>
              <a:rPr b="0" i="0"/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CA6A-E136-45B2-BB2A-3DDF79F8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027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Non sono sinonimi</a:t>
            </a:r>
            <a:r>
              <a:t>. </a:t>
            </a:r>
            <a:r>
              <a:rPr b="1" i="0"/>
              <a:t>Differenziamento terminale</a:t>
            </a:r>
            <a:r>
              <a:rPr b="0" i="0"/>
              <a:t> e </a:t>
            </a:r>
            <a:r>
              <a:rPr b="1" i="0"/>
              <a:t>senescenza</a:t>
            </a:r>
            <a:r>
              <a:rPr b="0" i="0"/>
              <a:t> non sono G0. La maggior parte dei neuroni maturi non riprende normalmente la divisione.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71073-306E-41C2-83AE-0CE9955B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0219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Tre esempi</a:t>
            </a:r>
            <a:r>
              <a:t>. </a:t>
            </a:r>
            <a:r>
              <a:rPr b="0" i="0"/>
              <a:t>Un linfocita quiescente può </a:t>
            </a:r>
            <a:r>
              <a:rPr b="1" i="0"/>
              <a:t>rientrare nel ciclo</a:t>
            </a:r>
            <a:r>
              <a:rPr b="0" i="0"/>
              <a:t>; un neurone maturo è differenziato; un fibroblasto senescente rimane metabolicamente attivo.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b8082ad964208"/>
          <a:stretch xmlns:a="http://schemas.openxmlformats.org/drawingml/2006/main"/>
        </p:blipFill>
        <p:spPr>
          <a:xfrm xmlns:a="http://schemas.openxmlformats.org/drawingml/2006/main">
            <a:off x="7296150" y="2178368"/>
            <a:ext cx="4400550" cy="484060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70248-5494-4976-8DE0-09BF325D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979EE-8498-4F7D-B8FC-B9D6D063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4/95    |    4/128</a:t>
            </a:r>
          </a:p>
        </p:txBody>
      </p:sp>
    </p:spTree>
    <p:extLst>
      <p:ext uri="{BB962C8B-B14F-4D97-AF65-F5344CB8AC3E}">
        <p14:creationId xmlns:p14="http://schemas.microsoft.com/office/powerpoint/2010/main" val="507181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B0FCC-78ED-4C60-B1BE-15989A2F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8BE7-F7A1-4334-9309-6603675A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5B31A-0019-458D-9DC4-28FF666F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Copiare il DNA significa raddoppiare i corredi?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36940-352B-47FE-89C7-63292EDE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Caso: una cellula del corpo (somatica), con due </a:t>
            </a:r>
            <a:r>
              <a:rPr b="1" i="0"/>
              <a:t>corredi</a:t>
            </a:r>
            <a:r>
              <a:rPr b="0" i="0"/>
              <a:t> (diploide), che prolifera. C misura DNA; n indica i </a:t>
            </a:r>
            <a:r>
              <a:rPr b="1" i="0"/>
              <a:t>corredi cromosomici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2696C-E446-4A27-80E2-553ECE63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Prima l’unità: 1C</a:t>
            </a:r>
            <a:r>
              <a:t>. </a:t>
            </a:r>
            <a:r>
              <a:rPr b="0" i="0"/>
              <a:t>Nell’essere umano, un corredo è un insieme completo di </a:t>
            </a:r>
            <a:r>
              <a:rPr b="1" i="0"/>
              <a:t>23 cromosomi</a:t>
            </a:r>
            <a:r>
              <a:rPr b="0" i="0"/>
              <a:t>. 1C è la quantità di DNA contenuta in un corredo non replicato. </a:t>
            </a:r>
            <a:r>
              <a:rPr b="1" i="0"/>
              <a:t>C ≠ n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B466C-F789-4F28-8C96-E7C7C65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G1 · 2n / 2C</a:t>
            </a:r>
            <a:r>
              <a:t>. </a:t>
            </a:r>
            <a:r>
              <a:rPr b="0" i="0"/>
              <a:t>Due </a:t>
            </a:r>
            <a:r>
              <a:rPr b="1" i="0"/>
              <a:t>corredi cromosomici</a:t>
            </a:r>
            <a:r>
              <a:rPr b="0" i="0"/>
              <a:t>, DNA non ancora replicato.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49209-E350-4FD3-A2D3-DA710B3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613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 · 2n / da 2C a 4C</a:t>
            </a:r>
            <a:r>
              <a:t>. </a:t>
            </a:r>
            <a:r>
              <a:rPr b="0" i="0"/>
              <a:t>Aumenta il DNA, non il numero di corredi: </a:t>
            </a:r>
            <a:r>
              <a:rPr b="1" i="0"/>
              <a:t>si duplica</a:t>
            </a:r>
            <a:r>
              <a:rPr b="0" i="0"/>
              <a:t> ogni cromosoma.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8F7E6-864F-44F1-ACD3-EDAC7B7D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G2 e inizio M · 2n / 4C</a:t>
            </a:r>
            <a:r>
              <a:t>. </a:t>
            </a:r>
            <a:r>
              <a:rPr b="0" i="0"/>
              <a:t>Replicazione completata: ogni cromosoma ha </a:t>
            </a:r>
            <a:r>
              <a:rPr b="1" i="0"/>
              <a:t>due cromatidi fratelli</a:t>
            </a:r>
            <a:r>
              <a:rPr b="0" i="0"/>
              <a:t>. 4C non significa necessariamente mitosi.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66673-69B3-4247-A6DA-B162BD1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8109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Dopo la citodieresi</a:t>
            </a:r>
            <a:r>
              <a:t>. </a:t>
            </a:r>
            <a:r>
              <a:rPr b="0" i="0"/>
              <a:t>Ogni figlia: </a:t>
            </a:r>
            <a:r>
              <a:rPr b="1" i="0"/>
              <a:t>2n / 2C</a:t>
            </a:r>
            <a:r>
              <a:rPr b="0" i="0"/>
              <a:t>. Il valore si riferisce a ciascuna cellula, non alla somma delle due.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4cb4161b14e71"/>
          <a:stretch xmlns:a="http://schemas.openxmlformats.org/drawingml/2006/main"/>
        </p:blipFill>
        <p:spPr>
          <a:xfrm xmlns:a="http://schemas.openxmlformats.org/drawingml/2006/main">
            <a:off x="7296150" y="2398395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65643-E698-407E-B79B-C711E99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D6B17-27D6-47F7-A130-B3CBFB7F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5/95    |    5/128</a:t>
            </a:r>
          </a:p>
        </p:txBody>
      </p:sp>
    </p:spTree>
    <p:extLst>
      <p:ext uri="{BB962C8B-B14F-4D97-AF65-F5344CB8AC3E}">
        <p14:creationId xmlns:p14="http://schemas.microsoft.com/office/powerpoint/2010/main" val="701436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2A5AA-5B95-432A-AF5E-84F266D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004AF-6FCE-4FE2-A8B3-AC795A27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713ED-1D43-4F6A-970A-EA37F9DA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Tutte le cellule impiegano lo stesso tempo a dividersi?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38A16-E15E-44F6-B778-FD6D5D5F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Il contesto viene prima del numero</a:t>
            </a:r>
            <a:r>
              <a:t>. </a:t>
            </a:r>
            <a:r>
              <a:rPr b="0" i="0"/>
              <a:t>La durata dipende da </a:t>
            </a:r>
            <a:r>
              <a:rPr b="1" i="0"/>
              <a:t>tipo cellulare</a:t>
            </a:r>
            <a:r>
              <a:rPr b="0" i="0"/>
              <a:t>, </a:t>
            </a:r>
            <a:r>
              <a:rPr b="1" i="0"/>
              <a:t>condizioni</a:t>
            </a:r>
            <a:r>
              <a:rPr b="0" i="0"/>
              <a:t> e fase. I valori riportati non sono costanti universali.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C13BD-98CE-41DF-9D0A-2EE475D7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G1 · tipicamente 8–10 ore</a:t>
            </a:r>
            <a:r>
              <a:t>. </a:t>
            </a:r>
            <a:r>
              <a:rPr b="0" i="0"/>
              <a:t>È </a:t>
            </a:r>
            <a:r>
              <a:rPr b="1" i="0"/>
              <a:t>molto variabile</a:t>
            </a:r>
            <a:r>
              <a:rPr b="0" i="0"/>
              <a:t>: può durare minuti, poche ore o molto a lungo. In G1 si decide se e quando proseguire.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0DCDA-87E1-47F3-8136-5F4CB71D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G2 · circa 4–6 ore</a:t>
            </a:r>
            <a:r>
              <a:t>. </a:t>
            </a:r>
            <a:r>
              <a:rPr b="0" i="0"/>
              <a:t>Generalmente </a:t>
            </a:r>
            <a:r>
              <a:rPr b="1" i="0"/>
              <a:t>più breve</a:t>
            </a:r>
            <a:r>
              <a:rPr b="0" i="0"/>
              <a:t> di G1.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AA211-9F87-46EA-B55C-2C5AF2D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 e M · durate indicative</a:t>
            </a:r>
            <a:r>
              <a:t>. </a:t>
            </a:r>
            <a:r>
              <a:rPr b="0" i="0"/>
              <a:t>S: circa </a:t>
            </a:r>
            <a:r>
              <a:rPr b="1" i="0"/>
              <a:t>6–8 ore</a:t>
            </a:r>
            <a:r>
              <a:rPr b="0" i="0"/>
              <a:t> per replicare il DNA. M: circa </a:t>
            </a:r>
            <a:r>
              <a:rPr b="1" i="0"/>
              <a:t>1 ora</a:t>
            </a:r>
            <a:r>
              <a:rPr b="0" i="0"/>
              <a:t> per separare i cromosomi e dividere la cellula.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9BFA0-5833-4AAB-9F00-DDCEBF0B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Eccezione: embrioni precoci</a:t>
            </a:r>
            <a:r>
              <a:t>. </a:t>
            </a:r>
            <a:r>
              <a:rPr b="0" i="0"/>
              <a:t>In molti vertebrati: rapida alternanza S/M, G1/G2 ridotte o assenti, </a:t>
            </a:r>
            <a:r>
              <a:rPr b="1" i="0"/>
              <a:t>nessuna crescita</a:t>
            </a:r>
            <a:r>
              <a:rPr b="0" i="0"/>
              <a:t> fra divisioni; figlie sempre più piccole.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b1a67179248de"/>
          <a:stretch xmlns:a="http://schemas.openxmlformats.org/drawingml/2006/main"/>
        </p:blipFill>
        <p:spPr>
          <a:xfrm xmlns:a="http://schemas.openxmlformats.org/drawingml/2006/main">
            <a:off x="7296150" y="2398395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ECA5E-FEAE-4EDA-8512-F62AB4E6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2EF31-E14A-4292-BC13-1421F38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6/95    |    6/128</a:t>
            </a:r>
          </a:p>
        </p:txBody>
      </p:sp>
    </p:spTree>
    <p:extLst>
      <p:ext uri="{BB962C8B-B14F-4D97-AF65-F5344CB8AC3E}">
        <p14:creationId xmlns:p14="http://schemas.microsoft.com/office/powerpoint/2010/main" val="744464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21F29-35D7-4E7E-897F-E2B8996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B7D0C-B9FC-45D3-8467-B837304A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E7563-CEA0-4200-BB47-A2B488AC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Che cosa rivela sul ciclo la quantità di DNA?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FBEC8-4C00-4A04-81A6-29AB2F7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citometria misura </a:t>
            </a:r>
            <a:r>
              <a:rPr b="1" i="0"/>
              <a:t>fluorescenza</a:t>
            </a:r>
            <a:r>
              <a:rPr b="0" i="0"/>
              <a:t>: non legge direttamente il nome della fase.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56B44-529A-4EA0-B7B5-23F412D5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misura</a:t>
            </a:r>
            <a:r>
              <a:t>. </a:t>
            </a:r>
            <a:r>
              <a:rPr b="0" i="0"/>
              <a:t>Colorante DNA-specifico; </a:t>
            </a:r>
            <a:r>
              <a:rPr b="1" i="0"/>
              <a:t>fluorescenza</a:t>
            </a:r>
            <a:r>
              <a:rPr b="0" i="0"/>
              <a:t> proporzionale al DNA. Asse x: DNA per cellula. Asse y: numero di cellule.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04238-1A22-4755-B256-7CCFE084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Picco 2C</a:t>
            </a:r>
            <a:r>
              <a:t>. </a:t>
            </a:r>
            <a:r>
              <a:rPr b="0" i="0"/>
              <a:t>Compatibile con G0 o G1: il DNA da solo </a:t>
            </a:r>
            <a:r>
              <a:rPr b="1" i="0"/>
              <a:t>non distingue</a:t>
            </a:r>
            <a:r>
              <a:rPr b="0" i="0"/>
              <a:t> i due stati.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8FA43-3C78-4527-94D4-F341504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Tra 2C e 4C</a:t>
            </a:r>
            <a:r>
              <a:t>. </a:t>
            </a:r>
            <a:r>
              <a:rPr b="0" i="0"/>
              <a:t>Cellule in </a:t>
            </a:r>
            <a:r>
              <a:rPr b="1" i="0"/>
              <a:t>fase S</a:t>
            </a:r>
            <a:r>
              <a:rPr b="0" i="0"/>
              <a:t>: stanno replicando il DNA.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3FC97-0758-478D-8F38-B7F7BE2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38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Picco 4C</a:t>
            </a:r>
            <a:r>
              <a:t>. </a:t>
            </a:r>
            <a:r>
              <a:rPr b="0" i="0"/>
              <a:t>Compatibile con G2 o M: il DNA da solo </a:t>
            </a:r>
            <a:r>
              <a:rPr b="1" i="0"/>
              <a:t>non distingue</a:t>
            </a:r>
            <a:r>
              <a:rPr b="0" i="0"/>
              <a:t> i due stati. C ≠ 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1CB4-08F7-484D-8A6A-44E44C2B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4441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Una seconda misura</a:t>
            </a:r>
            <a:r>
              <a:t>. </a:t>
            </a:r>
            <a:r>
              <a:rPr b="0" i="0"/>
              <a:t>A pari DNA 4C, un </a:t>
            </a:r>
            <a:r>
              <a:rPr b="1" i="0"/>
              <a:t>marcatore mitotico</a:t>
            </a:r>
            <a:r>
              <a:rPr b="0" i="0"/>
              <a:t> fluorescente distingue M da G2. Nel secondo grafico y misura il marcatore, non le cellule.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09cfd82964087"/>
          <a:stretch xmlns:a="http://schemas.openxmlformats.org/drawingml/2006/main"/>
        </p:blipFill>
        <p:spPr>
          <a:xfrm xmlns:a="http://schemas.openxmlformats.org/drawingml/2006/main">
            <a:off x="7296150" y="2398395"/>
            <a:ext cx="4400550" cy="4400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2A5DF-716E-4F6A-9883-9EFEB75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DNA e fasi del ciclo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0FD11-D9BC-43EC-B710-FCB6AE75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7/95    |    7/128</a:t>
            </a:r>
          </a:p>
        </p:txBody>
      </p:sp>
    </p:spTree>
    <p:extLst>
      <p:ext uri="{BB962C8B-B14F-4D97-AF65-F5344CB8AC3E}">
        <p14:creationId xmlns:p14="http://schemas.microsoft.com/office/powerpoint/2010/main" val="977431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1E0EE-72B8-40C2-B1C3-23B5C222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B93FA-262D-4A0B-9423-84B75EC1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B82D-D2B4-485E-8D5F-7FDFBF94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avvia una nuova fase del ciclo?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4D335-E148-43E1-953C-E1E9CB8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fasi devono essere avviate al momento giusto: occorre modificare attività di </a:t>
            </a:r>
            <a:r>
              <a:rPr b="1" i="0"/>
              <a:t>proteine</a:t>
            </a:r>
            <a:r>
              <a:rPr b="0" i="0"/>
              <a:t> già presenti.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0150C-5AF9-4421-930F-26BEF362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</a:t>
            </a:r>
            <a:r>
              <a:rPr b="1" i="0"/>
              <a:t>ciclina</a:t>
            </a:r>
            <a:r>
              <a:rPr b="0" i="0"/>
              <a:t> attiva la chinasi; la chinasi </a:t>
            </a:r>
            <a:r>
              <a:rPr b="1" i="0"/>
              <a:t>trasferisce</a:t>
            </a:r>
            <a:r>
              <a:rPr b="0" i="0"/>
              <a:t> un fosfato al bersaglio.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6B64B-59C2-4BBC-B101-C1CFC89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ciclina</a:t>
            </a:r>
            <a:r>
              <a:rPr b="0" i="0"/>
              <a:t> </a:t>
            </a:r>
            <a:r>
              <a:rPr b="1" i="0"/>
              <a:t>si lega</a:t>
            </a:r>
            <a:r>
              <a:rPr b="0" i="0"/>
              <a:t> alla CDK, una chinasi dipendente da ciclina: un enzima che </a:t>
            </a:r>
            <a:r>
              <a:rPr b="1" i="0"/>
              <a:t>trasferisce</a:t>
            </a:r>
            <a:r>
              <a:rPr b="0" i="0"/>
              <a:t> fosfati. Il legame permette al complesso di acquisire attività; senza ciclina questa CDK è inattiva.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D6E13-AE68-4B13-94D8-AD0DA59B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613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CDK</a:t>
            </a:r>
            <a:r>
              <a:rPr b="0" i="0"/>
              <a:t> </a:t>
            </a:r>
            <a:r>
              <a:rPr b="1" i="0"/>
              <a:t>trasferisce</a:t>
            </a:r>
            <a:r>
              <a:rPr b="0" i="0"/>
              <a:t> un gruppo fosfato da ATP, una molecola che fornisce energia e il gruppo trasferito, alla </a:t>
            </a:r>
            <a:r>
              <a:rPr b="1" i="0"/>
              <a:t>proteina bersaglio</a:t>
            </a:r>
            <a:r>
              <a:rPr b="0" i="0"/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D44E3-EE40-46FF-9E43-1F8F5881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fosfato </a:t>
            </a:r>
            <a:r>
              <a:rPr b="1" i="0"/>
              <a:t>cambia il comportamento</a:t>
            </a:r>
            <a:r>
              <a:rPr b="0" i="0"/>
              <a:t> del bersaglio: il suo effetto dipende dalla proteina e dal sito.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c34d5f1674d48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FCEEF-407C-48E7-A55F-40311948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F19A5-32C6-47E0-B0AE-2FA5862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8/95    |    8/128</a:t>
            </a:r>
          </a:p>
        </p:txBody>
      </p:sp>
    </p:spTree>
    <p:extLst>
      <p:ext uri="{BB962C8B-B14F-4D97-AF65-F5344CB8AC3E}">
        <p14:creationId xmlns:p14="http://schemas.microsoft.com/office/powerpoint/2010/main" val="603486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56322-5B5C-4FD3-A2CA-9DD5F4FC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2E7C2-CED1-4B25-91BF-A69EF23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BAB16-EB7E-4E6C-BFB9-18FFA0EC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coppie ciclina–CDK agiscono nelle diverse fasi?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85A58-D5C9-4678-9133-3863FE9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Finestre indicative e </a:t>
            </a:r>
            <a:r>
              <a:rPr b="1" i="0"/>
              <a:t>sovrapposte</a:t>
            </a:r>
            <a:r>
              <a:rPr b="0" i="0"/>
              <a:t> di attività delle </a:t>
            </a:r>
            <a:r>
              <a:rPr b="1" i="0"/>
              <a:t>cicline</a:t>
            </a:r>
            <a:r>
              <a:rPr b="0" i="0"/>
              <a:t>; non sono quattro impulsi equivalenti.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AEEB8-D974-4B65-A3A6-9CE947E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G1 e G1/S</a:t>
            </a:r>
            <a:r>
              <a:t>. </a:t>
            </a:r>
            <a:r>
              <a:rPr b="1" i="0"/>
              <a:t>Cicline</a:t>
            </a:r>
            <a:r>
              <a:rPr b="0" i="0"/>
              <a:t> D1, D2 e D3 con </a:t>
            </a:r>
            <a:r>
              <a:rPr b="1" i="0"/>
              <a:t>CDK4/6</a:t>
            </a:r>
            <a:r>
              <a:rPr b="0" i="0"/>
              <a:t> rispondono ai segnali extracellulari di crescita e inibizione. Ciclina </a:t>
            </a:r>
            <a:r>
              <a:rPr b="1" i="0"/>
              <a:t>E–CDK2</a:t>
            </a:r>
            <a:r>
              <a:rPr b="0" i="0"/>
              <a:t> aumenta in G1 tardiva, raggiunge il picco alla transizione G1/S e diminuisce durante 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54C41-8906-4F31-81F3-EAF2F68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 e M</a:t>
            </a:r>
            <a:r>
              <a:t>. </a:t>
            </a:r>
            <a:r>
              <a:rPr b="0" i="0"/>
              <a:t>Ciclina </a:t>
            </a:r>
            <a:r>
              <a:rPr b="1" i="0"/>
              <a:t>A–CDK2</a:t>
            </a:r>
            <a:r>
              <a:rPr b="0" i="0"/>
              <a:t> sostiene la replicazione: è un’attività S-CDK, della fase S. A–CDK1 e </a:t>
            </a:r>
            <a:r>
              <a:rPr b="1" i="0"/>
              <a:t>B–CDK1</a:t>
            </a:r>
            <a:r>
              <a:rPr b="0" i="0"/>
              <a:t> contribuiscono alla mitosi e alle attività </a:t>
            </a:r>
            <a:r>
              <a:rPr b="1" i="0"/>
              <a:t>M-CDK</a:t>
            </a:r>
            <a:r>
              <a:rPr b="0" i="0"/>
              <a:t>. La ciclina A rimane elevata da S agli eventi mitotici precoci.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E018B-123B-460D-A80D-F8D655A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5391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Quantità ≠ attività</a:t>
            </a:r>
            <a:r>
              <a:t>. </a:t>
            </a:r>
            <a:r>
              <a:rPr b="0" i="0"/>
              <a:t>I complessi ciclina–CDK mitotici si accumulano in S/G2 ma sono </a:t>
            </a:r>
            <a:r>
              <a:rPr b="1" i="0"/>
              <a:t>trattenuti inattivi</a:t>
            </a:r>
            <a:r>
              <a:rPr b="0" i="0"/>
              <a:t> fino al momento appropriato: quantità e attività non coincidono.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7ff4e575047b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45E54-11AA-4800-B7D9-827B2FB5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E0D57-420B-44D2-9E34-ADB25451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9/95    |    9/128</a:t>
            </a:r>
          </a:p>
        </p:txBody>
      </p:sp>
    </p:spTree>
    <p:extLst>
      <p:ext uri="{BB962C8B-B14F-4D97-AF65-F5344CB8AC3E}">
        <p14:creationId xmlns:p14="http://schemas.microsoft.com/office/powerpoint/2010/main" val="1744300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3545-95B7-4A0E-823E-531D1BCF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E0249-3129-4D3F-ACA4-AB9AA5D1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0436F-D699-4FCF-B63B-D198A3D4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attiva o si frena una CDK?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14617-5FDC-482B-B849-98B78DDE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fosforilazione</a:t>
            </a:r>
            <a:r>
              <a:rPr b="0" i="0"/>
              <a:t> può avere effetti opposti.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9BC3B-CAFA-4123-993A-5889F9CB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legame della ciclina attiva parzialmente la CDK. </a:t>
            </a:r>
            <a:r>
              <a:rPr b="1" i="0"/>
              <a:t>CAK</a:t>
            </a:r>
            <a:r>
              <a:rPr b="0" i="0"/>
              <a:t>, CDK-Activating Kinase, aggiunge il </a:t>
            </a:r>
            <a:r>
              <a:rPr b="1" i="0"/>
              <a:t>fosfato attivatorio</a:t>
            </a:r>
            <a:r>
              <a:rPr b="0" i="0"/>
              <a:t> necessario alla piena attività.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45101-7D63-4E7E-B304-EFCD16D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Wee1</a:t>
            </a:r>
            <a:r>
              <a:rPr b="0" i="0"/>
              <a:t> è una chinasi che aggiunge un fosfato inibitorio; </a:t>
            </a:r>
            <a:r>
              <a:rPr b="1" i="0"/>
              <a:t>Cdc25</a:t>
            </a:r>
            <a:r>
              <a:rPr b="0" i="0"/>
              <a:t> è la fosfatasi che </a:t>
            </a:r>
            <a:r>
              <a:rPr b="1" i="0"/>
              <a:t>lo rimuove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BD7C2-86FF-4FDE-A3E1-8F1262F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</a:t>
            </a:r>
            <a:r>
              <a:rPr b="1" i="0"/>
              <a:t>CKI</a:t>
            </a:r>
            <a:r>
              <a:rPr b="0" i="0"/>
              <a:t>, proteine inibitrici delle CDK, bloccano i complessi tramite </a:t>
            </a:r>
            <a:r>
              <a:rPr b="1" i="0"/>
              <a:t>legame proteico</a:t>
            </a:r>
            <a:r>
              <a:rPr b="0" i="0"/>
              <a:t>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0ce16f8324f5d"/>
          <a:stretch xmlns:a="http://schemas.openxmlformats.org/drawingml/2006/main"/>
        </p:blipFill>
        <p:spPr>
          <a:xfrm xmlns:a="http://schemas.openxmlformats.org/drawingml/2006/main">
            <a:off x="7296150" y="3058478"/>
            <a:ext cx="4400550" cy="308038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E0407-4D67-4818-8E5E-E9F41D24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77645-6774-419F-8817-E192751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10/95    |    10/128</a:t>
            </a:r>
          </a:p>
        </p:txBody>
      </p:sp>
    </p:spTree>
    <p:extLst>
      <p:ext uri="{BB962C8B-B14F-4D97-AF65-F5344CB8AC3E}">
        <p14:creationId xmlns:p14="http://schemas.microsoft.com/office/powerpoint/2010/main" val="1591701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1B53D-A14B-495D-8FCF-1144998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B0C32-962F-46B6-BB3C-1DEBF900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05C61-C110-4EAD-B7D9-753D9757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 fosfato attivare oppure inibire una CDK?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E261-BAA5-4C09-9636-1834B6E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Fosfati diversi su CDK1 hanno effetti diversi.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0039B-C6F2-4313-ADF7-5F992691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 siti inibitori di CDK1</a:t>
            </a:r>
            <a:r>
              <a:t>. </a:t>
            </a:r>
            <a:r>
              <a:rPr b="0" i="0"/>
              <a:t>WEE1 agisce sulla tirosina 15, </a:t>
            </a:r>
            <a:r>
              <a:rPr b="1" i="0"/>
              <a:t>Tyr15</a:t>
            </a:r>
            <a:r>
              <a:rPr b="0" i="0"/>
              <a:t>. PKMYT1 contribuisce sulla treonina 14, </a:t>
            </a:r>
            <a:r>
              <a:rPr b="1" i="0"/>
              <a:t>Thr14</a:t>
            </a:r>
            <a:r>
              <a:rPr b="0" i="0"/>
              <a:t>, e può agire anche su Tyr15. CDC25 rimuove questi fosfati; sono </a:t>
            </a:r>
            <a:r>
              <a:rPr b="1" i="0"/>
              <a:t>siti distinti</a:t>
            </a:r>
            <a:r>
              <a:rPr b="0" i="0"/>
              <a:t> da quello attivatorio di CAK.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0F388-2A2F-4573-8E53-36C9D5B0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Le CDC25 umane</a:t>
            </a:r>
            <a:r>
              <a:t>. </a:t>
            </a:r>
            <a:r>
              <a:rPr b="0" i="0"/>
              <a:t>CDC25A contribuisce soprattutto a G1/S e S; CDC25B e CDC25C partecipano al controllo G2/M. Le loro funzioni </a:t>
            </a:r>
            <a:r>
              <a:rPr b="1" i="0"/>
              <a:t>si sovrappongono</a:t>
            </a:r>
            <a:r>
              <a:rPr b="0" i="0"/>
              <a:t> e dipendono dal tipo cellulare: non sono tre interruttori esclusivi per tre fasi.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46167-9FA1-4A83-B0FB-1E5637A6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5023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Feedback positivo di M-CDK</a:t>
            </a:r>
            <a:r>
              <a:t>. </a:t>
            </a:r>
            <a:r>
              <a:rPr b="0" i="0"/>
              <a:t>Una quota di </a:t>
            </a:r>
            <a:r>
              <a:rPr b="1" i="0"/>
              <a:t>M-CDK attiva</a:t>
            </a:r>
            <a:r>
              <a:rPr b="0" i="0"/>
              <a:t> favorisce </a:t>
            </a:r>
            <a:r>
              <a:rPr b="1" i="0"/>
              <a:t>Cdc25</a:t>
            </a:r>
            <a:r>
              <a:rPr b="0" i="0"/>
              <a:t> e ostacola Wee1: Cdc25 rimuove altri </a:t>
            </a:r>
            <a:r>
              <a:rPr b="1" i="0"/>
              <a:t>fosfati inibitori</a:t>
            </a:r>
            <a:r>
              <a:rPr b="0" i="0"/>
              <a:t> da CDK1 e la minore attività di Wee1 ne limita la riaggiunta. Così aumenta rapidamente la quota di M-CDK attiva.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ebdef4cd4bff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161C7-EF29-428F-8FFE-B4EBB83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944A6-1F20-4B32-AD21-16DB8FF4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11/95    |    11/128</a:t>
            </a:r>
          </a:p>
        </p:txBody>
      </p:sp>
    </p:spTree>
    <p:extLst>
      <p:ext uri="{BB962C8B-B14F-4D97-AF65-F5344CB8AC3E}">
        <p14:creationId xmlns:p14="http://schemas.microsoft.com/office/powerpoint/2010/main" val="1730103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AF979-EDDC-4279-8BFB-677BC02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1D1FF-8778-45B1-A1A7-4FB8A0FA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C1B19-9CA7-458D-A264-556ACF8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una proteina bloccare una CDK?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76B4F-CA21-4614-935E-2C16F4C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cellula può </a:t>
            </a:r>
            <a:r>
              <a:rPr b="1" i="0"/>
              <a:t>fermare un complesso</a:t>
            </a:r>
            <a:r>
              <a:rPr b="0" i="0"/>
              <a:t> anche senza togliere o aggiungere fosfati.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400A1-F212-4292-84B6-F5C2D3B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CKI è una </a:t>
            </a:r>
            <a:r>
              <a:rPr b="1" i="0"/>
              <a:t>proteina inibitrice</a:t>
            </a:r>
            <a:r>
              <a:rPr b="0" i="0"/>
              <a:t> delle CDK: lega il complesso e ne limita l’attività.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474F8-C9B1-4A2F-B783-452CD660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CKI della famiglia </a:t>
            </a:r>
            <a:r>
              <a:rPr b="1" i="0"/>
              <a:t>INK4</a:t>
            </a:r>
            <a:r>
              <a:rPr b="0" i="0"/>
              <a:t>, fra cui p16, si legano a </a:t>
            </a:r>
            <a:r>
              <a:rPr b="1" i="0"/>
              <a:t>CDK4/6</a:t>
            </a:r>
            <a:r>
              <a:rPr b="0" i="0"/>
              <a:t> e ostacolano il complesso con ciclina 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82BBB-DE2C-41C9-AF39-D65EE4D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CKI p21, p27 e p57 appartengono alla famiglia </a:t>
            </a:r>
            <a:r>
              <a:rPr b="1" i="0"/>
              <a:t>Cip/Kip</a:t>
            </a:r>
            <a:r>
              <a:rPr b="0" i="0"/>
              <a:t>: legano i complessi ciclina–CDK e ne frenano l’attività tramite </a:t>
            </a:r>
            <a:r>
              <a:rPr b="1" i="0"/>
              <a:t>interazione proteica</a:t>
            </a:r>
            <a:r>
              <a:rPr b="0" i="0"/>
              <a:t>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524b00e4427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CBEF1-64F8-4FBE-8AB8-111E0FC4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F38D6-5171-4DBE-BA53-44DB5A6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12/95    |    12/128</a:t>
            </a:r>
          </a:p>
        </p:txBody>
      </p:sp>
    </p:spTree>
    <p:extLst>
      <p:ext uri="{BB962C8B-B14F-4D97-AF65-F5344CB8AC3E}">
        <p14:creationId xmlns:p14="http://schemas.microsoft.com/office/powerpoint/2010/main" val="1566527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EE901-7D81-49E3-82EE-317A1EE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9ABB-BEE6-4960-82BC-2440260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0D431-7F7A-4291-9256-74E0D9E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attivano i geni necessari a copiare il DNA?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0E32A-102C-46A5-8556-A468184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Oltre il </a:t>
            </a:r>
            <a:r>
              <a:rPr b="1" i="0"/>
              <a:t>punto di restrizione</a:t>
            </a:r>
            <a:r>
              <a:rPr b="0" i="0"/>
              <a:t>, l’ingresso in S dipende meno dai </a:t>
            </a:r>
            <a:r>
              <a:rPr b="1" i="0"/>
              <a:t>mitogeni</a:t>
            </a:r>
            <a:r>
              <a:rPr b="0" i="0"/>
              <a:t>, i segnali che stimolano la proliferazione.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E3879-6F9C-4973-9DBC-9AC61BEC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Rb</a:t>
            </a:r>
            <a:r>
              <a:rPr b="0" i="0"/>
              <a:t> frena </a:t>
            </a:r>
            <a:r>
              <a:rPr b="1" i="0"/>
              <a:t>E2F</a:t>
            </a:r>
            <a:r>
              <a:rPr b="0" i="0"/>
              <a:t>, fattore che attiva i geni per S: poco fosforilata lo lega, senza inibire direttamente le CDK.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D54B0-2063-463A-BAFF-B79F31B6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</a:t>
            </a:r>
            <a:r>
              <a:rPr b="1" i="0"/>
              <a:t>mitogeni</a:t>
            </a:r>
            <a:r>
              <a:rPr b="0" i="0"/>
              <a:t> aumentano ciclina D tramite MAPK, cascata di chinasi dalla membrana al nucleo. Se INK4 non prevale, D–CDK4/6 </a:t>
            </a:r>
            <a:r>
              <a:rPr b="1" i="0"/>
              <a:t>fosforila</a:t>
            </a:r>
            <a:r>
              <a:rPr b="0" i="0"/>
              <a:t> Rb, liberando </a:t>
            </a:r>
            <a:r>
              <a:rPr b="1" i="0"/>
              <a:t>E2F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588A9-99AF-4C51-8356-16FCB33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E2F</a:t>
            </a:r>
            <a:r>
              <a:rPr b="0" i="0"/>
              <a:t> induce geni di replicazione, CDK2, cicline E/A e i propri geni. E–CDK2 e le attività successive fosforilano ancora </a:t>
            </a:r>
            <a:r>
              <a:rPr b="1" i="0"/>
              <a:t>Rb</a:t>
            </a:r>
            <a:r>
              <a:rPr b="0" i="0"/>
              <a:t>, </a:t>
            </a:r>
            <a:r>
              <a:rPr b="1" i="0"/>
              <a:t>liberando</a:t>
            </a:r>
            <a:r>
              <a:rPr b="0" i="0"/>
              <a:t> altro E2F.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E04E0-00B8-4DCA-9B05-E4553F86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Feedback positivo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35ffe1e6a47ca"/>
          <a:stretch xmlns:a="http://schemas.openxmlformats.org/drawingml/2006/main"/>
        </p:blipFill>
        <p:spPr>
          <a:xfrm xmlns:a="http://schemas.openxmlformats.org/drawingml/2006/main">
            <a:off x="7296150" y="2545538"/>
            <a:ext cx="4400550" cy="410626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95DF9-1673-4C6F-BC1D-38FBD4E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D4B6A-C09F-46CD-8E47-4C7E545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13/95    |    13/128</a:t>
            </a:r>
          </a:p>
        </p:txBody>
      </p:sp>
    </p:spTree>
    <p:extLst>
      <p:ext uri="{BB962C8B-B14F-4D97-AF65-F5344CB8AC3E}">
        <p14:creationId xmlns:p14="http://schemas.microsoft.com/office/powerpoint/2010/main" val="264203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5E4C8-F1AD-436B-B0F4-D1582DC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5EB1A-721D-41E0-9C9B-2F5EDBA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F3332-5B12-4AA1-9CCB-7C251FA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torna Rb a frenare il ciclo dopo la mitosi?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0190-C77A-41D1-9C59-F7BCCFCB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A fine mitosi Rb </a:t>
            </a:r>
            <a:r>
              <a:rPr b="1" i="0"/>
              <a:t>perde fosfati</a:t>
            </a:r>
            <a:r>
              <a:rPr b="0" i="0"/>
              <a:t> e torna a legare E2F.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77EF8-5A34-4C39-B10A-E10196A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Reset di Rb</a:t>
            </a:r>
            <a:r>
              <a:t>. </a:t>
            </a:r>
            <a:r>
              <a:rPr b="0" i="0"/>
              <a:t>Durante S, G2 e M precoce Rb resta fosforilata. Dopo l’anafase il </a:t>
            </a:r>
            <a:r>
              <a:rPr b="1" i="0"/>
              <a:t>calo delle attività CDK</a:t>
            </a:r>
            <a:r>
              <a:rPr b="0" i="0"/>
              <a:t> permette la sua </a:t>
            </a:r>
            <a:r>
              <a:rPr b="1" i="0"/>
              <a:t>defosforilazione</a:t>
            </a:r>
            <a:r>
              <a:rPr b="0" i="0"/>
              <a:t>: in G1 precoce o G0 Rb torna a </a:t>
            </a:r>
            <a:r>
              <a:rPr b="1" i="0"/>
              <a:t>frenare E2F</a:t>
            </a:r>
            <a:r>
              <a:rPr b="0" i="0"/>
              <a:t>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5972ffc5a4a0e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6558B-23BB-4826-9249-34FC772B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01F0A-A6E1-4A63-B476-1F676DA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14/95    |    14/128</a:t>
            </a:r>
          </a:p>
        </p:txBody>
      </p:sp>
    </p:spTree>
    <p:extLst>
      <p:ext uri="{BB962C8B-B14F-4D97-AF65-F5344CB8AC3E}">
        <p14:creationId xmlns:p14="http://schemas.microsoft.com/office/powerpoint/2010/main" val="7096803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A61D8-9834-4637-AD30-7C91E1EF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4C7A6-6C3B-48E7-BA4E-A8D4C2F9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DEEC-EB90-4915-BEFD-627C3DC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mantengono i fosfati necessari alla mitosi?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AEC7-2FE6-4ADB-9496-7197028F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Ingresso in </a:t>
            </a:r>
            <a:r>
              <a:rPr b="1" i="0"/>
              <a:t>mitosi</a:t>
            </a:r>
            <a:r>
              <a:rPr b="0" i="0"/>
              <a:t>: bisogna anche impedirne la </a:t>
            </a:r>
            <a:r>
              <a:rPr b="1" i="0"/>
              <a:t>rimozione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7ABCB-B64D-4908-A9AB-1A73B932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PP2A-B55: chi li toglie</a:t>
            </a:r>
            <a:r>
              <a:t>. </a:t>
            </a:r>
            <a:r>
              <a:rPr b="1" i="0"/>
              <a:t>PP2A-B55</a:t>
            </a:r>
            <a:r>
              <a:rPr b="0" i="0"/>
              <a:t> è una </a:t>
            </a:r>
            <a:r>
              <a:rPr b="1" i="0"/>
              <a:t>fosfatasi</a:t>
            </a:r>
            <a:r>
              <a:rPr b="0" i="0"/>
              <a:t> composta da più subunità: B55 aiuta a selezionare i bersagli. Rimuove molti fosfati dalle proteine mitotiche, contrastando M-CDK.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2EF7E-3F31-4932-B227-D01B1EF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Greatwall: chi protegge</a:t>
            </a:r>
            <a:r>
              <a:t>. </a:t>
            </a:r>
            <a:r>
              <a:rPr b="1" i="0"/>
              <a:t>Greatwall</a:t>
            </a:r>
            <a:r>
              <a:rPr b="0" i="0"/>
              <a:t>, detta MASTL nell’uomo, è una chinasi attivata da M-CDK. Fosforila ENSA, endosulfina alfa: ENSA-P lega e inibisce </a:t>
            </a:r>
            <a:r>
              <a:rPr b="1" i="0"/>
              <a:t>PP2A-B55</a:t>
            </a:r>
            <a:r>
              <a:rPr b="0" i="0"/>
              <a:t>, </a:t>
            </a:r>
            <a:r>
              <a:rPr b="1" i="0"/>
              <a:t>conservando i fosfati</a:t>
            </a:r>
            <a:r>
              <a:rPr b="0" i="0"/>
              <a:t> mitotici.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8A8F1-5A09-4C8E-ABD8-D90C4F72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502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Conservarli, poi rimuoverli</a:t>
            </a:r>
            <a:r>
              <a:t>. </a:t>
            </a:r>
            <a:r>
              <a:rPr b="0" i="0"/>
              <a:t>In anafase cala M-CDK. La </a:t>
            </a:r>
            <a:r>
              <a:rPr b="1" i="0"/>
              <a:t>fosfatasi</a:t>
            </a:r>
            <a:r>
              <a:rPr b="0" i="0"/>
              <a:t> PP1 e PP2A-B55 contribuiscono a spegnere </a:t>
            </a:r>
            <a:r>
              <a:rPr b="1" i="0"/>
              <a:t>Greatwall</a:t>
            </a:r>
            <a:r>
              <a:rPr b="0" i="0"/>
              <a:t>: il circuito che mantiene ENSA fosforilata si interrompe e PP2A-B55 torna a </a:t>
            </a:r>
            <a:r>
              <a:rPr b="1" i="0"/>
              <a:t>rimuovere i fosfati</a:t>
            </a:r>
            <a:r>
              <a:rPr b="0" i="0"/>
              <a:t> mitotici.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111ae8e4048fb"/>
          <a:stretch xmlns:a="http://schemas.openxmlformats.org/drawingml/2006/main"/>
        </p:blipFill>
        <p:spPr>
          <a:xfrm xmlns:a="http://schemas.openxmlformats.org/drawingml/2006/main">
            <a:off x="7296150" y="2581293"/>
            <a:ext cx="4400550" cy="40347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F63C9-2C70-4D05-8420-28BC37F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DDFE0-9C7D-42F3-A9B4-7BBFEDE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15/95    |    15/128</a:t>
            </a:r>
          </a:p>
        </p:txBody>
      </p:sp>
    </p:spTree>
    <p:extLst>
      <p:ext uri="{BB962C8B-B14F-4D97-AF65-F5344CB8AC3E}">
        <p14:creationId xmlns:p14="http://schemas.microsoft.com/office/powerpoint/2010/main" val="5798218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B4B34-D614-4138-BC31-C7093F8D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FDCFB-A736-41C4-850F-7DE27F6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4E0A-D1D5-488D-9FB5-B5AAE8B0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elimina una proteina al momento giusto?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1F34A-EA44-48FD-BD16-0A3CCBB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Spegnere una funzione può richiedere la </a:t>
            </a:r>
            <a:r>
              <a:rPr b="1" i="0"/>
              <a:t>rimozione</a:t>
            </a:r>
            <a:r>
              <a:rPr b="0" i="0"/>
              <a:t> della proteina che la svolge.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9D946-614A-42FD-A81D-AC2DA6D8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Per eliminare una proteina specifica, la cellula deve prima </a:t>
            </a:r>
            <a:r>
              <a:rPr b="1" i="0"/>
              <a:t>riconoscerla</a:t>
            </a:r>
            <a:r>
              <a:rPr b="0" i="0"/>
              <a:t> e </a:t>
            </a:r>
            <a:r>
              <a:rPr b="1" i="0"/>
              <a:t>marcarla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DC1D0-ABAD-417D-9189-7F82EC02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</a:t>
            </a:r>
            <a:r>
              <a:rPr b="1" i="0"/>
              <a:t>ubiquitina ligasi</a:t>
            </a:r>
            <a:r>
              <a:rPr b="0" i="0"/>
              <a:t> riconosce un bersaglio: aiuta a decidere quale proteina deve ricevere il segnale di degradazione.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AF118-2945-46E1-8956-6C271691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 l’aiuto di E1, che attiva l’ubiquitina, ed E2, che la trasporta, si costruisce una catena sul bersaglio. È </a:t>
            </a:r>
            <a:r>
              <a:rPr b="1" i="0"/>
              <a:t>poliubiquitinazione</a:t>
            </a:r>
            <a:r>
              <a:rPr b="0" i="0"/>
              <a:t>: una marcatura, </a:t>
            </a:r>
            <a:r>
              <a:rPr b="1" i="0"/>
              <a:t>non ancora la distruzione</a:t>
            </a:r>
            <a:r>
              <a:rPr b="0" i="0"/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3C164-B6B7-4174-824F-287E824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proteasoma</a:t>
            </a:r>
            <a:r>
              <a:rPr b="0" i="0"/>
              <a:t> riconosce appropriati segnali di ubiquitina, srotola il bersaglio e lo degrada in piccoli frammenti. L’ubiquitina viene rimossa e </a:t>
            </a:r>
            <a:r>
              <a:rPr b="1" i="0"/>
              <a:t>riciclata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35accf7a84ed5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662D7-2CFE-4794-BFD7-36910DD4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3F7A-6CC3-4592-B459-59E09E9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16/95    |    16/128</a:t>
            </a:r>
          </a:p>
        </p:txBody>
      </p:sp>
    </p:spTree>
    <p:extLst>
      <p:ext uri="{BB962C8B-B14F-4D97-AF65-F5344CB8AC3E}">
        <p14:creationId xmlns:p14="http://schemas.microsoft.com/office/powerpoint/2010/main" val="442885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772D3-AB8E-413F-81ED-23A27C0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DE83-5CF3-4467-B57E-E3FFC9F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3618B-4B4A-4775-B243-5194D40D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riconosce e si rimuove l’inibitore p27?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88CAB-11C2-42C8-80ED-4032FD72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fosforilazione</a:t>
            </a:r>
            <a:r>
              <a:rPr b="0" i="0"/>
              <a:t> può essere un segnale di distruzione.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6E48A-89CD-425E-BB39-E5212D8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Come riconoscere proprio l’inibitore da rimuovere?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E84B-4E1D-48AE-9AE6-9A35635C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752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Riconoscere il substrato</a:t>
            </a:r>
            <a:r>
              <a:t>. </a:t>
            </a:r>
            <a:r>
              <a:rPr b="0" i="0"/>
              <a:t>SCF significa Skp1–Cullina–proteina F-box. È una </a:t>
            </a:r>
            <a:r>
              <a:rPr b="1" i="0"/>
              <a:t>ligasi E3</a:t>
            </a:r>
            <a:r>
              <a:rPr b="0" i="0"/>
              <a:t> dell’ubiquitina: i recettori riconoscono </a:t>
            </a:r>
            <a:r>
              <a:rPr b="1" i="0"/>
              <a:t>bersagli fosforilati</a:t>
            </a:r>
            <a:r>
              <a:rPr b="0" i="0"/>
              <a:t> con moduli WD40 o ripetizioni ricche di leucina. Per p27, Skp2 è il recettore e </a:t>
            </a:r>
            <a:r>
              <a:rPr b="1" i="0"/>
              <a:t>Cks1</a:t>
            </a:r>
            <a:r>
              <a:rPr b="0" i="0"/>
              <a:t> il cofattore del riconoscimento.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843D5-E15B-47BC-9DC5-F850F3C6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Rimuovere l’inibitore</a:t>
            </a:r>
            <a:r>
              <a:t>. </a:t>
            </a:r>
            <a:r>
              <a:rPr b="0" i="0"/>
              <a:t>E–CDK2 favorisce la fosforilazione di p27Kip1 sulla treonina 187, </a:t>
            </a:r>
            <a:r>
              <a:rPr b="1" i="0"/>
              <a:t>Thr187</a:t>
            </a:r>
            <a:r>
              <a:rPr b="0" i="0"/>
              <a:t>. Skp2 e Cks1 riconoscono questo segnale: la </a:t>
            </a:r>
            <a:r>
              <a:rPr b="1" i="0"/>
              <a:t>poliubiquitinazione</a:t>
            </a:r>
            <a:r>
              <a:rPr b="0" i="0"/>
              <a:t> indirizza p27 al </a:t>
            </a:r>
            <a:r>
              <a:rPr b="1" i="0"/>
              <a:t>proteasoma</a:t>
            </a:r>
            <a:r>
              <a:rPr b="0" i="0"/>
              <a:t> e libera l’attività delle CDK della fase 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99d3093b7439e"/>
          <a:stretch xmlns:a="http://schemas.openxmlformats.org/drawingml/2006/main"/>
        </p:blipFill>
        <p:spPr>
          <a:xfrm xmlns:a="http://schemas.openxmlformats.org/drawingml/2006/main">
            <a:off x="7296150" y="2911334"/>
            <a:ext cx="4400550" cy="33746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DBDE9-E7D3-4759-94F9-333B8047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84948-96CF-40EB-B9E7-4CC884E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17/95    |    17/128</a:t>
            </a:r>
          </a:p>
        </p:txBody>
      </p:sp>
    </p:spTree>
    <p:extLst>
      <p:ext uri="{BB962C8B-B14F-4D97-AF65-F5344CB8AC3E}">
        <p14:creationId xmlns:p14="http://schemas.microsoft.com/office/powerpoint/2010/main" val="14357409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4C05A-2888-4E01-883D-49408C1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04EC7-A827-49B5-A5F9-0C0232E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A186E-01E6-44C6-A0B3-8A49F023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sceglie APC/C le proteine da far degradare?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682A5-894F-4A28-AE14-682D2D54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stessa ligasi cambia </a:t>
            </a:r>
            <a:r>
              <a:rPr b="1" i="0"/>
              <a:t>selezione dei bersagli</a:t>
            </a:r>
            <a:r>
              <a:rPr b="0" i="0"/>
              <a:t> nel tempo.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1477B-6431-466E-89B7-7E20B66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Come cambia la scelta dei bersagli di </a:t>
            </a:r>
            <a:r>
              <a:rPr b="1" i="0"/>
              <a:t>APC/C</a:t>
            </a:r>
            <a:r>
              <a:rPr b="0" i="0"/>
              <a:t>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69589-ED71-4166-A6E3-1E04969B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752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Cdc20 e Cdh1</a:t>
            </a:r>
            <a:r>
              <a:t>. </a:t>
            </a:r>
            <a:r>
              <a:rPr b="1" i="0"/>
              <a:t>APC/C</a:t>
            </a:r>
            <a:r>
              <a:rPr b="0" i="0"/>
              <a:t>, complesso promotore dell’anafase o ciclosoma, è una </a:t>
            </a:r>
            <a:r>
              <a:rPr b="1" i="0"/>
              <a:t>ligasi E3</a:t>
            </a:r>
            <a:r>
              <a:rPr b="0" i="0"/>
              <a:t> dell’ubiquitina. Cdc20 e Cdh1 sono </a:t>
            </a:r>
            <a:r>
              <a:rPr b="1" i="0"/>
              <a:t>coattivatori</a:t>
            </a:r>
            <a:r>
              <a:rPr b="0" i="0"/>
              <a:t>: cambiano la conformazione e aumentano l’attività. Riconoscono brevi sequenze dei bersagli, come D-box e KEN-box.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0CFD4-6A99-409D-9A49-6C6CA4F6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Cdc20 per prima</a:t>
            </a:r>
            <a:r>
              <a:t>. </a:t>
            </a:r>
            <a:r>
              <a:rPr b="1" i="0"/>
              <a:t>APC/C</a:t>
            </a:r>
            <a:r>
              <a:rPr b="0" i="0"/>
              <a:t>–Cdc20 seleziona securina, una proteina che frena la separazione dei cromatidi, e cicline mitotiche. La </a:t>
            </a:r>
            <a:r>
              <a:rPr b="1" i="0"/>
              <a:t>degradazione della ciclina B</a:t>
            </a:r>
            <a:r>
              <a:rPr b="0" i="0"/>
              <a:t> riduce l’attività di M-CDK.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832f184c645a2"/>
          <a:stretch xmlns:a="http://schemas.openxmlformats.org/drawingml/2006/main"/>
        </p:blipFill>
        <p:spPr>
          <a:xfrm xmlns:a="http://schemas.openxmlformats.org/drawingml/2006/main">
            <a:off x="7296150" y="2911334"/>
            <a:ext cx="4400550" cy="33746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8C6C6-851A-49EE-BC6E-C63353D9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87C07-EFC0-4662-BE55-E107C9A5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18/95    |    18/128</a:t>
            </a:r>
          </a:p>
        </p:txBody>
      </p:sp>
    </p:spTree>
    <p:extLst>
      <p:ext uri="{BB962C8B-B14F-4D97-AF65-F5344CB8AC3E}">
        <p14:creationId xmlns:p14="http://schemas.microsoft.com/office/powerpoint/2010/main" val="15722918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6D248-D235-4105-9CC5-E9200A72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194E4-3874-430D-B991-E5A5F077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E2598-B00C-4F76-AB22-07565387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prepara la mitosi il proprio spegnimento?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247B9-EF11-4AA6-91FE-EE3307A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Qui il </a:t>
            </a:r>
            <a:r>
              <a:rPr b="1" i="0"/>
              <a:t>feedback è negativo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3EE42-5DF7-4C23-80B8-294ADF3F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Come può M-CDK preparare il proprio spegnimento?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38588-359C-49B9-B31F-6F2E5D58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752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M-CDK → APC/C–Cdc20</a:t>
            </a:r>
            <a:r>
              <a:t>. </a:t>
            </a:r>
            <a:r>
              <a:rPr b="0" i="0"/>
              <a:t>M-CDK </a:t>
            </a:r>
            <a:r>
              <a:rPr b="1" i="0"/>
              <a:t>fosforila</a:t>
            </a:r>
            <a:r>
              <a:rPr b="0" i="0"/>
              <a:t> APC/C e ne favorisce l’associazione con Cdc20. Il complesso attivato </a:t>
            </a:r>
            <a:r>
              <a:rPr b="1" i="0"/>
              <a:t>distruggerà</a:t>
            </a:r>
            <a:r>
              <a:rPr b="0" i="0"/>
              <a:t> proprio le cicline necessarie all’attività M-CDK.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9EB9E-26E7-4EF8-8C14-052E18F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9455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Passaggio a Cdh1</a:t>
            </a:r>
            <a:r>
              <a:t>. </a:t>
            </a:r>
            <a:r>
              <a:rPr b="0" i="0"/>
              <a:t>Il calo delle CDK permette la </a:t>
            </a:r>
            <a:r>
              <a:rPr b="1" i="0"/>
              <a:t>defosforilazione</a:t>
            </a:r>
            <a:r>
              <a:rPr b="0" i="0"/>
              <a:t> di APC/C e </a:t>
            </a:r>
            <a:r>
              <a:rPr b="1" i="0"/>
              <a:t>Cdh1</a:t>
            </a:r>
            <a:r>
              <a:rPr b="0" i="0"/>
              <a:t>. Diminuisce il circuito Cdc20; Cdh1 può legarsi ad APC/C e mantenere basse le </a:t>
            </a:r>
            <a:r>
              <a:rPr b="1" i="0"/>
              <a:t>cicline mitotiche</a:t>
            </a:r>
            <a:r>
              <a:rPr b="0" i="0"/>
              <a:t> in M tardiva e G1. La fosforilazione di Cdh1 ne impediva il legame.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927baf3c54f9c"/>
          <a:stretch xmlns:a="http://schemas.openxmlformats.org/drawingml/2006/main"/>
        </p:blipFill>
        <p:spPr>
          <a:xfrm xmlns:a="http://schemas.openxmlformats.org/drawingml/2006/main">
            <a:off x="7296150" y="2911334"/>
            <a:ext cx="4400550" cy="33746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36BE-4205-406E-9F45-DF23E7B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B23CD-8DAE-4245-8AE4-CF7662B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19/95    |    19/128</a:t>
            </a:r>
          </a:p>
        </p:txBody>
      </p:sp>
    </p:spTree>
    <p:extLst>
      <p:ext uri="{BB962C8B-B14F-4D97-AF65-F5344CB8AC3E}">
        <p14:creationId xmlns:p14="http://schemas.microsoft.com/office/powerpoint/2010/main" val="2515151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F1979-BA57-4710-AE58-90F7A378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72DA4-36F1-49C6-A90B-23B21069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31831-D6E1-4353-AA15-716B4BBE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prepara e si avvia la copia del DNA?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5CC5A-8873-4160-94FE-2C947D51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Caricamento</a:t>
            </a:r>
            <a:r>
              <a:rPr b="0" i="0"/>
              <a:t>, attivazione e sintesi del DNA sono operazioni distinte e regolate.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6781E-53D2-4390-B299-89C225A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ORC + Cdc6 + Cdt1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87514-F053-446E-85DE-3DF05D2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6421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MCM caricata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6F707-D3C8-44CC-A5C6-35B94D0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80563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S-CDK + DDK → origine attiva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9668A-B426-4A02-9181-4A58C8D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470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Che cosa trasforma un’</a:t>
            </a:r>
            <a:r>
              <a:rPr b="1" i="0"/>
              <a:t>elicasi caricata</a:t>
            </a:r>
            <a:r>
              <a:rPr b="0" i="0"/>
              <a:t> in una attiva?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390DF-B0CD-4C44-A560-8974477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8847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 tardiva / G1 precoce</a:t>
            </a:r>
            <a:r>
              <a:t>. </a:t>
            </a:r>
            <a:r>
              <a:rPr b="0" i="0"/>
              <a:t>In M tardiva/G1, ORC (Origin Recognition Complex) identifica l’origine, la regione da cui partirà la copia. Cdc6 e Cdt1 caricano due anelli </a:t>
            </a:r>
            <a:r>
              <a:rPr b="1" i="0"/>
              <a:t>MCM</a:t>
            </a:r>
            <a:r>
              <a:rPr b="0" i="0"/>
              <a:t>, ciascuno di sei subunità: un </a:t>
            </a:r>
            <a:r>
              <a:rPr b="1" i="0"/>
              <a:t>doppio esamero inattivo</a:t>
            </a:r>
            <a:r>
              <a:rPr b="0" i="0"/>
              <a:t>. MCM è il motore dell’elicasi che aprirà il DNA; il caricamento è il </a:t>
            </a:r>
            <a:r>
              <a:rPr b="1" i="0"/>
              <a:t>licensing</a:t>
            </a:r>
            <a:r>
              <a:rPr b="0" i="0"/>
              <a:t>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F7C7E-7276-43C4-8D62-09E1E3A1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744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Inizio della fase S</a:t>
            </a:r>
            <a:r>
              <a:t>. </a:t>
            </a:r>
            <a:r>
              <a:rPr b="0" i="0"/>
              <a:t>All’inizio di S, S-CDK fosforila proteine accessorie e DDK, chinasi dipendente da Dbf4, fosforila </a:t>
            </a:r>
            <a:r>
              <a:rPr b="1" i="0"/>
              <a:t>MCM</a:t>
            </a:r>
            <a:r>
              <a:rPr b="0" i="0"/>
              <a:t>. Cdc45 e GINS completano l’</a:t>
            </a:r>
            <a:r>
              <a:rPr b="1" i="0"/>
              <a:t>elicasi attiva</a:t>
            </a:r>
            <a:r>
              <a:rPr b="0" i="0"/>
              <a:t>; le DNA polimerasi sintetizzano i nuovi filamenti e la copia procede nelle </a:t>
            </a:r>
            <a:r>
              <a:rPr b="1" i="0"/>
              <a:t>due direzioni</a:t>
            </a:r>
            <a:r>
              <a:rPr b="0" i="0"/>
              <a:t>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3a5c5771749ee"/>
          <a:stretch xmlns:a="http://schemas.openxmlformats.org/drawingml/2006/main"/>
        </p:blipFill>
        <p:spPr>
          <a:xfrm xmlns:a="http://schemas.openxmlformats.org/drawingml/2006/main">
            <a:off x="7296150" y="2911334"/>
            <a:ext cx="4400550" cy="337467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B4BB7-5613-49DE-B52A-6553E03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A645E-B42A-4482-B513-987BDCBB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20/95    |    20/128</a:t>
            </a:r>
          </a:p>
        </p:txBody>
      </p:sp>
    </p:spTree>
    <p:extLst>
      <p:ext uri="{BB962C8B-B14F-4D97-AF65-F5344CB8AC3E}">
        <p14:creationId xmlns:p14="http://schemas.microsoft.com/office/powerpoint/2010/main" val="3311658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A8F22-F05B-46D5-93B0-5DFDDF62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C4EAA-3005-4077-8A17-813DC6B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A8310-42F3-4177-B5D1-6119A34A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copia il DNA una sola volta per ciclo?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1F0A2-837A-4C2A-8B60-621A0587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Più </a:t>
            </a:r>
            <a:r>
              <a:rPr b="1" i="0"/>
              <a:t>barriere</a:t>
            </a:r>
            <a:r>
              <a:rPr b="0" i="0"/>
              <a:t> agiscono contemporaneamente.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41E4B-E322-42FB-BB0C-E4A6CCFB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Come tenere chiuso il </a:t>
            </a:r>
            <a:r>
              <a:rPr b="1" i="0"/>
              <a:t>caricamento</a:t>
            </a:r>
            <a:r>
              <a:rPr b="0" i="0"/>
              <a:t> fino al ciclo dopo?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F7B78-C11C-4AFF-8FBB-A7261788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752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ORC e Cdc6</a:t>
            </a:r>
            <a:r>
              <a:t>. </a:t>
            </a:r>
            <a:r>
              <a:rPr b="0" i="0"/>
              <a:t>La fosforilazione mediata dalle attività della fase S ostacola un </a:t>
            </a:r>
            <a:r>
              <a:rPr b="1" i="0"/>
              <a:t>nuovo caricamento</a:t>
            </a:r>
            <a:r>
              <a:rPr b="0" i="0"/>
              <a:t> delle elicasi. L’origine che ha già iniziato non deve essere nuovamente autorizzata.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9A78-2FFE-4EBF-95FC-323A987F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Geminina e Cdt1</a:t>
            </a:r>
            <a:r>
              <a:t>. </a:t>
            </a:r>
            <a:r>
              <a:rPr b="1" i="0"/>
              <a:t>Geminina</a:t>
            </a:r>
            <a:r>
              <a:rPr b="0" i="0"/>
              <a:t> è un inibitore di </a:t>
            </a:r>
            <a:r>
              <a:rPr b="1" i="0"/>
              <a:t>Cdt1</a:t>
            </a:r>
            <a:r>
              <a:rPr b="0" i="0"/>
              <a:t>: si accumula quando APC/C–Cdh1 si spegne e lega Cdt1 libera. La Cdt1 associata al DNA attraverso PCNA, un anello scorrevole della replicazione, viene invece marcata e degradata. Sono </a:t>
            </a:r>
            <a:r>
              <a:rPr b="1" i="0"/>
              <a:t>due popolazioni distinte</a:t>
            </a:r>
            <a:r>
              <a:rPr b="0" i="0"/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F0A0D-A991-42AA-BAF0-C06A417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Ripristino in M tardiva</a:t>
            </a:r>
            <a:r>
              <a:t>. </a:t>
            </a:r>
            <a:r>
              <a:rPr b="0" i="0"/>
              <a:t>In M tardiva, APC/C favorisce la </a:t>
            </a:r>
            <a:r>
              <a:rPr b="1" i="0"/>
              <a:t>distruzione</a:t>
            </a:r>
            <a:r>
              <a:rPr b="0" i="0"/>
              <a:t> di cicline e geminina. Il calo delle CDK e la defosforilazione di ORC/Cdc6 rimuovono le barriere al </a:t>
            </a:r>
            <a:r>
              <a:rPr b="1" i="0"/>
              <a:t>caricamento</a:t>
            </a:r>
            <a:r>
              <a:rPr b="0" i="0"/>
              <a:t>; Cdt1 libera può aiutare a caricare MCM nella </a:t>
            </a:r>
            <a:r>
              <a:rPr b="1" i="0"/>
              <a:t>nuova G1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d744bf4874217"/>
          <a:stretch xmlns:a="http://schemas.openxmlformats.org/drawingml/2006/main"/>
        </p:blipFill>
        <p:spPr>
          <a:xfrm xmlns:a="http://schemas.openxmlformats.org/drawingml/2006/main">
            <a:off x="7296150" y="2911334"/>
            <a:ext cx="4400550" cy="337467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E4388-8124-4002-86A2-6139D9D1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E222C-820E-4D96-B41D-DA27B06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21/95    |    21/128</a:t>
            </a:r>
          </a:p>
        </p:txBody>
      </p:sp>
    </p:spTree>
    <p:extLst>
      <p:ext uri="{BB962C8B-B14F-4D97-AF65-F5344CB8AC3E}">
        <p14:creationId xmlns:p14="http://schemas.microsoft.com/office/powerpoint/2010/main" val="2069435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BF61-4CCE-4F94-B9F3-22911C0C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5360C-8858-441C-A414-2A010A37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4B6E9-AFA6-4432-9E5E-FFFD6C8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14-3-3 rinviare l’ingresso in mitosi?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FAD64-8F81-40FB-BADF-D85D463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14-3-3</a:t>
            </a:r>
            <a:r>
              <a:rPr b="0" i="0"/>
              <a:t> è una famiglia di proteine adattatrici: riconosce alcuni siti fosforilati e modifica il comportamento della proteina a cui </a:t>
            </a:r>
            <a:r>
              <a:rPr b="1" i="0"/>
              <a:t>si lega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003BC-6F58-4DFC-A3A0-CC0D11F1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fosfato</a:t>
            </a:r>
            <a:r>
              <a:rPr b="0" i="0"/>
              <a:t> crea un punto di aggancio; </a:t>
            </a:r>
            <a:r>
              <a:rPr b="1" i="0"/>
              <a:t>14-3-3</a:t>
            </a:r>
            <a:r>
              <a:rPr b="0" i="0"/>
              <a:t> legge il segnale e modifica il comportamento di Cdc25.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6FF50-AFA8-4545-B909-D0F4287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Creare il sito per 14-3-3</a:t>
            </a:r>
            <a:r>
              <a:t>. </a:t>
            </a:r>
            <a:r>
              <a:rPr b="0" i="0"/>
              <a:t>Quando è attivo un checkpoint, una chinasi fosforila Cdc25. Il </a:t>
            </a:r>
            <a:r>
              <a:rPr b="1" i="0"/>
              <a:t>fosfato</a:t>
            </a:r>
            <a:r>
              <a:rPr b="0" i="0"/>
              <a:t> non trattiene da solo la proteina: crea un punto di aggancio per </a:t>
            </a:r>
            <a:r>
              <a:rPr b="1" i="0"/>
              <a:t>14-3-3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6876B-3984-458B-95C3-C32B3714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613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14-3-3 riconosce Cdc25 fosforilata</a:t>
            </a:r>
            <a:r>
              <a:t>. </a:t>
            </a:r>
            <a:r>
              <a:rPr b="1" i="0"/>
              <a:t>14-3-3</a:t>
            </a:r>
            <a:r>
              <a:rPr b="0" i="0"/>
              <a:t> è una famiglia di proteine adattatrici: non aggiunge né rimuove fosfati. Riconosce uno specifico sito fosforilato su Cdc25 e vi </a:t>
            </a:r>
            <a:r>
              <a:rPr b="1" i="0"/>
              <a:t>si lega</a:t>
            </a:r>
            <a:r>
              <a:rPr b="0" i="0"/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85A98-EE6B-44F8-8C52-8C2161D2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Tenere Cdc25 nel citoplasma rinvia la mitosi</a:t>
            </a:r>
            <a:r>
              <a:t>. </a:t>
            </a:r>
            <a:r>
              <a:rPr b="0" i="0"/>
              <a:t>Legandosi, </a:t>
            </a:r>
            <a:r>
              <a:rPr b="1" i="0"/>
              <a:t>14-3-3</a:t>
            </a:r>
            <a:r>
              <a:rPr b="0" i="0"/>
              <a:t> favorisce la permanenza di Cdc25 nel citoplasma. Cdc25 non contribuisce pienamente all’attivazione del complesso ciclina B–CDK1: CDK1 resta inibita e l’ingresso in mitosi viene rinviato.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7f3fd7b1f492f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9A263-4E5B-4E83-B032-04482C6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D1AFB-89EE-4D7E-98AB-DD5164A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22/95    |    22/128</a:t>
            </a:r>
          </a:p>
        </p:txBody>
      </p:sp>
    </p:spTree>
    <p:extLst>
      <p:ext uri="{BB962C8B-B14F-4D97-AF65-F5344CB8AC3E}">
        <p14:creationId xmlns:p14="http://schemas.microsoft.com/office/powerpoint/2010/main" val="20020753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6115D-0524-4589-924D-A004BF3B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50C24-C946-4FA3-86E1-B58B08F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0EB75-18BF-4D42-8C96-FF8F2349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viene riconosciuto un sito fosforilato?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8D3EB-2D76-45EB-8590-6B16DE87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dominio lettore</a:t>
            </a:r>
            <a:r>
              <a:rPr b="0" i="0"/>
              <a:t> riconosce un sito modificato e cambia associazione o comportamento.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A46BF-B291-4E4B-BC40-1F6F9FBF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Cks</a:t>
            </a:r>
            <a:r>
              <a:t>. </a:t>
            </a:r>
            <a:r>
              <a:rPr b="1" i="0"/>
              <a:t>Cks</a:t>
            </a:r>
            <a:r>
              <a:rPr b="0" i="0"/>
              <a:t> è una subunità che riconosce </a:t>
            </a:r>
            <a:r>
              <a:rPr b="1" i="0"/>
              <a:t>siti fosforilati</a:t>
            </a:r>
            <a:r>
              <a:rPr b="0" i="0"/>
              <a:t> e aiuta ciclina–CDK a modificare altri siti sullo stesso substrato. Favorisce così una </a:t>
            </a:r>
            <a:r>
              <a:rPr b="1" i="0"/>
              <a:t>fosforilazione processiva</a:t>
            </a:r>
            <a:r>
              <a:rPr b="0" i="0"/>
              <a:t>: più modifiche successive anziché un solo evento isolato.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D8E2B-C765-4217-8D7B-534D249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14-3-3</a:t>
            </a:r>
            <a:r>
              <a:t>. </a:t>
            </a:r>
            <a:r>
              <a:rPr b="0" i="0"/>
              <a:t>Legano e possono inattivare regolatori ciclina–CDK nei </a:t>
            </a:r>
            <a:r>
              <a:rPr b="1" i="0"/>
              <a:t>checkpoint</a:t>
            </a:r>
            <a:r>
              <a:rPr b="0" i="0"/>
              <a:t>; partecipano anche alla regolazione della citodieresi. Non sono esse stesse una famiglia di CDK.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D62E5-AEC3-4FB9-913C-7F70C32B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5023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Pin1</a:t>
            </a:r>
            <a:r>
              <a:t>. </a:t>
            </a:r>
            <a:r>
              <a:rPr b="1" i="0"/>
              <a:t>Pin1</a:t>
            </a:r>
            <a:r>
              <a:rPr b="0" i="0"/>
              <a:t> è un’isomerasi: cambia localmente la disposizione della catena proteica attorno a specifici legami, vicini a prolina e a </a:t>
            </a:r>
            <a:r>
              <a:rPr b="1" i="0"/>
              <a:t>siti fosforilati</a:t>
            </a:r>
            <a:r>
              <a:rPr b="0" i="0"/>
              <a:t>. La proteina può cambiare </a:t>
            </a:r>
            <a:r>
              <a:rPr b="1" i="0"/>
              <a:t>conformazione</a:t>
            </a:r>
            <a:r>
              <a:rPr b="0" i="0"/>
              <a:t> e comportamento senza perdere il fosfato. Questo contribuisce al controllo dell’ingresso e dell’uscita dalla mitosi.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C78F6-85B6-4118-9105-46A75AA5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FHA e BRCT</a:t>
            </a:r>
            <a:r>
              <a:t>. </a:t>
            </a:r>
            <a:r>
              <a:rPr b="0" i="0"/>
              <a:t>Sono domini proteici che riconoscono </a:t>
            </a:r>
            <a:r>
              <a:rPr b="1" i="0"/>
              <a:t>siti fosforilati</a:t>
            </a:r>
            <a:r>
              <a:rPr b="0" i="0"/>
              <a:t> e avvicinano i loro partner, favorendo l’assemblaggio di complessi. Queste interazioni dipendenti dalla fosforilazione partecipano alla sorveglianza del ciclo e alla citodieresi.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3f395c1214ce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47696-59DD-469E-9811-9F2DF0EB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EE15A-8ED8-4446-80A7-8AF2C206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23/95 · 1/2    |    23/128</a:t>
            </a:r>
          </a:p>
        </p:txBody>
      </p:sp>
    </p:spTree>
    <p:extLst>
      <p:ext uri="{BB962C8B-B14F-4D97-AF65-F5344CB8AC3E}">
        <p14:creationId xmlns:p14="http://schemas.microsoft.com/office/powerpoint/2010/main" val="10242387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DD602-2F84-4507-873D-2DDB0559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F24F2-F7F0-48C2-A506-6D8236B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AF2CE-6242-4748-8A66-DD6DD91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viene riconosciuto un sito fosforilato?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320F7-715F-414C-838B-24BCFC5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Polo-box</a:t>
            </a:r>
            <a:r>
              <a:t>. </a:t>
            </a:r>
            <a:r>
              <a:rPr b="0" i="0"/>
              <a:t>Indirizza le chinasi Polo verso siti già fosforilati dalle CDK, coordinando ingresso e progressione nella mitosi. È un </a:t>
            </a:r>
            <a:r>
              <a:rPr b="1" i="0"/>
              <a:t>modulo di riconoscimento</a:t>
            </a:r>
            <a:r>
              <a:rPr b="0" i="0"/>
              <a:t>, non il sito catalitico della chinasi.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f1b7094a24782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84D66-5825-4AA6-82DD-1A72B8E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Regolare e copiare una volta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FA314-ACEA-45FE-858D-07F4D7EC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23/95 · 2/2    |    24/128</a:t>
            </a:r>
          </a:p>
        </p:txBody>
      </p:sp>
    </p:spTree>
    <p:extLst>
      <p:ext uri="{BB962C8B-B14F-4D97-AF65-F5344CB8AC3E}">
        <p14:creationId xmlns:p14="http://schemas.microsoft.com/office/powerpoint/2010/main" val="13678720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E211D-5BF6-4374-AAC7-9485530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7812D-73B8-46D5-B23C-CDF87593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2F83-B3B9-41A8-AC70-471C0F34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riceve ogni nucleo figlio una copia del genoma?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ED4FF-A61E-43D5-80AB-1D9FA2E0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 profase l’</a:t>
            </a:r>
            <a:r>
              <a:rPr b="1" i="0"/>
              <a:t>involucro</a:t>
            </a:r>
            <a:r>
              <a:rPr b="0" i="0"/>
              <a:t> è ancora integro mentre i cromosomi si compattano.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D9FCD-B39D-4B2F-BA1A-76864EE7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Profase</a:t>
            </a:r>
            <a:r>
              <a:t>. </a:t>
            </a:r>
            <a:r>
              <a:rPr b="0" i="0"/>
              <a:t>I cromosomi duplicati </a:t>
            </a:r>
            <a:r>
              <a:rPr b="1" i="0"/>
              <a:t>si condensano</a:t>
            </a:r>
            <a:r>
              <a:rPr b="0" i="0"/>
              <a:t> mentre l’</a:t>
            </a:r>
            <a:r>
              <a:rPr b="1" i="0"/>
              <a:t>involucro</a:t>
            </a:r>
            <a:r>
              <a:rPr b="0" i="0"/>
              <a:t> è integro. All’esterno si assembla il fuso, sistema di fibre dette </a:t>
            </a:r>
            <a:r>
              <a:rPr b="1" i="0"/>
              <a:t>microtubuli</a:t>
            </a:r>
            <a:r>
              <a:rPr b="0" i="0"/>
              <a:t>, fra i centrosomi già duplicati, gli organizzatori dei poli.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296AF-84FB-407E-A3FA-D2714231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Prometafase</a:t>
            </a:r>
            <a:r>
              <a:t>. </a:t>
            </a:r>
            <a:r>
              <a:rPr b="0" i="0"/>
              <a:t>La demolizione dell’</a:t>
            </a:r>
            <a:r>
              <a:rPr b="1" i="0"/>
              <a:t>involucro</a:t>
            </a:r>
            <a:r>
              <a:rPr b="0" i="0"/>
              <a:t> permette ai </a:t>
            </a:r>
            <a:r>
              <a:rPr b="1" i="0"/>
              <a:t>microtubuli</a:t>
            </a:r>
            <a:r>
              <a:rPr b="0" i="0"/>
              <a:t> di raggiungere i </a:t>
            </a:r>
            <a:r>
              <a:rPr b="1" i="0"/>
              <a:t>cinetocori</a:t>
            </a:r>
            <a:r>
              <a:rPr b="0" i="0"/>
              <a:t>, strutture di aggancio sui centromeri. I cromosomi vengono catturati e orientati con movimenti attivi.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3A32C-3B17-4E18-BCEE-C3633D04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53915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Leggere i colori</a:t>
            </a:r>
            <a:r>
              <a:t>. </a:t>
            </a:r>
            <a:r>
              <a:rPr b="0" i="0"/>
              <a:t>Nelle immagini in fluorescenza si possono distinguere cromosomi arancioni e </a:t>
            </a:r>
            <a:r>
              <a:rPr b="1" i="0"/>
              <a:t>microtubuli</a:t>
            </a:r>
            <a:r>
              <a:rPr b="0" i="0"/>
              <a:t> verdi. Questo disegno riprende la distinzione cromatica, ma </a:t>
            </a:r>
            <a:r>
              <a:rPr b="1" i="0"/>
              <a:t>non è una microfotografia</a:t>
            </a:r>
            <a:r>
              <a:rPr b="0" i="0"/>
              <a:t>: i tre cromosomi rappresentati servono soltanto alla leggibilità.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C78B9-B6A5-4E9C-BA9E-52F32FE8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Metafase</a:t>
            </a:r>
            <a:r>
              <a:t>. </a:t>
            </a:r>
            <a:r>
              <a:rPr b="0" i="0"/>
              <a:t>I cromosomi sono sulla </a:t>
            </a:r>
            <a:r>
              <a:rPr b="1" i="0"/>
              <a:t>piastra equatoriale</a:t>
            </a:r>
            <a:r>
              <a:rPr b="0" i="0"/>
              <a:t>, a metà fra i poli. I </a:t>
            </a:r>
            <a:r>
              <a:rPr b="1" i="0"/>
              <a:t>cinetocori</a:t>
            </a:r>
            <a:r>
              <a:rPr b="0" i="0"/>
              <a:t> dei cromatidi fratelli sono collegati a </a:t>
            </a:r>
            <a:r>
              <a:rPr b="1" i="0"/>
              <a:t>poli opposti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5111a159a45c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226BC-3C02-4230-A0B2-3EF1A292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54B1C-0CCF-46DF-BE15-EBD900CF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24/95 · 1/2    |    25/128</a:t>
            </a:r>
          </a:p>
        </p:txBody>
      </p:sp>
    </p:spTree>
    <p:extLst>
      <p:ext uri="{BB962C8B-B14F-4D97-AF65-F5344CB8AC3E}">
        <p14:creationId xmlns:p14="http://schemas.microsoft.com/office/powerpoint/2010/main" val="16083861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7F144-1876-43D5-B841-19B4A930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E0EAA-70CB-4399-BCBE-7F977F76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4D581-E4C9-4250-9503-EF9406A1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riceve ogni nucleo figlio una copia del genoma?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21554-13E4-45AF-A890-57ED408A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Anafase</a:t>
            </a:r>
            <a:r>
              <a:t>. </a:t>
            </a:r>
            <a:r>
              <a:rPr b="0" i="0"/>
              <a:t>La </a:t>
            </a:r>
            <a:r>
              <a:rPr b="1" i="0"/>
              <a:t>separazione dei fratelli</a:t>
            </a:r>
            <a:r>
              <a:rPr b="0" i="0"/>
              <a:t> è coordinata: ogni cromatidio diventa un cromosoma figlio. Si accorciano i </a:t>
            </a:r>
            <a:r>
              <a:rPr b="1" i="0"/>
              <a:t>microtubuli</a:t>
            </a:r>
            <a:r>
              <a:rPr b="0" i="0"/>
              <a:t> cinetocorici e si allontanano i poli.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31A6A-65F4-4A5A-B1E5-84F1B3B6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Telofase e citodieresi</a:t>
            </a:r>
            <a:r>
              <a:t>. </a:t>
            </a:r>
            <a:r>
              <a:rPr b="0" i="0"/>
              <a:t>Ai poli i cromosomi </a:t>
            </a:r>
            <a:r>
              <a:rPr b="1" i="0"/>
              <a:t>si decondensano</a:t>
            </a:r>
            <a:r>
              <a:rPr b="0" i="0"/>
              <a:t> e si ricostruiscono gli involucri. L’anello di actina e miosina restringe il citoplasma; nelle figlie i centrosomi ricostruiscono le schiere interfasiche di </a:t>
            </a:r>
            <a:r>
              <a:rPr b="1" i="0"/>
              <a:t>microtubuli</a:t>
            </a:r>
            <a:r>
              <a:rPr b="0" i="0"/>
              <a:t>. Il disegno segue un cromosoma, ma tutti devono essere distribuiti.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7c116be064048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E7798-7A59-42CB-9160-CCAE5C7D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A00DD-192B-4A69-BD89-F60A9198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24/95 · 2/2    |    26/128</a:t>
            </a:r>
          </a:p>
        </p:txBody>
      </p:sp>
    </p:spTree>
    <p:extLst>
      <p:ext uri="{BB962C8B-B14F-4D97-AF65-F5344CB8AC3E}">
        <p14:creationId xmlns:p14="http://schemas.microsoft.com/office/powerpoint/2010/main" val="501440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12F7C-69E1-4DE3-BDE1-EEBF6ED5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8A331-1CF8-41AC-A667-660A2E7C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7A820-9FED-41BD-B4FD-9E0329F8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prepara il DNA per distribuirlo senza intrecci?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F3342-AAD8-4043-9B8C-1353B9F9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copie devono restare insieme, diventare trasportabili ed essere libere da </a:t>
            </a:r>
            <a:r>
              <a:rPr b="1" i="0"/>
              <a:t>intrecci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B0E83-DE1C-4736-9EDD-525638A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Coesione fra </a:t>
            </a:r>
            <a:r>
              <a:rPr b="1" i="0"/>
              <a:t>fratelli</a:t>
            </a:r>
            <a:r>
              <a:rPr b="0" i="0"/>
              <a:t>, anse nello stesso cromatidio, </a:t>
            </a:r>
            <a:r>
              <a:rPr b="1" i="0"/>
              <a:t>intrecci</a:t>
            </a:r>
            <a:r>
              <a:rPr b="0" i="0"/>
              <a:t> fra DNA: tre problemi distinti.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CC80A-ED67-4528-A8EA-E9D97B1A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coesina</a:t>
            </a:r>
            <a:r>
              <a:rPr b="0" i="0"/>
              <a:t> stabilizza l’associazione dei DNA </a:t>
            </a:r>
            <a:r>
              <a:rPr b="1" i="0"/>
              <a:t>fratelli</a:t>
            </a:r>
            <a:r>
              <a:rPr b="0" i="0"/>
              <a:t> dopo la replicazione.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73B4F-16F7-4BCA-BE23-7D3AA361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condensina fa crescere un’ansa di DNA</a:t>
            </a:r>
            <a:r>
              <a:t>. </a:t>
            </a:r>
            <a:r>
              <a:rPr b="0" i="0"/>
              <a:t>Nel modello mostrato, la </a:t>
            </a:r>
            <a:r>
              <a:rPr b="1" i="0"/>
              <a:t>condensina</a:t>
            </a:r>
            <a:r>
              <a:rPr b="0" i="0"/>
              <a:t> si lega a due punti vicini dello stesso cromatidio. Mantiene fermo un punto e, usando l’energia dell’ATP, fa scorrere altro DNA nel complesso. L’</a:t>
            </a:r>
            <a:r>
              <a:rPr b="1" i="0"/>
              <a:t>ansa</a:t>
            </a:r>
            <a:r>
              <a:rPr b="0" i="0"/>
              <a:t> tra i due punti diventa così sempre più grande. Molte anse affiancate rendono il cromatidio più corto e compatto.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9FA3F-F354-4E0C-AADF-041547D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694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Dopo S e nella mitosi precoce, la </a:t>
            </a:r>
            <a:r>
              <a:rPr b="1" i="0"/>
              <a:t>topoisomerasi II</a:t>
            </a:r>
            <a:r>
              <a:rPr b="0" i="0"/>
              <a:t> risolve </a:t>
            </a:r>
            <a:r>
              <a:rPr b="1" i="0"/>
              <a:t>intrecci</a:t>
            </a:r>
            <a:r>
              <a:rPr b="0" i="0"/>
              <a:t> fra DNA, un vincolo distinto dalla coesina: i </a:t>
            </a:r>
            <a:r>
              <a:rPr b="1" i="0"/>
              <a:t>fratelli</a:t>
            </a:r>
            <a:r>
              <a:rPr b="0" i="0"/>
              <a:t> possono diventare separabili.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863a4d7d84a0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AE991-4CD0-4AA3-8E7B-7BB258C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1D40A-CFBD-4D2C-B6D9-2DB26F3A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25/95    |    27/128</a:t>
            </a:r>
          </a:p>
        </p:txBody>
      </p:sp>
    </p:spTree>
    <p:extLst>
      <p:ext uri="{BB962C8B-B14F-4D97-AF65-F5344CB8AC3E}">
        <p14:creationId xmlns:p14="http://schemas.microsoft.com/office/powerpoint/2010/main" val="10597014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89235-F125-432E-9E79-54C2752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66E84-F89F-44F3-B06F-57FD3BA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30958-9626-45DB-BAD0-4AB100AD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lavorano coesina, condensine e topoisomerasi?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2CD1F-3ED4-4304-A7DB-552E96C7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Ingrandimento della coesina somatica umana: due SMC, </a:t>
            </a:r>
            <a:r>
              <a:rPr b="1" i="0"/>
              <a:t>RAD21</a:t>
            </a:r>
            <a:r>
              <a:rPr b="0" i="0"/>
              <a:t> e STAG.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BE0D8-3703-458C-9682-3D1F5AE1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SMC1A e SMC3</a:t>
            </a:r>
            <a:r>
              <a:t>. </a:t>
            </a:r>
            <a:r>
              <a:rPr b="1" i="0"/>
              <a:t>SMC1A</a:t>
            </a:r>
            <a:r>
              <a:rPr b="0" i="0"/>
              <a:t> e </a:t>
            </a:r>
            <a:r>
              <a:rPr b="1" i="0"/>
              <a:t>SMC3</a:t>
            </a:r>
            <a:r>
              <a:rPr b="0" i="0"/>
              <a:t> hanno lunghi bracci ad alfa-elica ripiegati su sé stessi. Le estremità N e C formano una testa ATPasica, che lega e usa ATP; all’altro estremo si trova una cerniera. SMC significa Structural Maintenance of Chromosomes.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878E0-8717-4413-B332-854AAADA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198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RAD21 e STAG1/2</a:t>
            </a:r>
            <a:r>
              <a:t>. </a:t>
            </a:r>
            <a:r>
              <a:rPr b="1" i="0"/>
              <a:t>RAD21</a:t>
            </a:r>
            <a:r>
              <a:rPr b="0" i="0"/>
              <a:t> è la kleisina: il dominio N-terminale si collega vicino alla testa di SMC3, quello C-terminale alla testa di </a:t>
            </a:r>
            <a:r>
              <a:rPr b="1" i="0"/>
              <a:t>SMC1A</a:t>
            </a:r>
            <a:r>
              <a:rPr b="0" i="0"/>
              <a:t>. Una regione centrale flessibile collega i domini e interagisce con </a:t>
            </a:r>
            <a:r>
              <a:rPr b="1" i="0"/>
              <a:t>STAG1</a:t>
            </a:r>
            <a:r>
              <a:rPr b="0" i="0"/>
              <a:t> o STAG2, dette anche SA1 e SA2.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B5CF7-78B3-447A-9629-4E64740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169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Caricamento dipendente da ATP</a:t>
            </a:r>
            <a:r>
              <a:t>. </a:t>
            </a:r>
            <a:r>
              <a:rPr b="0" i="0"/>
              <a:t>Il legame di ATP favorisce l’associazione delle </a:t>
            </a:r>
            <a:r>
              <a:rPr b="1" i="0"/>
              <a:t>teste</a:t>
            </a:r>
            <a:r>
              <a:rPr b="0" i="0"/>
              <a:t>; l’idrolisi permette il loro disimpegno. </a:t>
            </a:r>
            <a:r>
              <a:rPr b="1" i="0"/>
              <a:t>NIPBL–MAU2</a:t>
            </a:r>
            <a:r>
              <a:rPr b="0" i="0"/>
              <a:t> aiuta a caricare la coesina sul DNA. L’anello presenta tre interfacce fra subunità: le loro aperture sono regolate, non porte sempre equivalenti.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82416838c451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2AB61-D302-4544-A429-D8FC711A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A48C0-BC2E-4057-AB4A-300FA24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26/95 · 1/3    |    28/128</a:t>
            </a:r>
          </a:p>
        </p:txBody>
      </p:sp>
    </p:spTree>
    <p:extLst>
      <p:ext uri="{BB962C8B-B14F-4D97-AF65-F5344CB8AC3E}">
        <p14:creationId xmlns:p14="http://schemas.microsoft.com/office/powerpoint/2010/main" val="10079641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D3074-B375-4F4F-B7E6-B04D2CDE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9C09-457E-472C-B269-11155DA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B0924-F2A4-4D36-BD2C-B37D3252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lavorano coesina, condensine e topoisomerasi?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7A6A-B119-47AE-8D3B-AF599D30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Stabilizzare durante S</a:t>
            </a:r>
            <a:r>
              <a:t>. </a:t>
            </a:r>
            <a:r>
              <a:rPr b="1" i="0"/>
              <a:t>ESCO1/2</a:t>
            </a:r>
            <a:r>
              <a:rPr b="0" i="0"/>
              <a:t> acetilano, aggiungono gruppi acetile, nella regione della testa ATPasica di </a:t>
            </a:r>
            <a:r>
              <a:rPr b="1" i="0"/>
              <a:t>SMC3</a:t>
            </a:r>
            <a:r>
              <a:rPr b="0" i="0"/>
              <a:t>. Con sororina, questa regolazione limita la rimozione da parte di </a:t>
            </a:r>
            <a:r>
              <a:rPr b="1" i="0"/>
              <a:t>WAPL</a:t>
            </a:r>
            <a:r>
              <a:rPr b="0" i="0"/>
              <a:t> e stabilizza la coesione durante 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D1E93-926E-491D-A009-2CA0A2D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06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Condensazione</a:t>
            </a:r>
            <a:r>
              <a:t>. </a:t>
            </a:r>
            <a:r>
              <a:rPr b="0" i="0"/>
              <a:t>L’immunocolorazione localizza le condensine soprattutto lungo l’asse centrale, o </a:t>
            </a:r>
            <a:r>
              <a:rPr b="1" i="0"/>
              <a:t>core</a:t>
            </a:r>
            <a:r>
              <a:rPr b="0" i="0"/>
              <a:t>, di ciascun cromatidio.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F584C-3020-4500-8273-0028747E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198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Risoluzione</a:t>
            </a:r>
            <a:r>
              <a:t>. </a:t>
            </a:r>
            <a:r>
              <a:rPr b="0" i="0"/>
              <a:t>Riorganizza i fratelli in </a:t>
            </a:r>
            <a:r>
              <a:rPr b="1" i="0"/>
              <a:t>unità distinguibili</a:t>
            </a:r>
            <a:r>
              <a:rPr b="0" i="0"/>
              <a:t>, anche grazie alla </a:t>
            </a:r>
            <a:r>
              <a:rPr b="1" i="0"/>
              <a:t>rimozione parziale</a:t>
            </a:r>
            <a:r>
              <a:rPr b="0" i="0"/>
              <a:t> della coesina dai bracci. Tentare di separarli mentre sono ancora intrecciati causerebbe </a:t>
            </a:r>
            <a:r>
              <a:rPr b="1" i="0"/>
              <a:t>rotture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7AF73-E762-4BF7-8A25-707149B1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280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Cinque subunità nell’uomo</a:t>
            </a:r>
            <a:r>
              <a:t>. </a:t>
            </a:r>
            <a:r>
              <a:rPr b="0" i="0"/>
              <a:t>Le due condensine umane hanno SMC2 e SMC4 come impalcatura. La kleisina CAP-H nella I, CAP-H2 nella II, collega le </a:t>
            </a:r>
            <a:r>
              <a:rPr b="1" i="0"/>
              <a:t>teste</a:t>
            </a:r>
            <a:r>
              <a:rPr b="0" i="0"/>
              <a:t>; si associano CAP-D2 e CAP-G nella I, CAP-D3 e CAP-G2 nella II: cinque subunità per complesso.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FBF81-B907-4691-9A88-3C72A8A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251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Profase</a:t>
            </a:r>
            <a:r>
              <a:t>. </a:t>
            </a:r>
            <a:r>
              <a:rPr b="0" i="0"/>
              <a:t>Prima della demolizione dell’involucro, </a:t>
            </a:r>
            <a:r>
              <a:rPr b="1" i="0"/>
              <a:t>condensina II</a:t>
            </a:r>
            <a:r>
              <a:rPr b="0" i="0"/>
              <a:t> organizza grandi </a:t>
            </a:r>
            <a:r>
              <a:rPr b="1" i="0"/>
              <a:t>anse</a:t>
            </a:r>
            <a:r>
              <a:rPr b="0" i="0"/>
              <a:t> nello stesso cromatidio. Anse consecutive lungo un asse ne riducono la lunghezza: non collegano i due fratelli come la coesina.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8a5981d5b47c3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81004-BE30-4C53-92C3-A5B23EC0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44306-7594-4AF4-B1C7-7C9979DA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26/95 · 2/3    |    29/128</a:t>
            </a:r>
          </a:p>
        </p:txBody>
      </p:sp>
    </p:spTree>
    <p:extLst>
      <p:ext uri="{BB962C8B-B14F-4D97-AF65-F5344CB8AC3E}">
        <p14:creationId xmlns:p14="http://schemas.microsoft.com/office/powerpoint/2010/main" val="18115652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5D93D-DC1C-4F00-BD60-1D573E0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5B6E7-470D-40A1-8EF0-3CC1127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C1C1-FDF6-4ADC-A1E0-042FA2B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lavorano coesina, condensine e topoisomerasi?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2CC49-7F9A-4DE0-87CA-52D7E0B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Prometafase</a:t>
            </a:r>
            <a:r>
              <a:t>. </a:t>
            </a:r>
            <a:r>
              <a:rPr b="0" i="0"/>
              <a:t>Dopo l’apertura del nucleo, </a:t>
            </a:r>
            <a:r>
              <a:rPr b="1" i="0"/>
              <a:t>condensina I</a:t>
            </a:r>
            <a:r>
              <a:rPr b="0" i="0"/>
              <a:t> crea </a:t>
            </a:r>
            <a:r>
              <a:rPr b="1" i="0"/>
              <a:t>anse</a:t>
            </a:r>
            <a:r>
              <a:rPr b="0" i="0"/>
              <a:t> ulteriori annidate nelle precedenti, aumentando la compattazione.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9CE2D-1E59-4AE9-86D1-7FD0E10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Regolazione mediante fosforilazione</a:t>
            </a:r>
            <a:r>
              <a:t>. </a:t>
            </a:r>
            <a:r>
              <a:rPr b="0" i="0"/>
              <a:t>Le CDK mitotiche e Aurora B, un’altra chinasi, regolano le condensine. Aurora B fosforila anche l’istone H3, una proteina attorno a cui si organizza il </a:t>
            </a:r>
            <a:r>
              <a:rPr b="1" i="0"/>
              <a:t>DNA</a:t>
            </a:r>
            <a:r>
              <a:rPr b="0" i="0"/>
              <a:t>: modificare un istone è distinto dal modificare una subunità di condensina.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ef5c930e1460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DFF25-1458-44F7-B0EF-127E797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4ADFF-B324-477C-AF7C-F02E29B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26/95 · 3/3    |    30/128</a:t>
            </a:r>
          </a:p>
        </p:txBody>
      </p:sp>
    </p:spTree>
    <p:extLst>
      <p:ext uri="{BB962C8B-B14F-4D97-AF65-F5344CB8AC3E}">
        <p14:creationId xmlns:p14="http://schemas.microsoft.com/office/powerpoint/2010/main" val="11795745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D4D04-197D-48C0-BD5A-C8645527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923AB-90E0-451C-9313-2C6F2AC8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4DE26-AFD3-4ED5-BD82-BAAC40E8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coordinano i cambiamenti della mitosi?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0B9F3-B64F-450A-9C7E-35043957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Condensazione, fuso e </a:t>
            </a:r>
            <a:r>
              <a:rPr b="1" i="0"/>
              <a:t>involucro</a:t>
            </a:r>
            <a:r>
              <a:rPr b="0" i="0"/>
              <a:t> devono cambiare in modo coordinato.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8CF4A-5868-48B6-9DB8-0174A28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fosforilazione</a:t>
            </a:r>
            <a:r>
              <a:rPr b="0" i="0"/>
              <a:t> coordina strutture diverse; </a:t>
            </a:r>
            <a:r>
              <a:rPr b="1" i="0"/>
              <a:t>PLK1</a:t>
            </a:r>
            <a:r>
              <a:rPr b="0" i="0"/>
              <a:t> e le Aurora hanno localizzazioni e compiti distinti.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3FA35-4BEA-4707-9414-0D4B225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M-CDK modifica molti bersagli: le condensine regolano la compattazione; le lamine, proteine che sostengono l’</a:t>
            </a:r>
            <a:r>
              <a:rPr b="1" i="0"/>
              <a:t>involucro</a:t>
            </a:r>
            <a:r>
              <a:rPr b="0" i="0"/>
              <a:t> nucleare, ne regolano l’apertura.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8747-7262-4D42-A8D6-35B2ACDD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PLK1</a:t>
            </a:r>
            <a:r>
              <a:rPr b="0" i="0"/>
              <a:t>, Polo-like kinase 1, favorisce maturazione e separazione dei </a:t>
            </a:r>
            <a:r>
              <a:rPr b="1" i="0"/>
              <a:t>centrosomi</a:t>
            </a:r>
            <a:r>
              <a:rPr b="0" i="0"/>
              <a:t>. </a:t>
            </a:r>
            <a:r>
              <a:rPr b="1" i="0"/>
              <a:t>Aurora A</a:t>
            </a:r>
            <a:r>
              <a:rPr b="0" i="0"/>
              <a:t> regola proteine necessarie ad assemblaggio e stabilità del fuso bipolare.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0805E-3321-482C-825A-B9499EAB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Aurora B</a:t>
            </a:r>
            <a:r>
              <a:rPr b="0" i="0"/>
              <a:t> agisce sulla cromatina e sui collegamenti al centromero; partecipa anche al fuso centrale. Ha bersagli diversi da </a:t>
            </a:r>
            <a:r>
              <a:rPr b="1" i="0"/>
              <a:t>Aurora A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a8dfa72424c82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0D27D-C19A-42F7-BD04-CA5979EB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F5A31-50AB-4D9C-9D74-E30899F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27/95    |    31/128</a:t>
            </a:r>
          </a:p>
        </p:txBody>
      </p:sp>
    </p:spTree>
    <p:extLst>
      <p:ext uri="{BB962C8B-B14F-4D97-AF65-F5344CB8AC3E}">
        <p14:creationId xmlns:p14="http://schemas.microsoft.com/office/powerpoint/2010/main" val="13228131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23F5B-2D70-4F7F-9D2D-D4B2627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302D5-3DA5-4768-8C81-5542C0CE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CC583-3B4E-4E03-9E4E-8F2157A2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strutture cambiano con la fosforilazione mitotica?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9F88D-BB6B-4A08-81B0-B5CDE197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</a:t>
            </a:r>
            <a:r>
              <a:rPr b="1" i="0"/>
              <a:t>chinasi mitotiche</a:t>
            </a:r>
            <a:r>
              <a:rPr b="0" i="0"/>
              <a:t> raggiungono bersagli in compartimenti diversi.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AE159-374C-4963-A2C1-D6226918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Mitosi precoce e bersagli diretti</a:t>
            </a:r>
            <a:r>
              <a:t>. </a:t>
            </a:r>
            <a:r>
              <a:rPr b="0" i="0"/>
              <a:t>Altri bersagli sono istone H1, che organizza il </a:t>
            </a:r>
            <a:r>
              <a:rPr b="1" i="0"/>
              <a:t>DNA</a:t>
            </a:r>
            <a:r>
              <a:rPr b="0" i="0"/>
              <a:t>; nucleolina, coinvolta nella produzione degli </a:t>
            </a:r>
            <a:r>
              <a:rPr b="1" i="0"/>
              <a:t>RNA</a:t>
            </a:r>
            <a:r>
              <a:rPr b="0" i="0"/>
              <a:t> dei ribosomi, le strutture che sintetizzano </a:t>
            </a:r>
            <a:r>
              <a:rPr b="1" i="0"/>
              <a:t>proteine</a:t>
            </a:r>
            <a:r>
              <a:rPr b="0" i="0"/>
              <a:t>, nel nucleolo; catastrofina, che favorisce il disassemblaggio dei microtubuli, e MAP, proteine associate ai microtubuli. La regolazione coinvolge anche actina e Golgi.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4aee7e065450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21E13-B8D8-4ACD-9CA6-E1EB23B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F3429-5879-4EF2-8463-722F142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28/95    |    32/128</a:t>
            </a:r>
          </a:p>
        </p:txBody>
      </p:sp>
    </p:spTree>
    <p:extLst>
      <p:ext uri="{BB962C8B-B14F-4D97-AF65-F5344CB8AC3E}">
        <p14:creationId xmlns:p14="http://schemas.microsoft.com/office/powerpoint/2010/main" val="17454181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B2B31-2E75-496B-A1E4-11FD05CB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8F853-8645-4EBF-BAB7-B0CC996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A14B5-BEDF-4BF9-8E76-59143DB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costruisce il fuso che muove i cromosomi?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010E3-0CB1-46F5-ABF8-6A7AE59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Per muovere i </a:t>
            </a:r>
            <a:r>
              <a:rPr b="1" i="0"/>
              <a:t>cromosomi</a:t>
            </a:r>
            <a:r>
              <a:rPr b="0" i="0"/>
              <a:t> servono fibre dinamiche collegate a bersagli diversi.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FD71C-2D6D-4F33-B57F-11D9A91E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</a:t>
            </a:r>
            <a:r>
              <a:rPr b="1" i="0"/>
              <a:t>microtubuli</a:t>
            </a:r>
            <a:r>
              <a:rPr b="0" i="0"/>
              <a:t> costruiscono un fuso con estremità polarizzate.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36B63-2EB5-4DCD-BC2F-24BAFF59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642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</a:t>
            </a:r>
            <a:r>
              <a:rPr b="1" i="0"/>
              <a:t>microtubuli</a:t>
            </a:r>
            <a:r>
              <a:rPr b="0" i="0"/>
              <a:t> sono tubi di tubulina con </a:t>
            </a:r>
            <a:r>
              <a:rPr b="1" i="0"/>
              <a:t>estremità più</a:t>
            </a:r>
            <a:r>
              <a:rPr b="0" i="0"/>
              <a:t> e meno, non cariche elettriche. I </a:t>
            </a:r>
            <a:r>
              <a:rPr b="1" i="0"/>
              <a:t>cinetocorici</a:t>
            </a:r>
            <a:r>
              <a:rPr b="0" i="0"/>
              <a:t> collegano il polo al cinetocore tramite il più; più microtubuli interconnessi sullo stesso cinetocore formano una fibra 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9ACD2-C8D6-411D-838D-04C699E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Gli </a:t>
            </a:r>
            <a:r>
              <a:rPr b="1" i="0"/>
              <a:t>interpolari</a:t>
            </a:r>
            <a:r>
              <a:rPr b="0" i="0"/>
              <a:t> si sovrappongono con orientamento opposto: sono antiparalleli. Molti sono corti e instabili, con nucleazioni e connessioni interne: non tutti uniscono direttamente i due centrosomi.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2DB02-FE7F-4379-B378-79F39EE8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Gli </a:t>
            </a:r>
            <a:r>
              <a:rPr b="1" i="0"/>
              <a:t>astrali</a:t>
            </a:r>
            <a:r>
              <a:rPr b="0" i="0"/>
              <a:t> raggiungono la corteccia, lo strato ricco di actina sotto la membrana. Motori, collegamenti corticali e cambiamenti di lunghezza contribuiscono a posizionare il fuso.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4bda4968b477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B14E9-3A6C-4CB5-875B-C1D3302A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432F7-35A2-4482-B9A6-CFE3F442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29/95    |    33/128</a:t>
            </a:r>
          </a:p>
        </p:txBody>
      </p:sp>
    </p:spTree>
    <p:extLst>
      <p:ext uri="{BB962C8B-B14F-4D97-AF65-F5344CB8AC3E}">
        <p14:creationId xmlns:p14="http://schemas.microsoft.com/office/powerpoint/2010/main" val="4550611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9C490-A53D-4B0F-8EAD-FDDF1BC6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A1334-BCBD-4B92-9331-2858D066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8A8A3-B358-45B1-8663-CC359578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preparano due poli, una sola volta per ciclo?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E406-87C7-46BF-93D8-D151EC18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distribuzione richiede due organizzatori separati e un controllo della loro </a:t>
            </a:r>
            <a:r>
              <a:rPr b="1" i="0"/>
              <a:t>duplicazione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459A9-08F9-4EF8-B61B-3C339B8F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centrosoma comprende </a:t>
            </a:r>
            <a:r>
              <a:rPr b="1" i="0"/>
              <a:t>due centrioli</a:t>
            </a:r>
            <a:r>
              <a:rPr b="0" i="0"/>
              <a:t>, cilindri di microtubuli, e materiale pericentriolare attorno a essi. </a:t>
            </a:r>
            <a:r>
              <a:rPr b="1" i="0"/>
              <a:t>Duplicazione</a:t>
            </a:r>
            <a:r>
              <a:rPr b="0" i="0"/>
              <a:t> e </a:t>
            </a:r>
            <a:r>
              <a:rPr b="1" i="0"/>
              <a:t>separazione</a:t>
            </a:r>
            <a:r>
              <a:rPr b="0" i="0"/>
              <a:t> sono eventi distinti.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5DC72-659A-4AEB-AAD8-D244E29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Vicino alla fase S, E–CDK2 e </a:t>
            </a:r>
            <a:r>
              <a:rPr b="1" i="0"/>
              <a:t>PLK4</a:t>
            </a:r>
            <a:r>
              <a:rPr b="0" i="0"/>
              <a:t> favoriscono un </a:t>
            </a:r>
            <a:r>
              <a:rPr b="1" i="0"/>
              <a:t>procentriolo</a:t>
            </a:r>
            <a:r>
              <a:rPr b="0" i="0"/>
              <a:t>, un nuovo cilindro di microtubuli, sul fianco di ciascun centriolo preesistente. Il centriolo parentale maturo possiede appendici.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B27E1-A0BF-43B4-892B-2FDAE2AF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502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procentrioli </a:t>
            </a:r>
            <a:r>
              <a:rPr b="1" i="0"/>
              <a:t>si allungano</a:t>
            </a:r>
            <a:r>
              <a:rPr b="0" i="0"/>
              <a:t> durante S, generalmente completandosi in G2; le due coppie restano vicine.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529EE-6E9E-4999-B001-68AA72D1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Verso la mitosi, PLK1 favorisce l’espansione del </a:t>
            </a:r>
            <a:r>
              <a:rPr b="1" i="0"/>
              <a:t>materiale pericentriolare</a:t>
            </a:r>
            <a:r>
              <a:rPr b="0" i="0"/>
              <a:t>, la matrice proteica attorno ai centrioli. La rimozione del collegamento fra centrosomi permette la </a:t>
            </a:r>
            <a:r>
              <a:rPr b="1" i="0"/>
              <a:t>separazione</a:t>
            </a:r>
            <a:r>
              <a:rPr b="0" i="0"/>
              <a:t>; M-CDK ne accelera l’allontanamento. I due centrosomi organizzano i poli del fuso.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e8fb4aee94d0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AF147-1602-4B96-A6FA-CF3B8BB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D2623-D893-4B9A-B3E4-59EBE309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30/95    |    34/128</a:t>
            </a:r>
          </a:p>
        </p:txBody>
      </p:sp>
    </p:spTree>
    <p:extLst>
      <p:ext uri="{BB962C8B-B14F-4D97-AF65-F5344CB8AC3E}">
        <p14:creationId xmlns:p14="http://schemas.microsoft.com/office/powerpoint/2010/main" val="12893062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6D328-23E1-48EB-8F75-FC033D03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CBF9D-8000-4F0A-AF70-E670CD7E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80F9D-EADA-488D-A142-68F692E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Architettura del centrosoma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A2B4A-3FC0-4364-90AA-32FAFD0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centrioli sono immersi in </a:t>
            </a:r>
            <a:r>
              <a:rPr b="1" i="0"/>
              <a:t>materiale pericentriolare</a:t>
            </a:r>
            <a:r>
              <a:rPr b="0" i="0"/>
              <a:t> che recluta i nucleatori.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54C1B-8D74-471D-81F1-1F5B0F59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Tre categorie e scale diverse</a:t>
            </a:r>
            <a:r>
              <a:t>. </a:t>
            </a:r>
            <a:r>
              <a:rPr b="0" i="0"/>
              <a:t> I numeri dipendono dal modello: in tre fusi metafasici di cellule umane HeLa sono stati contati 6.278 ± 1.614 </a:t>
            </a:r>
            <a:r>
              <a:rPr b="1" i="0"/>
              <a:t>microtubuli</a:t>
            </a:r>
            <a:r>
              <a:rPr b="0" i="0"/>
              <a:t> per fuso (tomografia, 2022). In estratti di uova di Xenopus, una rana usata come organismo modello, la stima è circa 100.000 (geometria e densità, 2014).</a:t>
            </a:r>
            <a:r>
              <a:t>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09DE9-5BE9-4C10-9D74-2D82BBBB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Disaccoppiamento e conversione</a:t>
            </a:r>
            <a:r>
              <a:t>. </a:t>
            </a:r>
            <a:r>
              <a:rPr b="0" i="0"/>
              <a:t>A fine mitosi i centrioli si disaccoppiano. Il figlio diventa capace di reclutare </a:t>
            </a:r>
            <a:r>
              <a:rPr b="1" i="0"/>
              <a:t>materiale pericentriolare</a:t>
            </a:r>
            <a:r>
              <a:rPr b="0" i="0"/>
              <a:t> e duplicarsi: questa conversione autorizza un nuovo giro e limita duplicazioni ripetute. </a:t>
            </a:r>
            <a:r>
              <a:t> 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5041b29ff44c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97DBE-18A6-44BF-9D6C-68783A2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2B6FA-27A9-4CA5-9BFA-95E1EF82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31/95    |    35/128</a:t>
            </a:r>
          </a:p>
        </p:txBody>
      </p:sp>
    </p:spTree>
    <p:extLst>
      <p:ext uri="{BB962C8B-B14F-4D97-AF65-F5344CB8AC3E}">
        <p14:creationId xmlns:p14="http://schemas.microsoft.com/office/powerpoint/2010/main" val="667557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D55ED-AFE4-4CDB-8279-2C54335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0955A-6A40-4493-B865-4AD8144A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22039-F075-442F-9E8A-21A364F8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nascono nuove fibre all’interno del fuso?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5C04B-8E28-4F4D-8D56-058D65B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centrosoma da solo non spiega tutti i </a:t>
            </a:r>
            <a:r>
              <a:rPr b="1" i="0"/>
              <a:t>microtubuli</a:t>
            </a:r>
            <a:r>
              <a:rPr b="0" i="0"/>
              <a:t> del fuso.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C870F-5F5D-4823-8C82-194B5413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Costruire </a:t>
            </a:r>
            <a:r>
              <a:rPr b="1" i="0"/>
              <a:t>microtubuli</a:t>
            </a:r>
            <a:r>
              <a:rPr b="0" i="0"/>
              <a:t> ai poli, sul fuso e vicino ai cromosomi.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662C1-8B3C-4736-9917-736A76B1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752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γ-TuRC</a:t>
            </a:r>
            <a:r>
              <a:rPr b="0" i="0"/>
              <a:t>, complesso ad anello di </a:t>
            </a:r>
            <a:r>
              <a:rPr b="1" i="0"/>
              <a:t>γ-tubulina</a:t>
            </a:r>
            <a:r>
              <a:rPr b="0" i="0"/>
              <a:t>, nuclea un microtubulo: il meno resta presso il centrosoma e il più cresce nel citoplasma.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B3477-3416-446E-A06B-8F7B8A05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945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Augmina</a:t>
            </a:r>
            <a:r>
              <a:rPr b="0" i="0"/>
              <a:t> recluta </a:t>
            </a:r>
            <a:r>
              <a:rPr b="1" i="0"/>
              <a:t>γ-TuRC</a:t>
            </a:r>
            <a:r>
              <a:rPr b="0" i="0"/>
              <a:t> sul fianco di un microtubulo: nasce una ramificazione. Questa </a:t>
            </a:r>
            <a:r>
              <a:rPr b="1" i="0"/>
              <a:t>nucleazione</a:t>
            </a:r>
            <a:r>
              <a:rPr b="0" i="0"/>
              <a:t> interna alimenta una rete in continuo ricambio.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8DCBB-A48B-491E-8FE3-F2BA8F69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38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Vicino alla </a:t>
            </a:r>
            <a:r>
              <a:rPr b="1" i="0"/>
              <a:t>cromatina</a:t>
            </a:r>
            <a:r>
              <a:rPr b="0" i="0"/>
              <a:t>, Ran è un interruttore proteico: Ran-GTP è la forma attiva. Libera fattori che favoriscono il fuso e la produzione locale di </a:t>
            </a:r>
            <a:r>
              <a:rPr b="1" i="0"/>
              <a:t>microtubuli</a:t>
            </a:r>
            <a:r>
              <a:rPr b="0" i="0"/>
              <a:t>. Anche Aurora B contribuisce alla stabilizzazione locale.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ff725646241ec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0F5D2-15CA-4C51-9A44-9B141052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4C421-5BF1-4B92-ADD1-85230D52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32/95    |    36/128</a:t>
            </a:r>
          </a:p>
        </p:txBody>
      </p:sp>
    </p:spTree>
    <p:extLst>
      <p:ext uri="{BB962C8B-B14F-4D97-AF65-F5344CB8AC3E}">
        <p14:creationId xmlns:p14="http://schemas.microsoft.com/office/powerpoint/2010/main" val="18807604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7A54F-4B4D-433D-AB45-5ECF680B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6AD71-49D3-4422-A21D-5E48A9DF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3EDE1-CA42-44F4-8B3F-D0DC58E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formano fibre del fuso vicino ai cromosomi?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3723B-B13C-45E7-B9C4-3647BD6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Ran-GEF</a:t>
            </a:r>
            <a:r>
              <a:rPr b="0" i="0"/>
              <a:t> sulla cromatina genera una concentrazione locale elevata di </a:t>
            </a:r>
            <a:r>
              <a:rPr b="1" i="0"/>
              <a:t>Ran-GTP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3456C-DADB-476E-8F2C-DE6AACFC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Osservazione sperimentale</a:t>
            </a:r>
            <a:r>
              <a:t>. </a:t>
            </a:r>
            <a:r>
              <a:rPr b="0" i="0"/>
              <a:t>Spostando un cromosoma metafasico, nuovi microtubuli si formano vicino alla nuova posizione e quelli precedenti depolimerizzano. Un sensore fluorescente di </a:t>
            </a:r>
            <a:r>
              <a:rPr b="1" i="0"/>
              <a:t>Ran-GTP</a:t>
            </a:r>
            <a:r>
              <a:rPr b="0" i="0"/>
              <a:t> mostra inoltre attività elevata attorno alla cromatina.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4DDD9-21F3-4746-B149-BF10F51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198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 modello di cattura locale</a:t>
            </a:r>
            <a:r>
              <a:t>. </a:t>
            </a:r>
            <a:r>
              <a:rPr b="0" i="0"/>
              <a:t>Microtubuli corti possono associarsi al </a:t>
            </a:r>
            <a:r>
              <a:rPr b="1" i="0"/>
              <a:t>cinetocore</a:t>
            </a:r>
            <a:r>
              <a:rPr b="0" i="0"/>
              <a:t> con il più; la crescita li estende verso l’esterno. Il motore </a:t>
            </a:r>
            <a:r>
              <a:rPr b="1" i="0"/>
              <a:t>dineina</a:t>
            </a:r>
            <a:r>
              <a:rPr b="0" i="0"/>
              <a:t> connette le estremità meno alla rete e le concentra </a:t>
            </a:r>
            <a:r>
              <a:rPr b="1" i="0"/>
              <a:t>verso il polo</a:t>
            </a:r>
            <a:r>
              <a:rPr b="0" i="0"/>
              <a:t>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29357582141b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CD1F0-8543-4C9C-AA51-BB0FE3A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7911D-7F44-4DA5-A06E-3B32A568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33/95    |    37/128</a:t>
            </a:r>
          </a:p>
        </p:txBody>
      </p:sp>
    </p:spTree>
    <p:extLst>
      <p:ext uri="{BB962C8B-B14F-4D97-AF65-F5344CB8AC3E}">
        <p14:creationId xmlns:p14="http://schemas.microsoft.com/office/powerpoint/2010/main" val="3124627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85B36-CE48-4D06-9140-856C7049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8F3F5-FE55-4DEB-95ED-DCE556A2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0FCBA-2F00-44EE-B403-EFBCF487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una fibra crescere e poi accorciarsi?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94483-9C25-4D91-B6B1-59EF75BA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fuso deve </a:t>
            </a:r>
            <a:r>
              <a:rPr b="1" i="0"/>
              <a:t>esplorare</a:t>
            </a:r>
            <a:r>
              <a:rPr b="0" i="0"/>
              <a:t>, correggere e </a:t>
            </a:r>
            <a:r>
              <a:rPr b="1" i="0"/>
              <a:t>rimodellare</a:t>
            </a:r>
            <a:r>
              <a:rPr b="0" i="0"/>
              <a:t> i suoi collegamenti.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BF52C-A088-496D-8AE1-CC46D31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microtubulo cresce e </a:t>
            </a:r>
            <a:r>
              <a:rPr b="1" i="0"/>
              <a:t>si accorcia</a:t>
            </a:r>
            <a:r>
              <a:rPr b="0" i="0"/>
              <a:t> attraverso scambi di </a:t>
            </a:r>
            <a:r>
              <a:rPr b="1" i="0"/>
              <a:t>tubulina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7B25C-D98E-4A4D-A99F-CBCFC2BA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Dimeri di </a:t>
            </a:r>
            <a:r>
              <a:rPr b="1" i="0"/>
              <a:t>tubulina</a:t>
            </a:r>
            <a:r>
              <a:rPr b="0" i="0"/>
              <a:t> si aggiungono all’</a:t>
            </a:r>
            <a:r>
              <a:rPr b="1" i="0"/>
              <a:t>estremità più</a:t>
            </a:r>
            <a:r>
              <a:rPr b="0" i="0"/>
              <a:t>: il microtubulo si allunga.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B9F4-D8FE-4032-B152-BED8448E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perdita di stabilità all’estremità favorisce la </a:t>
            </a:r>
            <a:r>
              <a:rPr b="1" i="0"/>
              <a:t>catastrofe</a:t>
            </a:r>
            <a:r>
              <a:rPr b="0" i="0"/>
              <a:t>: subunità si staccano e il microtubulo </a:t>
            </a:r>
            <a:r>
              <a:rPr b="1" i="0"/>
              <a:t>si accorcia</a:t>
            </a:r>
            <a:r>
              <a:rPr b="0" i="0"/>
              <a:t>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b5b468d5540f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78461-49C9-42E3-BD34-139297A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306CA-BB81-43FF-80BC-50B9BA0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34/95    |    38/128</a:t>
            </a:r>
          </a:p>
        </p:txBody>
      </p:sp>
    </p:spTree>
    <p:extLst>
      <p:ext uri="{BB962C8B-B14F-4D97-AF65-F5344CB8AC3E}">
        <p14:creationId xmlns:p14="http://schemas.microsoft.com/office/powerpoint/2010/main" val="20688179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5B72C-003B-48DB-A6A2-380EA9AC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800B8-15A4-45DF-BBB9-0388DCD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94713-BBCD-4C9C-950A-D01863F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trasforma l’energia dell’ATP in movimento?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B1653-647B-486F-A6F4-9CB1D5C8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stessa fibra deve poter </a:t>
            </a:r>
            <a:r>
              <a:rPr b="1" i="0"/>
              <a:t>spostare un carico</a:t>
            </a:r>
            <a:r>
              <a:rPr b="0" i="0"/>
              <a:t>, un’altra fibra o un polo.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908F8-070B-445A-9529-5DB7144D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Motori e ancoraggi convertono </a:t>
            </a:r>
            <a:r>
              <a:rPr b="1" i="0"/>
              <a:t>ATP</a:t>
            </a:r>
            <a:r>
              <a:rPr b="0" i="0"/>
              <a:t> in forze orientate.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a9089ea2a4f3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6C7C1-EEB3-4274-A655-DD97BF6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38CCD-5D6C-4C7E-A788-69E0545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35/95    |    39/128</a:t>
            </a:r>
          </a:p>
        </p:txBody>
      </p:sp>
    </p:spTree>
    <p:extLst>
      <p:ext uri="{BB962C8B-B14F-4D97-AF65-F5344CB8AC3E}">
        <p14:creationId xmlns:p14="http://schemas.microsoft.com/office/powerpoint/2010/main" val="662798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F5C2D-E73F-4D91-9DAB-4485D97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A1816-853E-4700-8597-FB19C3DB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646C2-C59A-4274-A55A-2B84AD9F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motori producono le forze del fuso?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4CFE1-7418-4825-A092-B9BD8E7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Due coppie di teste di </a:t>
            </a:r>
            <a:r>
              <a:rPr b="1" i="0"/>
              <a:t>chinesina-5</a:t>
            </a:r>
            <a:r>
              <a:rPr b="0" i="0"/>
              <a:t> agiscono su microtubuli antiparalleli.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B4AE6-16E7-4D5E-A5B3-C264C565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Architettura della chinesina-5</a:t>
            </a:r>
            <a:r>
              <a:t>. </a:t>
            </a:r>
            <a:r>
              <a:rPr b="0" i="0"/>
              <a:t>È un </a:t>
            </a:r>
            <a:r>
              <a:rPr b="1" i="0"/>
              <a:t>tetramero</a:t>
            </a:r>
            <a:r>
              <a:rPr b="0" i="0"/>
              <a:t> con un dominio motore dimerico a ciascuna estremità: può legare contemporaneamente due microtubuli.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F22F7-CCA0-4C91-B33B-0C2757D3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Architettura della chinesina-14</a:t>
            </a:r>
            <a:r>
              <a:t>. </a:t>
            </a:r>
            <a:r>
              <a:rPr b="0" i="0"/>
              <a:t>Possiede un </a:t>
            </a:r>
            <a:r>
              <a:rPr b="1" i="0"/>
              <a:t>dominio motore dimerico</a:t>
            </a:r>
            <a:r>
              <a:rPr b="0" i="0"/>
              <a:t> e un secondo sito di legame al microtubulo. Le due regioni permettono di collegare fibre diverse.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57BB0-A636-481C-BC2F-E5A40E38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613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Ancoraggi della dineina</a:t>
            </a:r>
            <a:r>
              <a:t>. </a:t>
            </a:r>
            <a:r>
              <a:rPr b="0" i="0"/>
              <a:t>La </a:t>
            </a:r>
            <a:r>
              <a:rPr b="1" i="0"/>
              <a:t>dineina</a:t>
            </a:r>
            <a:r>
              <a:rPr b="0" i="0"/>
              <a:t> cammina verso il meno. Nel citoplasma collega microtubuli neoformati alla rete e concentra le estremità meno ai poli; l’ancoraggio alla </a:t>
            </a:r>
            <a:r>
              <a:rPr b="1" i="0"/>
              <a:t>corteccia</a:t>
            </a:r>
            <a:r>
              <a:rPr b="0" i="0"/>
              <a:t> cambia invece il punto su cui si esercita la forza.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CD1C8-38FD-4383-A0BD-63F3EB5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694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Depolimerizzazione al più</a:t>
            </a:r>
            <a:r>
              <a:t>. </a:t>
            </a:r>
            <a:r>
              <a:rPr b="0" i="0"/>
              <a:t>La </a:t>
            </a:r>
            <a:r>
              <a:rPr b="1" i="0"/>
              <a:t>perdita di tubulina</a:t>
            </a:r>
            <a:r>
              <a:rPr b="0" i="0"/>
              <a:t> al cinetocore trascina il cromosoma verso il polo. Questo contributo agisce già in prometafase/metafase e nell’anafase A. Il complesso di accoppiamento resta collegato all’estremità che si accorcia; </a:t>
            </a:r>
            <a:r>
              <a:rPr b="1" i="0"/>
              <a:t>NDC80</a:t>
            </a:r>
            <a:r>
              <a:rPr b="0" i="0"/>
              <a:t> verrà introdotta nel successivo ingrandimento.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4847049e04cff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68F69-DE4C-465C-8172-AFC2CBB2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ACDE6-7636-4D27-8921-F5853D6D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36/95 · 1/2    |    40/128</a:t>
            </a:r>
          </a:p>
        </p:txBody>
      </p:sp>
    </p:spTree>
    <p:extLst>
      <p:ext uri="{BB962C8B-B14F-4D97-AF65-F5344CB8AC3E}">
        <p14:creationId xmlns:p14="http://schemas.microsoft.com/office/powerpoint/2010/main" val="4866183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28CA6-DBB7-43E8-9E96-9ABE179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417C6-9CED-4C6D-AF8D-B8C11CF1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DCC31-69D5-4EAE-90A0-8CE4253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motori producono le forze del fuso?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D4C65-F4E4-4544-84AC-5269276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Flusso verso il polo</a:t>
            </a:r>
            <a:r>
              <a:t>. </a:t>
            </a:r>
            <a:r>
              <a:rPr b="0" i="0"/>
              <a:t>Il microtubulo stesso si sposta verso il polo, dove perde subunità al meno. Motori e </a:t>
            </a:r>
            <a:r>
              <a:rPr b="1" i="0"/>
              <a:t>depolimerizzazione</a:t>
            </a:r>
            <a:r>
              <a:rPr b="0" i="0"/>
              <a:t> contribuiscono: il cinetocore attaccato segue questo movimento, generando tensione e trasporto.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54f7eebe0472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036E7-3FDE-41E1-8551-E5C81FFA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7AED-984F-47B4-AE66-D8EC3F01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36/95 · 2/2    |    41/128</a:t>
            </a:r>
          </a:p>
        </p:txBody>
      </p:sp>
    </p:spTree>
    <p:extLst>
      <p:ext uri="{BB962C8B-B14F-4D97-AF65-F5344CB8AC3E}">
        <p14:creationId xmlns:p14="http://schemas.microsoft.com/office/powerpoint/2010/main" val="4615242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65277-2BD2-46C1-A59A-3510C77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6BA2E-35E3-498B-AFB8-E44018B7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5E6A0-096D-4469-8B6B-61C2A77D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raggiunge il fuso i cromosomi dentro il nucleo?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59449-31A2-4888-ABD8-034A3A8E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fuso citoplasmatico non può catturare </a:t>
            </a:r>
            <a:r>
              <a:rPr b="1" i="0"/>
              <a:t>cromosomi</a:t>
            </a:r>
            <a:r>
              <a:rPr b="0" i="0"/>
              <a:t> isolati da un </a:t>
            </a:r>
            <a:r>
              <a:rPr b="1" i="0"/>
              <a:t>involucro</a:t>
            </a:r>
            <a:r>
              <a:rPr b="0" i="0"/>
              <a:t> integro.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09E6F-CF41-489F-BCB7-B376EEB4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fuso deve raggiungere </a:t>
            </a:r>
            <a:r>
              <a:rPr b="1" i="0"/>
              <a:t>cromosomi</a:t>
            </a:r>
            <a:r>
              <a:rPr b="0" i="0"/>
              <a:t> inizialmente chiusi nel nucleo.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A3C45-DBF3-4CA0-80B8-0AE3D7B6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M-CDK e altre chinasi fosforilano lamine e </a:t>
            </a:r>
            <a:r>
              <a:rPr b="1" i="0"/>
              <a:t>proteine</a:t>
            </a:r>
            <a:r>
              <a:rPr b="0" i="0"/>
              <a:t> dei pori: gli assemblaggi nucleari si destabilizzano.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AB103-F342-4571-BDBD-EB03F38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lamina</a:t>
            </a:r>
            <a:r>
              <a:rPr b="0" i="0"/>
              <a:t> si disassembla e le membrane si riorganizzano nel reticolo endoplasmatico: il nucleo diventa accessibile.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23816-3CEC-4F49-96EF-FA7616C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38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</a:t>
            </a:r>
            <a:r>
              <a:rPr b="1" i="0"/>
              <a:t>microtubuli</a:t>
            </a:r>
            <a:r>
              <a:rPr b="0" i="0"/>
              <a:t> possono ora raggiungere i cinetocori e collegare i </a:t>
            </a:r>
            <a:r>
              <a:rPr b="1" i="0"/>
              <a:t>cromosomi</a:t>
            </a:r>
            <a:r>
              <a:rPr b="0" i="0"/>
              <a:t> al fuso.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8298a656c43b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61FB2-BF2E-41DB-8F54-1ABF92C8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D0F55-5028-4C2F-BA50-45FD1B8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37/95    |    42/128</a:t>
            </a:r>
          </a:p>
        </p:txBody>
      </p:sp>
    </p:spTree>
    <p:extLst>
      <p:ext uri="{BB962C8B-B14F-4D97-AF65-F5344CB8AC3E}">
        <p14:creationId xmlns:p14="http://schemas.microsoft.com/office/powerpoint/2010/main" val="10956402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89264-BB81-4B6E-B185-0AAF0E9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607B-63C7-4704-ABCC-B0333718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534D0-CA4D-4784-9354-6BD8477F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Che cosa accade a lamina, pori e membrane nucleari?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95CE3-7EB5-4F15-B05A-7CC1E86D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L’involucro nucleare comprende </a:t>
            </a:r>
            <a:r>
              <a:rPr b="1" i="0"/>
              <a:t>membrane</a:t>
            </a:r>
            <a:r>
              <a:rPr b="0" i="0"/>
              <a:t>, pori e una </a:t>
            </a:r>
            <a:r>
              <a:rPr b="1" i="0"/>
              <a:t>lamina</a:t>
            </a:r>
            <a:r>
              <a:rPr b="0" i="0"/>
              <a:t> proteica.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5EA27-07E4-482A-BEA5-6374670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Interfase</a:t>
            </a:r>
            <a:r>
              <a:t>. </a:t>
            </a:r>
            <a:r>
              <a:rPr b="1" i="0"/>
              <a:t>Lamine</a:t>
            </a:r>
            <a:r>
              <a:rPr b="0" i="0"/>
              <a:t> A, B e C sostengono il nucleo e l’organizzazione della cromatina. La membrana esterna continua nel </a:t>
            </a:r>
            <a:r>
              <a:rPr b="1" i="0"/>
              <a:t>reticolo endoplasmatico</a:t>
            </a:r>
            <a:r>
              <a:rPr b="0" i="0"/>
              <a:t>, RE, e può portare ribosomi. Immagini ottenute con GFP, proteina fluorescente verde usata come marcatore, seguono la </a:t>
            </a:r>
            <a:r>
              <a:rPr b="1" i="0"/>
              <a:t>lamina</a:t>
            </a:r>
            <a:r>
              <a:rPr b="0" i="0"/>
              <a:t> A da interfase a prometafase/metafase.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14686-7F1A-413D-AFFE-4B2A598D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Fosforilazione</a:t>
            </a:r>
            <a:r>
              <a:t>. </a:t>
            </a:r>
            <a:r>
              <a:rPr b="0" i="0"/>
              <a:t>Ciclina B–CDK1 fosforila residui di serina nelle </a:t>
            </a:r>
            <a:r>
              <a:rPr b="1" i="0"/>
              <a:t>lamine</a:t>
            </a:r>
            <a:r>
              <a:rPr b="0" i="0"/>
              <a:t>; anche PKC, protein-chinasi C, può contribuire alla regolazione della </a:t>
            </a:r>
            <a:r>
              <a:rPr b="1" i="0"/>
              <a:t>lamina</a:t>
            </a:r>
            <a:r>
              <a:rPr b="0" i="0"/>
              <a:t> B. I filamenti si depolimerizzano: A/C si disperdono nel citoplasma, B resta associata alle </a:t>
            </a:r>
            <a:r>
              <a:rPr b="1" i="0"/>
              <a:t>membrane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0C4A-9D74-4F5F-8C11-D069D71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059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Pori e membrane</a:t>
            </a:r>
            <a:r>
              <a:t>. </a:t>
            </a:r>
            <a:r>
              <a:rPr b="0" i="0"/>
              <a:t>Le CDK fosforilano nucleoporine (Nup), proteine dei </a:t>
            </a:r>
            <a:r>
              <a:rPr b="1" i="0"/>
              <a:t>pori</a:t>
            </a:r>
            <a:r>
              <a:rPr b="0" i="0"/>
              <a:t>, e proteine della membrana interna: i pori si disassemblano e diminuisce l’affinità per la cromatina.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f8e3817774bbc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4E940-2691-4F4C-9CA1-CD12F8D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BC401-297D-4B64-828A-8DCC7E32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38/95    |    43/128</a:t>
            </a:r>
          </a:p>
        </p:txBody>
      </p:sp>
    </p:spTree>
    <p:extLst>
      <p:ext uri="{BB962C8B-B14F-4D97-AF65-F5344CB8AC3E}">
        <p14:creationId xmlns:p14="http://schemas.microsoft.com/office/powerpoint/2010/main" val="10010085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2A05D-E0A9-4619-903C-FCFF898A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D3FED-0E32-4510-B8BE-12CAA2F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AF6AF-77C3-41BA-AAC8-A885C1AD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resta agganciato un cromosoma a una fibra che cambia?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B742D-5DD8-458B-AA04-3F0264D4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cromosoma ha bisogno di un’</a:t>
            </a:r>
            <a:r>
              <a:rPr b="1" i="0"/>
              <a:t>interfaccia resistente</a:t>
            </a:r>
            <a:r>
              <a:rPr b="0" i="0"/>
              <a:t> che resti agganciata mentre la fibra cambia.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9157A-AD40-4E97-B7F9-D43DBD8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Un’interfaccia proteica collega il </a:t>
            </a:r>
            <a:r>
              <a:rPr b="1" i="0"/>
              <a:t>centromero</a:t>
            </a:r>
            <a:r>
              <a:rPr b="0" i="0"/>
              <a:t> al </a:t>
            </a:r>
            <a:r>
              <a:rPr b="1" i="0"/>
              <a:t>microtubulo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F9311-7C03-4712-A691-1FD99356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7124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CENP-A</a:t>
            </a:r>
            <a:r>
              <a:rPr b="0" i="0"/>
              <a:t>, una variante dell’istone H3, identifica la cromatina centromerica sulla quale si organizza il </a:t>
            </a:r>
            <a:r>
              <a:rPr b="1" i="0"/>
              <a:t>cinetocore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20878-A614-40D9-B16D-7CF2AB4B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complessi interni e quelli esterni formano un collegamento continuo dal </a:t>
            </a:r>
            <a:r>
              <a:rPr b="1" i="0"/>
              <a:t>DNA</a:t>
            </a:r>
            <a:r>
              <a:rPr b="0" i="0"/>
              <a:t> al punto di attacco.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F1512-C5D7-4A40-9D6B-4A757C44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7730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NDC80</a:t>
            </a:r>
            <a:r>
              <a:rPr b="0" i="0"/>
              <a:t> e collaboratori come Ska accoppiano il cromosoma al </a:t>
            </a:r>
            <a:r>
              <a:rPr b="1" i="0"/>
              <a:t>microtubulo</a:t>
            </a:r>
            <a:r>
              <a:rPr b="0" i="0"/>
              <a:t>, anche mentre la sua estremità cambia lunghezza.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c1554b639436f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72DCE-8B3E-448B-9907-F5C69E79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CB76C-54F1-4194-BB57-D195F0CC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39/95    |    44/128</a:t>
            </a:r>
          </a:p>
        </p:txBody>
      </p:sp>
    </p:spTree>
    <p:extLst>
      <p:ext uri="{BB962C8B-B14F-4D97-AF65-F5344CB8AC3E}">
        <p14:creationId xmlns:p14="http://schemas.microsoft.com/office/powerpoint/2010/main" val="3781209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5ACA8-78B2-407A-96DB-C7E4D116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F9E16-8822-4C79-827F-3519E47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1D236-2A5D-4374-8A80-281526D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Basta agganciare un cromosoma per separarlo bene?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64438-CD70-4F96-862B-0669F38C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ricerca casuale dei microtubuli può produrre collegamenti con </a:t>
            </a:r>
            <a:r>
              <a:rPr b="1" i="0"/>
              <a:t>geometrie sbagliate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B8BE4-434A-42EA-AF74-1BD124DF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Confrontare le geometrie di attacco dei due </a:t>
            </a:r>
            <a:r>
              <a:rPr b="1" i="0"/>
              <a:t>cinetocori fratelli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D71DD-2AFB-47A3-98F0-D2F833F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Monotelico</a:t>
            </a:r>
            <a:r>
              <a:rPr b="0" i="0"/>
              <a:t>: un cinetocore è collegato, quello fratello è libero. Il collegamento mancante mantiene il segnale di attesa.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6A208-5ECC-474D-8B6D-71B4B6C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Sintelico</a:t>
            </a:r>
            <a:r>
              <a:rPr b="0" i="0"/>
              <a:t>: entrambi i cinetocori ricevono microtubuli dallo </a:t>
            </a:r>
            <a:r>
              <a:rPr b="1" i="0"/>
              <a:t>stesso polo</a:t>
            </a:r>
            <a:r>
              <a:rPr b="0" i="0"/>
              <a:t>. Gli attacchi devono essere destabilizzati e ritentati.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952B3-1C5E-457B-97DD-333B139E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Merotelico</a:t>
            </a:r>
            <a:r>
              <a:rPr b="0" i="0"/>
              <a:t>: un cinetocore riceve microtubuli da entrambi i poli. Può produrre un cromosoma ritardatario e sfuggire al controllo, perché nessun sito di attacco è necessariamente libero.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E809B-1BEB-48EE-A355-6136C77B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998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Anfitelico</a:t>
            </a:r>
            <a:r>
              <a:rPr b="0" i="0"/>
              <a:t>, o bi-orientamento: i </a:t>
            </a:r>
            <a:r>
              <a:rPr b="1" i="0"/>
              <a:t>cinetocori fratelli</a:t>
            </a:r>
            <a:r>
              <a:rPr b="0" i="0"/>
              <a:t> si collegano a </a:t>
            </a:r>
            <a:r>
              <a:rPr b="1" i="0"/>
              <a:t>poli opposti</a:t>
            </a:r>
            <a:r>
              <a:rPr b="0" i="0"/>
              <a:t>. La coesione contrasta la trazione e genera tensione; ricerca e correzione favoriscono questa geometria.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2469df9864c02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FDE03-D7A8-40A2-98D9-0690D865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6C604-1716-43D0-9DDA-4769AE0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40/95    |    45/128</a:t>
            </a:r>
          </a:p>
        </p:txBody>
      </p:sp>
    </p:spTree>
    <p:extLst>
      <p:ext uri="{BB962C8B-B14F-4D97-AF65-F5344CB8AC3E}">
        <p14:creationId xmlns:p14="http://schemas.microsoft.com/office/powerpoint/2010/main" val="16843941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D749E-0D2A-41F2-943C-1DCE734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979DC-1B34-4FDF-81AC-81E67EF9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D683C-D141-4264-A207-1EE09411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aspetta che tutti i cromosomi siano agganciati?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6C3AA-49EB-45B6-86CA-D87ADECB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Separare i fratelli prima che tutti siano collegati può far perdere </a:t>
            </a:r>
            <a:r>
              <a:rPr b="1" i="0"/>
              <a:t>cromosomi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2646E-1FC7-40CF-AAE8-E10EEF00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</a:t>
            </a:r>
            <a:r>
              <a:rPr b="1" i="0"/>
              <a:t>cinetocore non attaccato</a:t>
            </a:r>
            <a:r>
              <a:rPr b="0" i="0"/>
              <a:t> impedisce l’avvio prematuro dell’anafase.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4B8FC-75FF-41BC-9CDE-F1F14F96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cinetocore libero favorisce la formazione del MCC, il complesso di controllo mitotico: produce il segnale che fa </a:t>
            </a:r>
            <a:r>
              <a:rPr b="1" i="0"/>
              <a:t>attendere</a:t>
            </a:r>
            <a:r>
              <a:rPr b="0" i="0"/>
              <a:t> la cellula.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16D38-2362-4AC1-ABE6-C42DB636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MCC frena </a:t>
            </a:r>
            <a:r>
              <a:rPr b="1" i="0"/>
              <a:t>APC/C</a:t>
            </a:r>
            <a:r>
              <a:rPr b="0" i="0"/>
              <a:t>–</a:t>
            </a:r>
            <a:r>
              <a:rPr b="1" i="0"/>
              <a:t>Cdc20</a:t>
            </a:r>
            <a:r>
              <a:rPr b="0" i="0"/>
              <a:t>: securina rimane legata alla separasi, l’enzima che rimuove la coesione fra i fratelli, e la mantiene inibita.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48FFE-2B5A-4112-98B2-7DCA416A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Quando gli attacchi si completano, la produzione del segnale si spegne e MCC viene smontato: </a:t>
            </a:r>
            <a:r>
              <a:rPr b="1" i="0"/>
              <a:t>APC/C</a:t>
            </a:r>
            <a:r>
              <a:rPr b="0" i="0"/>
              <a:t> può avviare la degradazione.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7cbab88c14a01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612A1-BF7E-441B-B916-68803592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Costruire il fuso e controllare gli attacchi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75257-B0BF-4516-93D8-B794590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41/95    |    46/128</a:t>
            </a:r>
          </a:p>
        </p:txBody>
      </p:sp>
    </p:spTree>
    <p:extLst>
      <p:ext uri="{BB962C8B-B14F-4D97-AF65-F5344CB8AC3E}">
        <p14:creationId xmlns:p14="http://schemas.microsoft.com/office/powerpoint/2010/main" val="104635176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4C5E1-EDB6-449F-A9D9-ACCBF03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11906-FA4E-4163-84AA-8F1D9265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488C0-2553-473C-AB8A-C8F9EB3D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liberano i cromatidi fratelli al momento giusto?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6074D-BEDA-4724-B254-7C829F9C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fuso tira, ma la </a:t>
            </a:r>
            <a:r>
              <a:rPr b="1" i="0"/>
              <a:t>coesione</a:t>
            </a:r>
            <a:r>
              <a:rPr b="0" i="0"/>
              <a:t> deve essere rimossa per permettere la separazione.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F31B8-26B5-4375-BE72-C15BD79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Rimuovere il legame che trattiene i </a:t>
            </a:r>
            <a:r>
              <a:rPr b="1" i="0"/>
              <a:t>cromatidi fratelli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79503-E187-4BD5-B6C7-888CC025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642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APC/C</a:t>
            </a:r>
            <a:r>
              <a:rPr b="0" i="0"/>
              <a:t> marca securina per la degradazione nel proteasoma: viene rimosso il freno alla </a:t>
            </a:r>
            <a:r>
              <a:rPr b="1" i="0"/>
              <a:t>separasi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20A3-FCD9-4785-B5BE-919ED73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945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separasi</a:t>
            </a:r>
            <a:r>
              <a:rPr b="0" i="0"/>
              <a:t> libera, non il proteasoma, taglia RAD21 nella </a:t>
            </a:r>
            <a:r>
              <a:rPr b="1" i="0"/>
              <a:t>coesina</a:t>
            </a:r>
            <a:r>
              <a:rPr b="0" i="0"/>
              <a:t> residua: l’anello si apre.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799F7-629B-4257-91E2-348E1A26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1248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Persa la </a:t>
            </a:r>
            <a:r>
              <a:rPr b="1" i="0"/>
              <a:t>coesione</a:t>
            </a:r>
            <a:r>
              <a:rPr b="0" i="0"/>
              <a:t>, le forze del fuso separano i fratelli: ciascuno è ora un </a:t>
            </a:r>
            <a:r>
              <a:rPr b="1" i="0"/>
              <a:t>cromosoma figlio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fb120a2ba4abf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BA6C2-7D1E-4ECF-84A9-76145330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7A5CC-767A-49D1-A755-E5EF90B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42/95    |    47/128</a:t>
            </a:r>
          </a:p>
        </p:txBody>
      </p:sp>
    </p:spTree>
    <p:extLst>
      <p:ext uri="{BB962C8B-B14F-4D97-AF65-F5344CB8AC3E}">
        <p14:creationId xmlns:p14="http://schemas.microsoft.com/office/powerpoint/2010/main" val="133807927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B6034-DD28-490E-8074-7A89ADAC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2D71A-4D8B-4752-8C14-7BBAA824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14BFC-3A2B-4375-94C7-E97D2632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portano i cromosomi verso poli opposti?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EDF09-814B-425B-B4FB-4FF643E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Portare le copie in </a:t>
            </a:r>
            <a:r>
              <a:rPr b="1" i="0"/>
              <a:t>regioni distinte</a:t>
            </a:r>
            <a:r>
              <a:rPr b="0" i="0"/>
              <a:t> richiede più contributi al movimento.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C6C69-4EE6-48E1-8CD4-1FF2661C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Anafase A</a:t>
            </a:r>
            <a:r>
              <a:rPr b="0" i="0"/>
              <a:t> cambia la distanza </a:t>
            </a:r>
            <a:r>
              <a:rPr b="1" i="0"/>
              <a:t>cromosoma–polo</a:t>
            </a:r>
            <a:r>
              <a:rPr b="0" i="0"/>
              <a:t>; anafase B cambia la distanza fra i poli.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20472-55AA-43E9-8E29-67A57EF4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 </a:t>
            </a:r>
            <a:r>
              <a:rPr b="1" i="0"/>
              <a:t>anafase A</a:t>
            </a:r>
            <a:r>
              <a:rPr b="0" i="0"/>
              <a:t> i cromosomi si avvicinano ai poli: i microtubuli cinetocorici </a:t>
            </a:r>
            <a:r>
              <a:rPr b="1" i="0"/>
              <a:t>si accorciano</a:t>
            </a:r>
            <a:r>
              <a:rPr b="0" i="0"/>
              <a:t> mediante perdita di tubulina al più e flusso verso il polo.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6DEFF-BEC4-414E-8AEA-F8D39FF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 </a:t>
            </a:r>
            <a:r>
              <a:rPr b="1" i="0"/>
              <a:t>anafase B</a:t>
            </a:r>
            <a:r>
              <a:rPr b="0" i="0"/>
              <a:t> chinesina-5 fa scorrere gli interpolari e dineina corticale tira gli astrali: i poli </a:t>
            </a:r>
            <a:r>
              <a:rPr b="1" i="0"/>
              <a:t>si allontanano</a:t>
            </a:r>
            <a:r>
              <a:rPr b="0" i="0"/>
              <a:t>. Gli interpolari crescono al più, mantenendo la sovrapposizione.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B7CAE-78F3-4B6B-97C9-87D952E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A e B possono sovrapporsi: il cromosoma </a:t>
            </a:r>
            <a:r>
              <a:rPr b="1" i="0"/>
              <a:t>si avvicina</a:t>
            </a:r>
            <a:r>
              <a:rPr b="0" i="0"/>
              <a:t> al proprio polo mentre aumenta anche la distanza fra i due poli.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15baa0213433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DF89B-8781-4C86-82F4-E78E037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A8602-5383-4B74-88A4-6B052543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43/95    |    48/128</a:t>
            </a:r>
          </a:p>
        </p:txBody>
      </p:sp>
    </p:spTree>
    <p:extLst>
      <p:ext uri="{BB962C8B-B14F-4D97-AF65-F5344CB8AC3E}">
        <p14:creationId xmlns:p14="http://schemas.microsoft.com/office/powerpoint/2010/main" val="153849787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EEF61-3969-4B67-9F9B-43FD265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FA23B-A071-4EFF-A081-2FC1E62C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875E9-9342-4AB4-9B00-EC71A2FD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ricostruiscono due nuclei dopo la separazione?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00743-F2DC-4CEC-B1F8-E3E613F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Ogni figlia deve recuperare un </a:t>
            </a:r>
            <a:r>
              <a:rPr b="1" i="0"/>
              <a:t>compartimento nucleare</a:t>
            </a:r>
            <a:r>
              <a:rPr b="0" i="0"/>
              <a:t> e l’attività interfasica.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3FDFC-9CB1-4F51-83BD-D9DAE23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calo delle CDK</a:t>
            </a:r>
            <a:r>
              <a:rPr b="0" i="0"/>
              <a:t> permette alle fosfatasi di rimuovere modifiche mitotiche.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204DF-164C-4B80-A3FB-CCA7E19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 l’attività CDK ormai ridotta, le </a:t>
            </a:r>
            <a:r>
              <a:rPr b="1" i="0"/>
              <a:t>fosfatasi</a:t>
            </a:r>
            <a:r>
              <a:rPr b="0" i="0"/>
              <a:t> rimuovono fosfati dalle proteine nucleari: condensine e componenti dell’</a:t>
            </a:r>
            <a:r>
              <a:rPr b="1" i="0"/>
              <a:t>involucro</a:t>
            </a:r>
            <a:r>
              <a:rPr b="0" i="0"/>
              <a:t> possono tornare allo stato interfasico.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282F6-BB06-4B87-9A40-74C425F4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Membrane e proteine dell’</a:t>
            </a:r>
            <a:r>
              <a:rPr b="1" i="0"/>
              <a:t>involucro</a:t>
            </a:r>
            <a:r>
              <a:rPr b="0" i="0"/>
              <a:t> si riassemblano attorno ai due gruppi di cromosomi e formano due </a:t>
            </a:r>
            <a:r>
              <a:rPr b="1" i="0"/>
              <a:t>nuclei</a:t>
            </a:r>
            <a:r>
              <a:rPr b="0" i="0"/>
              <a:t>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7525C-F987-416A-ABC1-6E459EAA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0273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cromatina </a:t>
            </a:r>
            <a:r>
              <a:rPr b="1" i="0"/>
              <a:t>si decondensa</a:t>
            </a:r>
            <a:r>
              <a:rPr b="0" i="0"/>
              <a:t> e il fuso viene smontato. </a:t>
            </a:r>
            <a:r>
              <a:t> 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889daa135423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0445E-700B-4954-93FE-E2AD6CC0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85A36-5CC4-41F7-9A4C-B11DF7E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44/95    |    49/128</a:t>
            </a:r>
          </a:p>
        </p:txBody>
      </p:sp>
    </p:spTree>
    <p:extLst>
      <p:ext uri="{BB962C8B-B14F-4D97-AF65-F5344CB8AC3E}">
        <p14:creationId xmlns:p14="http://schemas.microsoft.com/office/powerpoint/2010/main" val="180599628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F4A0E-4612-4614-8DAE-1E255294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B2B9-F398-4410-B5F3-449E5D0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0E0D8-3855-47E1-9D8C-1EA81AA4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tornano a funzionare involucro e pori nucleari?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ED7DC-D9E0-4AA9-B928-9B03B83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calo delle CDK</a:t>
            </a:r>
            <a:r>
              <a:rPr b="0" i="0"/>
              <a:t> permette alle fosfatasi di rimuovere modifiche mitotiche.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4FD57-3F35-444E-824F-06B87A8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Cromatina e membrane</a:t>
            </a:r>
            <a:r>
              <a:t>. </a:t>
            </a:r>
            <a:r>
              <a:rPr b="1" i="0"/>
              <a:t>Proteine</a:t>
            </a:r>
            <a:r>
              <a:rPr b="0" i="0"/>
              <a:t> della membrana nucleare interna tornano a legare la cromatina; estensioni del reticolo endoplasmatico la avvolgono e si fondono.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2421F-8AAE-4BCE-B1B4-E99FB7C6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Pori e cariomeri</a:t>
            </a:r>
            <a:r>
              <a:t>. </a:t>
            </a:r>
            <a:r>
              <a:rPr b="0" i="0"/>
              <a:t>I sottocomplessi del complesso del poro nucleare, NPC, si riassemblano dopo la </a:t>
            </a:r>
            <a:r>
              <a:rPr b="1" i="0"/>
              <a:t>defosforilazione</a:t>
            </a:r>
            <a:r>
              <a:rPr b="0" i="0"/>
              <a:t>. </a:t>
            </a: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B43EF-C0EC-4CE6-A989-4DDE9A6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Lamina e trasporto</a:t>
            </a:r>
            <a:r>
              <a:t>. </a:t>
            </a:r>
            <a:r>
              <a:rPr b="0" i="0"/>
              <a:t>Si ricostituisce la </a:t>
            </a:r>
            <a:r>
              <a:rPr b="1" i="0"/>
              <a:t>lamina</a:t>
            </a:r>
            <a:r>
              <a:rPr b="0" i="0"/>
              <a:t> e il nucleo si espande. </a:t>
            </a:r>
            <a:r>
              <a:t> 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24daaec6c42e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5EADC-24D2-4A4B-8DEE-F5F7665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0423C-F8BC-4BDE-8B45-705C3929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45/95    |    50/128</a:t>
            </a:r>
          </a:p>
        </p:txBody>
      </p:sp>
    </p:spTree>
    <p:extLst>
      <p:ext uri="{BB962C8B-B14F-4D97-AF65-F5344CB8AC3E}">
        <p14:creationId xmlns:p14="http://schemas.microsoft.com/office/powerpoint/2010/main" val="172801962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86245-33B3-4519-AF09-83672F3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5C56A-C49E-4873-87F0-F38AE92D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C48C-EE14-4E2D-89D5-D7203996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divide il citoplasma fra le due cellule figlie?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D8D6F-79EE-43FE-9EB4-674DD1B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Due nuclei nello stesso citoplasma non sono ancora due </a:t>
            </a:r>
            <a:r>
              <a:rPr b="1" i="0"/>
              <a:t>cellule</a:t>
            </a:r>
            <a:r>
              <a:rPr b="0" i="0"/>
              <a:t>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2D022-9EE5-4216-B005-98B06295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L’anello contrae la corteccia; la separazione finale richiede il taglio del </a:t>
            </a:r>
            <a:r>
              <a:rPr b="1" i="0"/>
              <a:t>ponte</a:t>
            </a:r>
            <a:r>
              <a:rPr b="0" i="0"/>
              <a:t> di </a:t>
            </a:r>
            <a:r>
              <a:rPr b="1" i="0"/>
              <a:t>membrana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E4A5A-BCC0-44E5-A2BE-6815EF7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fuso centrale localizza ECT2, una proteina che attiva la piccola GTPasi RhoA. RhoA organizza all’equatore l’anello di </a:t>
            </a:r>
            <a:r>
              <a:rPr b="1" i="0"/>
              <a:t>actina</a:t>
            </a:r>
            <a:r>
              <a:rPr b="0" i="0"/>
              <a:t> e </a:t>
            </a:r>
            <a:r>
              <a:rPr b="1" i="0"/>
              <a:t>miosina</a:t>
            </a:r>
            <a:r>
              <a:rPr b="0" i="0"/>
              <a:t> II, con proteine strutturali e regolatrici.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1CEC4-4458-43F3-BDED-B9560534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miosina</a:t>
            </a:r>
            <a:r>
              <a:rPr b="0" i="0"/>
              <a:t> interagisce con l’actina: la corteccia si contrae e la </a:t>
            </a:r>
            <a:r>
              <a:rPr b="1" i="0"/>
              <a:t>membrana</a:t>
            </a:r>
            <a:r>
              <a:rPr b="0" i="0"/>
              <a:t> si invagina. Vescicole intracellulari forniscono membrana aggiuntiva; resta un sottile </a:t>
            </a:r>
            <a:r>
              <a:rPr b="1" i="0"/>
              <a:t>ponte</a:t>
            </a:r>
            <a:r>
              <a:rPr b="0" i="0"/>
              <a:t> fra le figlie.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9513A-177C-43DA-A131-ACE26327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Polimeri del complesso ESCRT-III restringono e tagliano la </a:t>
            </a:r>
            <a:r>
              <a:rPr b="1" i="0"/>
              <a:t>membrana</a:t>
            </a:r>
            <a:r>
              <a:rPr b="0" i="0"/>
              <a:t> del </a:t>
            </a:r>
            <a:r>
              <a:rPr b="1" i="0"/>
              <a:t>ponte</a:t>
            </a:r>
            <a:r>
              <a:rPr b="0" i="0"/>
              <a:t> fra le figlie: l’</a:t>
            </a:r>
            <a:r>
              <a:rPr b="1" i="0"/>
              <a:t>abscissione</a:t>
            </a:r>
            <a:r>
              <a:rPr b="0" i="0"/>
              <a:t> completa la separazione.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a1f67efa3462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7A4B2-0A76-43D8-A4CC-E0EDF721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3E45E-891E-47AE-83F2-CA5F66C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46/95    |    51/128</a:t>
            </a:r>
          </a:p>
        </p:txBody>
      </p:sp>
    </p:spTree>
    <p:extLst>
      <p:ext uri="{BB962C8B-B14F-4D97-AF65-F5344CB8AC3E}">
        <p14:creationId xmlns:p14="http://schemas.microsoft.com/office/powerpoint/2010/main" val="8411654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BD30C-02ED-46C9-9B43-DD48B38E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984AA-5171-46BA-AA66-4C69E39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BD627-2160-415C-A769-D13E0AB9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forma il solco nel punto giusto?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F1D7B-333B-47AD-8130-60504686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ECT2</a:t>
            </a:r>
            <a:r>
              <a:rPr b="0" i="0"/>
              <a:t> attiva RhoA: due rami organizzano actina e attività della </a:t>
            </a:r>
            <a:r>
              <a:rPr b="1" i="0"/>
              <a:t>miosina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538CE-AE98-4F3B-9EF9-BEA87F4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Ramo actina</a:t>
            </a:r>
            <a:r>
              <a:t>. </a:t>
            </a:r>
            <a:r>
              <a:rPr b="1" i="0"/>
              <a:t>RhoA</a:t>
            </a:r>
            <a:r>
              <a:rPr b="0" i="0"/>
              <a:t> attiva le formine, che nucleano filamenti lineari non ramificati per l’</a:t>
            </a:r>
            <a:r>
              <a:rPr b="1" i="0"/>
              <a:t>anello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85FF9-DC8E-430A-8D8C-CB2A0DB3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Ramo miosina</a:t>
            </a:r>
            <a:r>
              <a:t>. </a:t>
            </a:r>
            <a:r>
              <a:rPr b="1" i="0"/>
              <a:t>RhoA</a:t>
            </a:r>
            <a:r>
              <a:rPr b="0" i="0"/>
              <a:t> attiva chinasi, inclusa </a:t>
            </a:r>
            <a:r>
              <a:rPr b="1" i="0"/>
              <a:t>ROCK</a:t>
            </a:r>
            <a:r>
              <a:rPr b="0" i="0"/>
              <a:t>, la chinasi associata a Rho. ROCK fosforila la catena leggera regolatrice della </a:t>
            </a:r>
            <a:r>
              <a:rPr b="1" i="0"/>
              <a:t>miosina</a:t>
            </a:r>
            <a:r>
              <a:rPr b="0" i="0"/>
              <a:t> II, favorendo filamenti bipolari e attività motrice; il circuito contrasta anche la fosfatasi della miosina.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e253b4ada47b3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BA1E6-4D87-4070-A03B-076EDA58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794CA-F335-4A78-905A-CF8D062C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47/95    |    52/128</a:t>
            </a:r>
          </a:p>
        </p:txBody>
      </p:sp>
    </p:spTree>
    <p:extLst>
      <p:ext uri="{BB962C8B-B14F-4D97-AF65-F5344CB8AC3E}">
        <p14:creationId xmlns:p14="http://schemas.microsoft.com/office/powerpoint/2010/main" val="158976309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9EC64-18BC-4A5B-843E-61834ABA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4C03F-C9C5-4121-9CF4-FE9CB5EB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4213C-8F1A-4374-9E68-CAD97F67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distribuisce il Golgi alle due cellule figlie?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27756-3687-48E3-B94C-3803E764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DNA</a:t>
            </a:r>
            <a:r>
              <a:rPr b="0" i="0"/>
              <a:t> non è l’unico materiale necessario alla vita delle </a:t>
            </a:r>
            <a:r>
              <a:rPr b="1" i="0"/>
              <a:t>cellule</a:t>
            </a:r>
            <a:r>
              <a:rPr b="0" i="0"/>
              <a:t> figlie.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1F9B2-D4DC-45F6-98CA-FB6FEFA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Anche gli organelli devono essere distribuiti fra le due </a:t>
            </a:r>
            <a:r>
              <a:rPr b="1" i="0"/>
              <a:t>cellule</a:t>
            </a:r>
            <a:r>
              <a:rPr b="0" i="0"/>
              <a:t> figlie.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25BEC-5752-46B5-809F-9373D21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All’ingresso in mitosi, modifiche delle proteine del </a:t>
            </a:r>
            <a:r>
              <a:rPr b="1" i="0"/>
              <a:t>Golgi</a:t>
            </a:r>
            <a:r>
              <a:rPr b="0" i="0"/>
              <a:t> favoriscono </a:t>
            </a:r>
            <a:r>
              <a:rPr b="1" i="0"/>
              <a:t>frammentazione</a:t>
            </a:r>
            <a:r>
              <a:rPr b="0" i="0"/>
              <a:t> e riorganizzazione.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3374E-C834-4EFC-A260-1D8005CF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834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frammenti del </a:t>
            </a:r>
            <a:r>
              <a:rPr b="1" i="0"/>
              <a:t>Golgi</a:t>
            </a:r>
            <a:r>
              <a:rPr b="0" i="0"/>
              <a:t> </a:t>
            </a:r>
            <a:r>
              <a:rPr b="1" i="0"/>
              <a:t>si distribuiscono</a:t>
            </a:r>
            <a:r>
              <a:rPr b="0" i="0"/>
              <a:t> nelle regioni dei poli e nel citoplasma destinato alle due figlie.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59E57-28D2-40AB-A5C5-21F33C3D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38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 l’uscita dalla mitosi, ogni figlia </a:t>
            </a:r>
            <a:r>
              <a:rPr b="1" i="0"/>
              <a:t>ricostruisce</a:t>
            </a:r>
            <a:r>
              <a:rPr b="0" i="0"/>
              <a:t> il </a:t>
            </a:r>
            <a:r>
              <a:rPr b="1" i="0"/>
              <a:t>Golgi</a:t>
            </a:r>
            <a:r>
              <a:rPr b="0" i="0"/>
              <a:t> nel proprio citoplasma, all’esterno del nucleo.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a44c76c5f41b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EF39E-AF29-4034-A154-F055608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4E868-316C-47E5-BE57-8C735B4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48/95    |    53/128</a:t>
            </a:r>
          </a:p>
        </p:txBody>
      </p:sp>
    </p:spTree>
    <p:extLst>
      <p:ext uri="{BB962C8B-B14F-4D97-AF65-F5344CB8AC3E}">
        <p14:creationId xmlns:p14="http://schemas.microsoft.com/office/powerpoint/2010/main" val="91120248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F6F26-BEE6-464B-B5AB-EE073196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11899-C5DA-47C8-9F02-7EE078FC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5FB96-4AA6-4F80-A495-B434F66C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ricevono le cellule figlie gli altri organelli?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53C9F-8B73-4D3E-B34C-FA2F739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Gli organelli </a:t>
            </a:r>
            <a:r>
              <a:rPr b="1" i="0"/>
              <a:t>si ripartiscono</a:t>
            </a:r>
            <a:r>
              <a:rPr b="0" i="0"/>
              <a:t> con organizzazioni diverse; non sono tutti generati ex novo dopo la mitosi.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9DB97-6AA8-45CE-AE72-5108E66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Mitocondri e cloroplasti</a:t>
            </a:r>
            <a:r>
              <a:t>. </a:t>
            </a:r>
            <a:r>
              <a:rPr b="0" i="0"/>
              <a:t>La presenza in </a:t>
            </a:r>
            <a:r>
              <a:rPr b="1" i="0"/>
              <a:t>molte copie</a:t>
            </a:r>
            <a:r>
              <a:rPr b="0" i="0"/>
              <a:t> e l’aumento medio del loro numero durante il ciclo favoriscono l’eredità da parte di </a:t>
            </a:r>
            <a:r>
              <a:rPr b="1" i="0"/>
              <a:t>entrambe le figlie</a:t>
            </a:r>
            <a:r>
              <a:rPr b="0" i="0"/>
              <a:t>. I </a:t>
            </a:r>
            <a:r>
              <a:rPr b="1" i="0"/>
              <a:t>cloroplasti</a:t>
            </a:r>
            <a:r>
              <a:rPr b="0" i="0"/>
              <a:t> riguardano le cellule vegetali.</a:t>
            </a:r>
            <a:r>
              <a:t>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D4180-1945-4719-B216-8D4F283C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Reticolo endoplasmatico</a:t>
            </a:r>
            <a:r>
              <a:t>. </a:t>
            </a:r>
            <a:r>
              <a:rPr b="0" i="0"/>
              <a:t>In interfase è organizzato dai microtubuli e continuo con l’involucro nucleare. In M cambia organizzazione ma resta in gran parte </a:t>
            </a:r>
            <a:r>
              <a:rPr b="1" i="0"/>
              <a:t>integro</a:t>
            </a:r>
            <a:r>
              <a:rPr b="0" i="0"/>
              <a:t>, venendo ripartito durante la </a:t>
            </a:r>
            <a:r>
              <a:rPr b="1" i="0"/>
              <a:t>citodieresi</a:t>
            </a:r>
            <a:r>
              <a:rPr b="0" i="0"/>
              <a:t>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9e209438e4b7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5C2B2-2BB6-4ABA-965B-1EA7F66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6B849-265E-460E-B7E4-D920130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49/95    |    54/128</a:t>
            </a:r>
          </a:p>
        </p:txBody>
      </p:sp>
    </p:spTree>
    <p:extLst>
      <p:ext uri="{BB962C8B-B14F-4D97-AF65-F5344CB8AC3E}">
        <p14:creationId xmlns:p14="http://schemas.microsoft.com/office/powerpoint/2010/main" val="169497628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D02CA-0907-44A7-B7EB-122546AE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D7AE9-54D4-4B7E-AA5E-1CD528E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E5B9A-8EA1-4100-A8E0-E7F2D158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possono due figlie avere destini diversi?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8ABD3-2CC3-485D-9E9D-103A390F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Stesso genoma</a:t>
            </a:r>
            <a:r>
              <a:rPr b="0" i="0"/>
              <a:t> non obbliga a ricevere gli stessi determinanti citoplasmatici.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383BF-4AE2-4E25-99FA-1B258CF9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posizione del </a:t>
            </a:r>
            <a:r>
              <a:rPr b="1" i="0"/>
              <a:t>fuso</a:t>
            </a:r>
            <a:r>
              <a:rPr b="0" i="0"/>
              <a:t> e dei determinanti influenza ciò che eredita ciascuna figlia.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666C3-E032-4205-8423-950112D9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cellula può polarizzare componenti del citoplasma: alcuni determinanti, RNA o proteine che influenzano il </a:t>
            </a:r>
            <a:r>
              <a:rPr b="1" i="0"/>
              <a:t>destino cellulare</a:t>
            </a:r>
            <a:r>
              <a:rPr b="0" i="0"/>
              <a:t>, si concentrano da un lato.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5EF06-31A1-4503-A92C-C323527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Ancoraggi corticali e motori orientano o spostano il </a:t>
            </a:r>
            <a:r>
              <a:rPr b="1" i="0"/>
              <a:t>fuso</a:t>
            </a:r>
            <a:r>
              <a:rPr b="0" i="0"/>
              <a:t>: cambia il futuro piano di separazione.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E9469-3E2F-4BE8-A456-2ADAC9E9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0273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citodieresi distribuisce quantità diverse di citoplasma o determinanti: le figlie possono acquisire </a:t>
            </a:r>
            <a:r>
              <a:rPr b="1" i="0"/>
              <a:t>destini diversi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64662ca524808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24501-C636-4A05-8E6B-868F0A4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7E18F-8270-4F81-94AE-A0F3A9B5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50/95    |    55/128</a:t>
            </a:r>
          </a:p>
        </p:txBody>
      </p:sp>
    </p:spTree>
    <p:extLst>
      <p:ext uri="{BB962C8B-B14F-4D97-AF65-F5344CB8AC3E}">
        <p14:creationId xmlns:p14="http://schemas.microsoft.com/office/powerpoint/2010/main" val="868814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479E1-ECA8-401F-A451-DF11D731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2EB5E-CA88-4BBB-9083-369A9AE2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80374-123F-480B-BB19-3F17F18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Polarità, posizione del fuso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4B837-A8EC-4A42-A36F-F3995AAF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Posizione del fuso e </a:t>
            </a:r>
            <a:r>
              <a:rPr b="1" i="0"/>
              <a:t>determinanti</a:t>
            </a:r>
            <a:r>
              <a:rPr b="0" i="0"/>
              <a:t> citoplasmatici sono due controlli distinti della divisione asimmetrica.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62660-BA9E-44AC-8260-CD6FB37B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Divisione simmetrica</a:t>
            </a:r>
            <a:r>
              <a:t>. </a:t>
            </a:r>
            <a:r>
              <a:rPr b="0" i="0"/>
              <a:t>Astrali e motori corticali contribuiscono a centrare il fuso. Non basta dividere correttamente il </a:t>
            </a:r>
            <a:r>
              <a:rPr b="1" i="0"/>
              <a:t>DNA</a:t>
            </a:r>
            <a:r>
              <a:rPr b="0" i="0"/>
              <a:t>: anche posizione e orientamento del piano di </a:t>
            </a:r>
            <a:r>
              <a:rPr b="1" i="0"/>
              <a:t>divisione</a:t>
            </a:r>
            <a:r>
              <a:rPr b="0" i="0"/>
              <a:t> contano.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73320-46C3-4533-A4C2-7822652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PAR e staminali</a:t>
            </a:r>
            <a:r>
              <a:t>. </a:t>
            </a:r>
            <a:r>
              <a:rPr b="1" i="0"/>
              <a:t>PAR-3</a:t>
            </a:r>
            <a:r>
              <a:rPr b="0" i="0"/>
              <a:t>, PAR-6 e aPKC, una protein-chinasi C atipica, organizzano domini corticali; Numb e Prospero sono esempi di determinanti. Una figlia può </a:t>
            </a:r>
            <a:r>
              <a:rPr b="1" i="0"/>
              <a:t>autorinnovarsi</a:t>
            </a:r>
            <a:r>
              <a:rPr b="0" i="0"/>
              <a:t> e l’altra </a:t>
            </a:r>
            <a:r>
              <a:rPr b="1" i="0"/>
              <a:t>differenziarsi</a:t>
            </a:r>
            <a:r>
              <a:rPr b="0" i="0"/>
              <a:t>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a90c07ca84a62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EF80A-7FBC-492A-AC42-9CEE293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Separare e formare due cellule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7D340-D1C9-44F4-A52C-4AD9158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51/95    |    56/128</a:t>
            </a:r>
          </a:p>
        </p:txBody>
      </p:sp>
    </p:spTree>
    <p:extLst>
      <p:ext uri="{BB962C8B-B14F-4D97-AF65-F5344CB8AC3E}">
        <p14:creationId xmlns:p14="http://schemas.microsoft.com/office/powerpoint/2010/main" val="57078746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E87DB-4EDB-4782-A700-8DF7BC6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28114-B469-4AA8-B0E3-9D16A52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6CF89-7891-4FE3-A95E-6DB2D6B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Crescere, dividersi e sopravvivere sono la stessa cosa?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9C1F7-B7E2-4045-853C-B9FD3A45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Numero di cellule, massa e </a:t>
            </a:r>
            <a:r>
              <a:rPr b="1" i="0"/>
              <a:t>sopravvivenza</a:t>
            </a:r>
            <a:r>
              <a:rPr b="0" i="0"/>
              <a:t> sono proprietà diverse.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23465-A4FB-4B94-9276-9108A1A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Confrontiamo tre risposte: </a:t>
            </a:r>
            <a:r>
              <a:rPr b="1" i="0"/>
              <a:t>aumentare il numero</a:t>
            </a:r>
            <a:r>
              <a:rPr b="0" i="0"/>
              <a:t>, aumentare la massa, mantenere la vitalità.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6D7FA-13FE-41FE-B301-9EF1975F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Favoriscono la </a:t>
            </a:r>
            <a:r>
              <a:rPr b="1" i="0"/>
              <a:t>divisione</a:t>
            </a:r>
            <a:r>
              <a:rPr b="0" i="0"/>
              <a:t>, soprattutto aumentando le attività G1/G1-S-CDK e superando i freni intracellulari alla progressione.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958DC-097C-4B23-937D-D4D488F7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Aumentano la </a:t>
            </a:r>
            <a:r>
              <a:rPr b="1" i="0"/>
              <a:t>massa cellulare</a:t>
            </a:r>
            <a:r>
              <a:rPr b="0" i="0"/>
              <a:t>: più sintesi di proteine e macromolecole, minore degradazione, maggiore ingresso di nutrienti e produzione di ATP per la biosintesi.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FFA8E-4FA2-4B2F-A838-56ED0F5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Contrastano l’</a:t>
            </a:r>
            <a:r>
              <a:rPr b="1" i="0"/>
              <a:t>apoptosi</a:t>
            </a:r>
            <a:r>
              <a:rPr b="0" i="0"/>
              <a:t>, una forma di morte cellulare programmata. Esistono anche segnali extracellulari che inibiscono proliferazione o crescita, oppure riducono la </a:t>
            </a:r>
            <a:r>
              <a:rPr b="1" i="0"/>
              <a:t>sopravvivenza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7eadbde314495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8D716-04E0-434D-A9B1-78E6113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A719F-E0B9-4315-AC0D-30C32309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52/95    |    57/128</a:t>
            </a:r>
          </a:p>
        </p:txBody>
      </p:sp>
    </p:spTree>
    <p:extLst>
      <p:ext uri="{BB962C8B-B14F-4D97-AF65-F5344CB8AC3E}">
        <p14:creationId xmlns:p14="http://schemas.microsoft.com/office/powerpoint/2010/main" val="150704844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036FC-45CC-4EF5-8C45-D9EDB4D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10F49-6DE7-4920-913F-D6635B7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CA4C-0384-4306-ADE9-C52086B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arriva un segnale esterno fino ai geni?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54E38-257E-494B-B931-52433BD3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</a:t>
            </a:r>
            <a:r>
              <a:rPr b="1" i="0"/>
              <a:t>recettore</a:t>
            </a:r>
            <a:r>
              <a:rPr b="0" i="0"/>
              <a:t> deve trasmettere il segnale fino ai regolatori della fase 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9ECED-26A5-496D-87C4-4B63A13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segnale esterno modifica l’</a:t>
            </a:r>
            <a:r>
              <a:rPr b="1" i="0"/>
              <a:t>attività dei geni</a:t>
            </a:r>
            <a:r>
              <a:rPr b="0" i="0"/>
              <a:t> nel nucleo.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C5772-D729-46DF-81CA-40635066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642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fattore extracellulare lega un </a:t>
            </a:r>
            <a:r>
              <a:rPr b="1" i="0"/>
              <a:t>recettore</a:t>
            </a:r>
            <a:r>
              <a:rPr b="0" i="0"/>
              <a:t>: il legame modifica la segnalazione sul lato interno della membrana.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1084D-0C54-4712-A564-60B97EC5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9455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RAS</a:t>
            </a:r>
            <a:r>
              <a:rPr b="0" i="0"/>
              <a:t>, una piccola GTPasi, attiva </a:t>
            </a:r>
            <a:r>
              <a:rPr b="1" i="0"/>
              <a:t>MAPK</a:t>
            </a:r>
            <a:r>
              <a:rPr b="0" i="0"/>
              <a:t>: la cascata modifica regolatori già presenti e induce geni precoci immediati, fra cui MYC. La </a:t>
            </a:r>
            <a:r>
              <a:rPr b="1" i="0"/>
              <a:t>trascrizione</a:t>
            </a:r>
            <a:r>
              <a:rPr b="0" i="0"/>
              <a:t> produce RNA messaggero (mRNA) dal DNA; i ribosomi ne usano l’informazione per sintetizzare proteine. È la prima risposta trascrizionale.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42EE4-0456-44FE-877E-C1BBF9A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916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proteina </a:t>
            </a:r>
            <a:r>
              <a:rPr b="1" i="0"/>
              <a:t>MYC</a:t>
            </a:r>
            <a:r>
              <a:rPr b="0" i="0"/>
              <a:t> appena sintetizzata induce un secondo gruppo di geni, aumentando ciclina D–CDK4/6. Questa </a:t>
            </a:r>
            <a:r>
              <a:rPr b="1" i="0"/>
              <a:t>risposta ritardata</a:t>
            </a:r>
            <a:r>
              <a:rPr b="0" i="0"/>
              <a:t> richiede nuova trascrizione e </a:t>
            </a:r>
            <a:r>
              <a:rPr b="1" i="0"/>
              <a:t>sintesi proteica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27fc8b52d44e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5A0CC-A0DE-46BF-A13D-840A2B7D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DD704-A592-4E0B-B439-2D8C4983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53/95    |    58/128</a:t>
            </a:r>
          </a:p>
        </p:txBody>
      </p:sp>
    </p:spTree>
    <p:extLst>
      <p:ext uri="{BB962C8B-B14F-4D97-AF65-F5344CB8AC3E}">
        <p14:creationId xmlns:p14="http://schemas.microsoft.com/office/powerpoint/2010/main" val="72002960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B6DCC-F434-4944-94C8-7CFF90E0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36BA0-6E70-4C46-BE17-42C320FD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A9A47-45C7-49E5-BAF0-1A1B63B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aumenta la massa di una cellula?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9F85A-41CB-4301-8562-C7BB3541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Dividere una cellula senza ricostruire </a:t>
            </a:r>
            <a:r>
              <a:rPr b="1" i="0"/>
              <a:t>massa e componenti</a:t>
            </a:r>
            <a:r>
              <a:rPr b="0" i="0"/>
              <a:t> produrrebbe figlie sempre più piccole.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5F2D4-B199-4B43-9D40-85BD51DE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mTORC1</a:t>
            </a:r>
            <a:r>
              <a:rPr b="0" i="0"/>
              <a:t> agisce nel citoplasma, spesso sulla superficie lisosomiale; integra segnali e disponibilità di risorse.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6B017-704C-472B-B8EB-9699A97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Il fattore extracellulare lega il recettore. </a:t>
            </a:r>
            <a:r>
              <a:rPr b="1" i="0"/>
              <a:t>PI3K</a:t>
            </a:r>
            <a:r>
              <a:rPr b="0" i="0"/>
              <a:t>, una chinasi che modifica lipidi di membrana, e </a:t>
            </a:r>
            <a:r>
              <a:rPr b="1" i="0"/>
              <a:t>AKT</a:t>
            </a:r>
            <a:r>
              <a:rPr b="0" i="0"/>
              <a:t>, una protein-chinasi, trasmettono il segnale verso </a:t>
            </a:r>
            <a:r>
              <a:rPr b="1" i="0"/>
              <a:t>mTORC1</a:t>
            </a:r>
            <a:r>
              <a:rPr b="0" i="0"/>
              <a:t>, il complesso che coordina la crescita.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8DF9A-622B-40F7-BBF5-7D3C81B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613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mTORC1</a:t>
            </a:r>
            <a:r>
              <a:rPr b="0" i="0"/>
              <a:t> integra il segnale con amminoacidi, altri </a:t>
            </a:r>
            <a:r>
              <a:rPr b="1" i="0"/>
              <a:t>nutrienti</a:t>
            </a:r>
            <a:r>
              <a:rPr b="0" i="0"/>
              <a:t> ed energia: la superficie del </a:t>
            </a:r>
            <a:r>
              <a:rPr b="1" i="0"/>
              <a:t>lisosoma</a:t>
            </a:r>
            <a:r>
              <a:rPr b="0" i="0"/>
              <a:t> è un importante luogo di questa regolazione.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AC760-2CC6-427B-9D4F-44D413B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Quando è attivo, </a:t>
            </a:r>
            <a:r>
              <a:rPr b="1" i="0"/>
              <a:t>mTORC1</a:t>
            </a:r>
            <a:r>
              <a:rPr b="0" i="0"/>
              <a:t> favorisce sintesi di proteine e lipidi e frena l’avvio dell’</a:t>
            </a:r>
            <a:r>
              <a:rPr b="1" i="0"/>
              <a:t>autofagia</a:t>
            </a:r>
            <a:r>
              <a:rPr b="0" i="0"/>
              <a:t>, il riciclo di componenti cellulari: aumentano i componenti disponibili per la crescita.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67be28fbb4ee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6445E-36C8-4A25-9E3C-D6C7040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36186-9DAB-4D93-A3E4-EC6BB6FC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54/95    |    59/128</a:t>
            </a:r>
          </a:p>
        </p:txBody>
      </p:sp>
    </p:spTree>
    <p:extLst>
      <p:ext uri="{BB962C8B-B14F-4D97-AF65-F5344CB8AC3E}">
        <p14:creationId xmlns:p14="http://schemas.microsoft.com/office/powerpoint/2010/main" val="175551749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BA973-9590-4413-8C9C-EE7A81D6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C1111-65A2-4D48-B84A-95897713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5E9E0-2D30-44D8-A22B-D6298945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coordina mTORC1 la crescita cellulare?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30ACF-D8F5-40DD-9D2B-F125E20C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4E-BP</a:t>
            </a:r>
            <a:r>
              <a:rPr b="0" i="0"/>
              <a:t> lega e frena </a:t>
            </a:r>
            <a:r>
              <a:rPr b="1" i="0"/>
              <a:t>eIF4E</a:t>
            </a:r>
            <a:r>
              <a:rPr b="0" i="0"/>
              <a:t>; la fosforilazione riduce questo legame.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CF375-52A3-4387-BD39-7945255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S6K1 e lipina</a:t>
            </a:r>
            <a:r>
              <a:t>. </a:t>
            </a:r>
            <a:r>
              <a:rPr b="0" i="0"/>
              <a:t>mTORC1 agisce attraverso </a:t>
            </a:r>
            <a:r>
              <a:rPr b="1" i="0"/>
              <a:t>S6K1</a:t>
            </a:r>
            <a:r>
              <a:rPr b="0" i="0"/>
              <a:t> e lipina sul regolatore trascrizionale </a:t>
            </a:r>
            <a:r>
              <a:rPr b="1" i="0"/>
              <a:t>SREBP</a:t>
            </a:r>
            <a:r>
              <a:rPr b="0" i="0"/>
              <a:t>: aumenta l’espressione dei geni della </a:t>
            </a:r>
            <a:r>
              <a:rPr b="1" i="0"/>
              <a:t>sintesi lipidica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D1560-FB22-4A7C-9BF8-0293B695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ULK1</a:t>
            </a:r>
            <a:r>
              <a:t>. </a:t>
            </a:r>
            <a:r>
              <a:rPr b="0" i="0"/>
              <a:t>La fosforilazione di </a:t>
            </a:r>
            <a:r>
              <a:rPr b="1" i="0"/>
              <a:t>ULK1</a:t>
            </a:r>
            <a:r>
              <a:rPr b="0" i="0"/>
              <a:t> da parte di mTORC1 ne riduce la capacità di promuovere l’</a:t>
            </a:r>
            <a:r>
              <a:rPr b="1" i="0"/>
              <a:t>autofagia</a:t>
            </a:r>
            <a:r>
              <a:t> 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57466917d466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49BE3-ADE8-4B46-97D1-1F70B658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FBF0D-5A3A-4234-A5FD-9650EC5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55/95    |    60/128</a:t>
            </a:r>
          </a:p>
        </p:txBody>
      </p:sp>
    </p:spTree>
    <p:extLst>
      <p:ext uri="{BB962C8B-B14F-4D97-AF65-F5344CB8AC3E}">
        <p14:creationId xmlns:p14="http://schemas.microsoft.com/office/powerpoint/2010/main" val="72142357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F51D3-2916-4ACB-A531-A3CF596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D542E-1548-4540-9531-F477DA8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8F46C-9F1A-4056-BC36-5E080B63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ferma il ciclo quando il DNA è danneggiato?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F5CF7-397F-4AA6-98E1-03B5CF7F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</a:t>
            </a:r>
            <a:r>
              <a:rPr b="1" i="0"/>
              <a:t>lesione</a:t>
            </a:r>
            <a:r>
              <a:rPr b="0" i="0"/>
              <a:t> o una </a:t>
            </a:r>
            <a:r>
              <a:rPr b="1" i="0"/>
              <a:t>forcella bloccata</a:t>
            </a:r>
            <a:r>
              <a:rPr b="0" i="0"/>
              <a:t> richiedono una risposta prima della progressione.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08FD3-1DF6-4551-91C3-5E6240A1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danno al </a:t>
            </a:r>
            <a:r>
              <a:rPr b="1" i="0"/>
              <a:t>DNA</a:t>
            </a:r>
            <a:r>
              <a:rPr b="0" i="0"/>
              <a:t> deve fermare la progressione prima di essere trasmesso.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3DCBA-04BC-4D4C-A0DF-86A1AC8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ATM</a:t>
            </a:r>
            <a:r>
              <a:rPr b="0" i="0"/>
              <a:t> e </a:t>
            </a:r>
            <a:r>
              <a:rPr b="1" i="0"/>
              <a:t>ATR</a:t>
            </a:r>
            <a:r>
              <a:rPr b="0" i="0"/>
              <a:t> sono chinasi della risposta al danno: complessi che riconoscono una </a:t>
            </a:r>
            <a:r>
              <a:rPr b="1" i="0"/>
              <a:t>lesione</a:t>
            </a:r>
            <a:r>
              <a:rPr b="0" i="0"/>
              <a:t> o una replicazione bloccata le reclutano e le attivano.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8A061-EB75-494E-83E0-53AD04F6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rete attiva </a:t>
            </a:r>
            <a:r>
              <a:rPr b="1" i="0"/>
              <a:t>CHK1</a:t>
            </a:r>
            <a:r>
              <a:rPr b="0" i="0"/>
              <a:t> e </a:t>
            </a:r>
            <a:r>
              <a:rPr b="1" i="0"/>
              <a:t>CHK2</a:t>
            </a:r>
            <a:r>
              <a:rPr b="0" i="0"/>
              <a:t>, chinasi di checkpoint: fosforilano e inibiscono </a:t>
            </a:r>
            <a:r>
              <a:rPr b="1" i="0"/>
              <a:t>Cdc25</a:t>
            </a:r>
            <a:r>
              <a:rPr b="0" i="0"/>
              <a:t>, lasciando i fosfati inibitori sulle CDK. L’ingresso in mitosi resta bloccato anche se la replicazione è incompleta: il DNA deve essere interamente copiato.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59249-A0D9-467E-A2F3-05C171B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6949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p53</a:t>
            </a:r>
            <a:r>
              <a:rPr b="0" i="0"/>
              <a:t> è un fattore trascrizionale: quando viene stabilizzato induce </a:t>
            </a:r>
            <a:r>
              <a:rPr b="1" i="0"/>
              <a:t>p21</a:t>
            </a:r>
            <a:r>
              <a:rPr b="0" i="0"/>
              <a:t>. Questa CKI lega e inibisce G1/S-CDK e S-CDK, contribuendo all’</a:t>
            </a:r>
            <a:r>
              <a:rPr b="1" i="0"/>
              <a:t>arresto in G1</a:t>
            </a:r>
            <a:r>
              <a:rPr b="0" i="0"/>
              <a:t>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9fdebb5064de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C6C16-DB4F-4DDF-A78B-F4D6444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AC388-EB24-4555-8853-0C4D3104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56/95    |    61/128</a:t>
            </a:r>
          </a:p>
        </p:txBody>
      </p:sp>
    </p:spTree>
    <p:extLst>
      <p:ext uri="{BB962C8B-B14F-4D97-AF65-F5344CB8AC3E}">
        <p14:creationId xmlns:p14="http://schemas.microsoft.com/office/powerpoint/2010/main" val="22184719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B3D54-4E74-4334-BAE1-E645F74B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3139A-BCB5-4C45-A3A5-E4EF0D0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F954C-69B7-44EB-B04B-98B2A63A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viene segnalato il danno fino a bloccare le CDK?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BE5CF-E332-4805-ADB2-E4AB824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Lesioni diverse mobilitano </a:t>
            </a:r>
            <a:r>
              <a:rPr b="1" i="0"/>
              <a:t>sensori</a:t>
            </a:r>
            <a:r>
              <a:rPr b="0" i="0"/>
              <a:t>, </a:t>
            </a:r>
            <a:r>
              <a:rPr b="1" i="0"/>
              <a:t>chinasi</a:t>
            </a:r>
            <a:r>
              <a:rPr b="0" i="0"/>
              <a:t> e vie di risposta parzialmente differenti.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5C3BC-959F-40A6-90F3-FE9A612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Che cosa viene rilevato</a:t>
            </a:r>
            <a:r>
              <a:t>. </a:t>
            </a:r>
            <a:r>
              <a:rPr b="1" i="0"/>
              <a:t>Rotture del doppio filamento</a:t>
            </a:r>
            <a:r>
              <a:rPr b="0" i="0"/>
              <a:t>, forcelle di replicazione in stallo, appaiamenti errati e danni ai nucleotidi. Complessi sulla cromatina reclutano le </a:t>
            </a:r>
            <a:r>
              <a:rPr b="1" i="0"/>
              <a:t>chinasi</a:t>
            </a:r>
            <a:r>
              <a:rPr b="0" i="0"/>
              <a:t> nei siti interessati.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FDDFF-ED52-4D6E-AC91-DFC932C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Tre nomi a monte</a:t>
            </a:r>
            <a:r>
              <a:t>. </a:t>
            </a:r>
            <a:r>
              <a:rPr b="1" i="0"/>
              <a:t>ATM</a:t>
            </a:r>
            <a:r>
              <a:rPr b="0" i="0"/>
              <a:t> (Ataxia Telangiectasia Mutated) e ATR (ATM and Rad3-related) sono </a:t>
            </a:r>
            <a:r>
              <a:rPr b="1" i="0"/>
              <a:t>chinasi</a:t>
            </a:r>
            <a:r>
              <a:rPr b="0" i="0"/>
              <a:t> della risposta al danno. DNA-PK (DNA-dependent Protein Kinase) è una chinasi coinvolta nel riparo delle </a:t>
            </a:r>
            <a:r>
              <a:rPr b="1" i="0"/>
              <a:t>rotture del doppio filamento</a:t>
            </a:r>
            <a:r>
              <a:rPr b="0" i="0"/>
              <a:t>. Il reclutamento dipende dal tipo di lesione. </a:t>
            </a: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EE002-72D1-470F-ABE4-EFD16E4A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280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Senza danno</a:t>
            </a:r>
            <a:r>
              <a:t>. </a:t>
            </a:r>
            <a:r>
              <a:rPr b="1" i="0"/>
              <a:t>p53</a:t>
            </a:r>
            <a:r>
              <a:rPr b="0" i="0"/>
              <a:t> è normalmente poco abbondante e instabile: </a:t>
            </a:r>
            <a:r>
              <a:rPr b="1" i="0"/>
              <a:t>MDM2</a:t>
            </a:r>
            <a:r>
              <a:rPr b="0" i="0"/>
              <a:t>, ubiquitina-ligasi, ne favorisce ubiquitinazione e distruzione nel proteasoma.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60D23-DE16-45A3-AA3A-049B384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473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 danno</a:t>
            </a:r>
            <a:r>
              <a:t>. </a:t>
            </a:r>
            <a:r>
              <a:rPr b="1" i="0"/>
              <a:t>ATM</a:t>
            </a:r>
            <a:r>
              <a:rPr b="0" i="0"/>
              <a:t>/ATR e </a:t>
            </a:r>
            <a:r>
              <a:rPr b="1" i="0"/>
              <a:t>chinasi</a:t>
            </a:r>
            <a:r>
              <a:rPr b="0" i="0"/>
              <a:t> a valle come CHK1/CHK2 favoriscono fosforilazioni che riducono l’interazione p53–</a:t>
            </a:r>
            <a:r>
              <a:rPr b="1" i="0"/>
              <a:t>MDM2</a:t>
            </a:r>
            <a:r>
              <a:rPr b="0" i="0"/>
              <a:t>. In alcuni contesti contribuiscono anche modifiche di MDM2 o una sua minore produzione.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04227293b498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F2651-E7EC-492F-BD0D-F0B26BA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8CD2D-7238-414D-BCD5-55966B2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57/95 · 1/2    |    62/128</a:t>
            </a:r>
          </a:p>
        </p:txBody>
      </p:sp>
    </p:spTree>
    <p:extLst>
      <p:ext uri="{BB962C8B-B14F-4D97-AF65-F5344CB8AC3E}">
        <p14:creationId xmlns:p14="http://schemas.microsoft.com/office/powerpoint/2010/main" val="12720928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6C1B5-CA6A-4D8E-B1F4-50C9B6C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CCDBC-F19A-4701-9C11-6EF7AFE8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64B57-848A-4A62-80A4-E41C04CF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viene segnalato il danno fino a bloccare le CDK?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F9EF1-3B25-4E83-87BC-A1332F79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Riparo o eliminazione</a:t>
            </a:r>
            <a:r>
              <a:t>. </a:t>
            </a:r>
            <a:r>
              <a:rPr b="0" i="0"/>
              <a:t>L’arresto lascia tempo alla </a:t>
            </a:r>
            <a:r>
              <a:rPr b="1" i="0"/>
              <a:t>riparazione</a:t>
            </a:r>
            <a:r>
              <a:rPr b="0" i="0"/>
              <a:t>. Se il danno è troppo grave e l’attività di p53 persiste, la risposta può diventare </a:t>
            </a:r>
            <a:r>
              <a:rPr b="1" i="0"/>
              <a:t>apoptotica</a:t>
            </a:r>
            <a:r>
              <a:rPr b="0" i="0"/>
              <a:t>; in altri contesti si instaura </a:t>
            </a:r>
            <a:r>
              <a:rPr b="1" i="0"/>
              <a:t>senescenza</a:t>
            </a:r>
            <a:r>
              <a:rPr b="0" i="0"/>
              <a:t>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1948109d140c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381B1-633B-45D9-AF13-ED82320B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B2E0B-AD17-4867-8472-64F1F6B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57/95 · 2/2    |    63/128</a:t>
            </a:r>
          </a:p>
        </p:txBody>
      </p:sp>
    </p:spTree>
    <p:extLst>
      <p:ext uri="{BB962C8B-B14F-4D97-AF65-F5344CB8AC3E}">
        <p14:creationId xmlns:p14="http://schemas.microsoft.com/office/powerpoint/2010/main" val="138083345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54BC5-E56F-4005-BEE6-3F11CB5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8CBA3-4A43-4B1C-AFEC-4BBFAB81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9A4C4-9586-478D-A2A8-3AA47DB2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una cellula restare viva senza più dividersi?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F2973-198A-4FA1-A48E-6A095D1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L’arresto può diventare </a:t>
            </a:r>
            <a:r>
              <a:rPr b="1" i="0"/>
              <a:t>stabile</a:t>
            </a:r>
            <a:r>
              <a:rPr b="0" i="0"/>
              <a:t> e modificare anche il </a:t>
            </a:r>
            <a:r>
              <a:rPr b="1" i="0"/>
              <a:t>tessuto circostante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F03E-4B2A-4786-920D-A9E3FC21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cellula può restare viva pur perdendo stabilmente la </a:t>
            </a:r>
            <a:r>
              <a:rPr b="1" i="0"/>
              <a:t>capacità proliferativa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B7FBE-2ECB-4871-B5C6-686BB87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 molte cellule somatiche i </a:t>
            </a:r>
            <a:r>
              <a:rPr b="1" i="0"/>
              <a:t>telomeri</a:t>
            </a:r>
            <a:r>
              <a:rPr b="0" i="0"/>
              <a:t>, regioni terminali protettive dei cromosomi, si accorciano nel tempo; se perdono protezione, possono attivare la risposta al danno.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a8022c7344f7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0EF69-7EBA-4B23-B251-F078D923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D16E4-DA90-486E-B3C3-E33C4F3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58/95    |    64/128</a:t>
            </a:r>
          </a:p>
        </p:txBody>
      </p:sp>
    </p:spTree>
    <p:extLst>
      <p:ext uri="{BB962C8B-B14F-4D97-AF65-F5344CB8AC3E}">
        <p14:creationId xmlns:p14="http://schemas.microsoft.com/office/powerpoint/2010/main" val="902929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4DCAA-07A5-4829-B95C-F85D6D83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AA3E9-5CE0-4773-B91E-72E64F4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69578-605D-4628-A92E-4346446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cambiano la cellula senescente e il suo tessuto?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9BD25-D9BE-49EF-946C-4195C59B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perdita di protezione dei </a:t>
            </a:r>
            <a:r>
              <a:rPr b="1" i="0"/>
              <a:t>telomeri</a:t>
            </a:r>
            <a:r>
              <a:rPr b="0" i="0"/>
              <a:t> può segnalare un’estremità cromosomica come </a:t>
            </a:r>
            <a:r>
              <a:rPr b="1" i="0"/>
              <a:t>danno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C9D7B-4463-4CC2-BBA1-D94F5BDD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Il ruolo della telomerasi</a:t>
            </a:r>
            <a:r>
              <a:t>. </a:t>
            </a:r>
            <a:r>
              <a:rPr b="0" i="0"/>
              <a:t>La </a:t>
            </a:r>
            <a:r>
              <a:rPr b="1" i="0"/>
              <a:t>telomerasi</a:t>
            </a:r>
            <a:r>
              <a:rPr b="0" i="0"/>
              <a:t> è l’enzima che </a:t>
            </a:r>
            <a:r>
              <a:rPr b="1" i="0"/>
              <a:t>allunga</a:t>
            </a:r>
            <a:r>
              <a:rPr b="0" i="0"/>
              <a:t> il DNA telomerico. La sua attività varia fra tipi cellulari ed è insufficiente in molte cellule somatiche a compensare l’accorciamento.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0DC6F-580C-444B-98D2-DFB0E63D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SASP</a:t>
            </a:r>
            <a:r>
              <a:t>. </a:t>
            </a:r>
            <a:r>
              <a:rPr b="0" i="0"/>
              <a:t>Molte cellule senescenti sviluppano il SASP. </a:t>
            </a:r>
            <a:r>
              <a:t> </a:t>
            </a:r>
            <a:r>
              <a:rPr b="0" i="0"/>
              <a:t>Il Senescence-Associated Secretory Phenotype comprende citochine infiammatorie, fattori di crescita ed enzimi. Può sostenere </a:t>
            </a:r>
            <a:r>
              <a:rPr b="1" i="0"/>
              <a:t>infiammazione cronica</a:t>
            </a:r>
            <a:r>
              <a:rPr b="0" i="0"/>
              <a:t>, danneggiare cellule vicine e indurvi </a:t>
            </a:r>
            <a:r>
              <a:rPr b="1" i="0"/>
              <a:t>senescenza</a:t>
            </a:r>
            <a:r>
              <a:rPr b="0" i="0"/>
              <a:t>: è l’</a:t>
            </a:r>
            <a:r>
              <a:rPr b="1" i="0"/>
              <a:t>effetto paracrino</a:t>
            </a:r>
            <a:r>
              <a:rPr b="0" i="0"/>
              <a:t>. L’accumulo di cellule senescenti è associato a patologie dell’invecchiamento.</a:t>
            </a:r>
            <a:r>
              <a:t> 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00647c65845f4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F0F28-F80C-42EA-A5CC-01B9596B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9615-92A2-40C8-A15D-F327533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59/95    |    65/128</a:t>
            </a:r>
          </a:p>
        </p:txBody>
      </p:sp>
    </p:spTree>
    <p:extLst>
      <p:ext uri="{BB962C8B-B14F-4D97-AF65-F5344CB8AC3E}">
        <p14:creationId xmlns:p14="http://schemas.microsoft.com/office/powerpoint/2010/main" val="167012924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AB7F7-471F-46C1-980D-3EC5F71C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B4AE8-8524-4F69-8B1C-54375FB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F265F-5C0C-49D0-9097-6AA0FE48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un’alterazione genetica cambiare la proliferazione?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20E26-CAD7-4B7C-8358-759EA647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segnale eccessivo o una funzione protettiva persa possono alterare la </a:t>
            </a:r>
            <a:r>
              <a:rPr b="1" i="0"/>
              <a:t>proliferazione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49A2F-B3A0-4F93-88BB-8B8B1F98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Le </a:t>
            </a:r>
            <a:r>
              <a:rPr b="1" i="0"/>
              <a:t>due copie</a:t>
            </a:r>
            <a:r>
              <a:rPr b="0" i="0"/>
              <a:t> di un gene contribuiscono alla funzione della cellula.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ABC4C-6C47-4C50-8B62-629BF0EC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013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</a:t>
            </a:r>
            <a:r>
              <a:rPr b="1" i="0"/>
              <a:t>guadagno di funzione</a:t>
            </a:r>
            <a:r>
              <a:rPr b="0" i="0"/>
              <a:t> o una produzione eccessiva può rendere sufficiente l’alterazione di </a:t>
            </a:r>
            <a:r>
              <a:rPr b="1" i="0"/>
              <a:t>una sola copia</a:t>
            </a:r>
            <a:r>
              <a:rPr b="0" i="0"/>
              <a:t>: effetto dominante a livello cellulare. Il proto-oncogene normale ha una funzione fisiologica.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B1365-7589-4802-8C8B-74962965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095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Nel modello classico la perdita di </a:t>
            </a:r>
            <a:r>
              <a:rPr b="1" i="0"/>
              <a:t>entrambe le copie</a:t>
            </a:r>
            <a:r>
              <a:rPr b="0" i="0"/>
              <a:t> elimina il freno. La regola dei </a:t>
            </a:r>
            <a:r>
              <a:rPr b="1" i="0"/>
              <a:t>due colpi</a:t>
            </a:r>
            <a:r>
              <a:rPr b="0" i="0"/>
              <a:t> è particolarmente utile per RB1, ma non ogni oncosoppressore segue una recessività cellulare assoluta.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D1F99-9106-4432-BF00-E32EF51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176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Questi eventi favoriscono la progressione verso il cancro; la trasformazione completa può richiedere </a:t>
            </a:r>
            <a:r>
              <a:rPr b="1" i="0"/>
              <a:t>ulteriori alterazioni</a:t>
            </a:r>
            <a:r>
              <a:rPr b="0" i="0"/>
              <a:t>. </a:t>
            </a:r>
            <a:r>
              <a:rPr b="1" i="0"/>
              <a:t>Dominanza cellulare</a:t>
            </a:r>
            <a:r>
              <a:rPr b="0" i="0"/>
              <a:t> e modalità di </a:t>
            </a:r>
            <a:r>
              <a:rPr b="1" i="0"/>
              <a:t>ereditarietà</a:t>
            </a:r>
            <a:r>
              <a:rPr b="0" i="0"/>
              <a:t> di una predisposizione sono piani diversi.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940e8278545da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414AA-367C-47FF-9A0D-827A955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7FBDC-E4CC-4FE1-8FCC-33B5392A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60/95    |    66/128</a:t>
            </a:r>
          </a:p>
        </p:txBody>
      </p:sp>
    </p:spTree>
    <p:extLst>
      <p:ext uri="{BB962C8B-B14F-4D97-AF65-F5344CB8AC3E}">
        <p14:creationId xmlns:p14="http://schemas.microsoft.com/office/powerpoint/2010/main" val="91439402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F0D5C-36A6-42E7-B1B2-504E6B63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FC7D2-369B-45CA-856F-2160629A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F30CD-4375-46EB-97CB-D093D00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 gene produrre un segnale eccessivo?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27281-0F0A-4012-859D-4CAF1546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</a:t>
            </a:r>
            <a:r>
              <a:rPr b="1" i="0"/>
              <a:t>recettore alterato</a:t>
            </a:r>
            <a:r>
              <a:rPr b="0" i="0"/>
              <a:t> può segnalare senza il normale stimolo extracellulare.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84AF0-A94B-4405-A223-C732040C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Regione codificante</a:t>
            </a:r>
            <a:r>
              <a:t>. </a:t>
            </a:r>
            <a:r>
              <a:rPr b="0" i="0"/>
              <a:t>La </a:t>
            </a:r>
            <a:r>
              <a:rPr b="1" i="0"/>
              <a:t>regione codificante</a:t>
            </a:r>
            <a:r>
              <a:rPr b="0" i="0"/>
              <a:t> è il tratto di </a:t>
            </a:r>
            <a:r>
              <a:rPr b="1" i="0"/>
              <a:t>DNA</a:t>
            </a:r>
            <a:r>
              <a:rPr b="0" i="0"/>
              <a:t> che specifica una proteina. Una sua alterazione può cambiare la proteina: nell’esempio, un recettore troncato segnala </a:t>
            </a:r>
            <a:r>
              <a:rPr b="1" i="0"/>
              <a:t>senza il normale stimolo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0B392-B124-40D7-8508-8821FAF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Regolazione e copie</a:t>
            </a:r>
            <a:r>
              <a:t>. </a:t>
            </a:r>
            <a:r>
              <a:rPr b="0" i="0"/>
              <a:t>Il segnale può aumentare anche se si produce </a:t>
            </a:r>
            <a:r>
              <a:rPr b="1" i="0"/>
              <a:t>troppa proteina</a:t>
            </a:r>
            <a:r>
              <a:rPr b="0" i="0"/>
              <a:t>: per una regolazione alterata oppure perché il gene è presente in più copie, cioè è </a:t>
            </a:r>
            <a:r>
              <a:rPr b="1" i="0"/>
              <a:t>amplificato</a:t>
            </a:r>
            <a:r>
              <a:rPr b="0" i="0"/>
              <a:t>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2c4edc6c64453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0DDC5-A5B5-4257-86B7-CFE19027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5D8D7-B842-4AC3-8D30-F165D8DA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61/95    |    67/128</a:t>
            </a:r>
          </a:p>
        </p:txBody>
      </p:sp>
    </p:spTree>
    <p:extLst>
      <p:ext uri="{BB962C8B-B14F-4D97-AF65-F5344CB8AC3E}">
        <p14:creationId xmlns:p14="http://schemas.microsoft.com/office/powerpoint/2010/main" val="189369889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34838-9D44-4FC3-B2C3-9090E68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91EB4-8D3D-480A-A8AB-034DE4FD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80AAD-8D8E-446A-9A17-FD6AEC3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Dove agiscono i prodotti dei proto-oncogeni?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5DF9F-C3A4-43A2-9C91-8818D78D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Nome, </a:t>
            </a:r>
            <a:r>
              <a:rPr b="1" i="0"/>
              <a:t>luogo e funzione</a:t>
            </a:r>
            <a:r>
              <a:rPr b="0" i="0"/>
              <a:t> collegano ciascun protagonista alla mappa dei segnali.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3E531-6A2E-4431-9DD4-6B0BC27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SIS / PDGFB</a:t>
            </a:r>
            <a:r>
              <a:t>. </a:t>
            </a:r>
            <a:r>
              <a:rPr b="0" i="0"/>
              <a:t>Un segnale extracellulare: </a:t>
            </a:r>
            <a:r>
              <a:rPr b="1" i="0"/>
              <a:t>PDGFB</a:t>
            </a:r>
            <a:r>
              <a:rPr b="0" i="0"/>
              <a:t>, chiamato anche SIS, codifica la catena B del fattore di crescita PDGF.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842A3-DEEA-4DA4-AC51-72490C51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ERBB e FMS / CSF1R</a:t>
            </a:r>
            <a:r>
              <a:t>. </a:t>
            </a:r>
            <a:r>
              <a:rPr b="0" i="0"/>
              <a:t>Recettori che attraversano la membrana: </a:t>
            </a:r>
            <a:r>
              <a:rPr b="1" i="0"/>
              <a:t>ERBB</a:t>
            </a:r>
            <a:r>
              <a:rPr b="0" i="0"/>
              <a:t> comprende recettori tirosina-chinasici; </a:t>
            </a:r>
            <a:r>
              <a:rPr b="1" i="0"/>
              <a:t>EGFR</a:t>
            </a:r>
            <a:r>
              <a:rPr b="0" i="0"/>
              <a:t> lega EGF. </a:t>
            </a:r>
            <a:r>
              <a:rPr b="1" i="0"/>
              <a:t>FMS</a:t>
            </a:r>
            <a:r>
              <a:rPr b="0" i="0"/>
              <a:t>, o CSF1R, è il recettore per CSF-1.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D7BE4-A8FE-4FF2-8C6B-31E2E91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ROS</a:t>
            </a:r>
            <a:r>
              <a:t>. </a:t>
            </a:r>
            <a:r>
              <a:rPr b="0" i="0"/>
              <a:t>Anche </a:t>
            </a:r>
            <a:r>
              <a:rPr b="1" i="0"/>
              <a:t>ROS1</a:t>
            </a:r>
            <a:r>
              <a:rPr b="0" i="0"/>
              <a:t> è un recettore transmembrana con attività tirosina-chinasica.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6E67C-25BA-4E0A-B146-8DB57914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0273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yes · fgr · abl · fps/fes</a:t>
            </a:r>
            <a:r>
              <a:t>. </a:t>
            </a:r>
            <a:r>
              <a:rPr b="1" i="0"/>
              <a:t>YES</a:t>
            </a:r>
            <a:r>
              <a:rPr b="0" i="0"/>
              <a:t>, FGR, </a:t>
            </a:r>
            <a:r>
              <a:rPr b="1" i="0"/>
              <a:t>ABL</a:t>
            </a:r>
            <a:r>
              <a:rPr b="0" i="0"/>
              <a:t> e FPS/FES sono </a:t>
            </a:r>
            <a:r>
              <a:rPr b="1" i="0"/>
              <a:t>chinasi</a:t>
            </a:r>
            <a:r>
              <a:rPr b="0" i="0"/>
              <a:t> che fosforilano residui di tirosina, ma non sono quattro recettori transmembrana. YES è associata alla membrana, FPS/FES al citoplasma; ABL può trovarsi in citoplasma e nucleo.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E992C-2F0C-4588-919A-1B419FDD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998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MOS e RAF/MIL</a:t>
            </a:r>
            <a:r>
              <a:t>. </a:t>
            </a:r>
            <a:r>
              <a:rPr b="1" i="0"/>
              <a:t>MOS</a:t>
            </a:r>
            <a:r>
              <a:rPr b="0" i="0"/>
              <a:t> e </a:t>
            </a:r>
            <a:r>
              <a:rPr b="1" i="0"/>
              <a:t>RAF</a:t>
            </a:r>
            <a:r>
              <a:rPr b="0" i="0"/>
              <a:t>/MIL trasmettono segnali dentro la cellula: sono </a:t>
            </a:r>
            <a:r>
              <a:rPr b="1" i="0"/>
              <a:t>chinasi</a:t>
            </a:r>
            <a:r>
              <a:rPr b="0" i="0"/>
              <a:t> che fosforilano residui di serina o treonina. MOS opera nel citoplasma.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e79cb80b94e74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8A701-4276-4BFA-908B-C9AF064E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A52BC-2640-435A-876C-D4F4735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62/95 · 1/2    |    68/128</a:t>
            </a:r>
          </a:p>
        </p:txBody>
      </p:sp>
    </p:spTree>
    <p:extLst>
      <p:ext uri="{BB962C8B-B14F-4D97-AF65-F5344CB8AC3E}">
        <p14:creationId xmlns:p14="http://schemas.microsoft.com/office/powerpoint/2010/main" val="164644871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9660C-BD9C-4B88-B2B2-BBBF8BD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703CB-3A6B-4758-9B58-9EEC909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69398-2F02-49B7-A82E-51AD8177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Dove agiscono i prodotti dei proto-oncogeni?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1CC20-89DB-4B37-9692-6A13288C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RAS e SRC: attività differenti</a:t>
            </a:r>
            <a:r>
              <a:t>. </a:t>
            </a:r>
            <a:r>
              <a:rPr b="0" i="0"/>
              <a:t>H-</a:t>
            </a:r>
            <a:r>
              <a:rPr b="1" i="0"/>
              <a:t>RAS</a:t>
            </a:r>
            <a:r>
              <a:rPr b="0" i="0"/>
              <a:t> e K-</a:t>
            </a:r>
            <a:r>
              <a:rPr b="1" i="0"/>
              <a:t>RAS</a:t>
            </a:r>
            <a:r>
              <a:rPr b="0" i="0"/>
              <a:t> sono </a:t>
            </a:r>
            <a:r>
              <a:rPr b="1" i="0"/>
              <a:t>GTPasi</a:t>
            </a:r>
            <a:r>
              <a:rPr b="0" i="0"/>
              <a:t> associate alla membrana: passano fra stati con GTP e GDP e agiscono a monte di </a:t>
            </a:r>
            <a:r>
              <a:rPr b="1" i="0"/>
              <a:t>RAF</a:t>
            </a:r>
            <a:r>
              <a:rPr b="0" i="0"/>
              <a:t>. </a:t>
            </a:r>
            <a:r>
              <a:rPr b="1" i="0"/>
              <a:t>SRC</a:t>
            </a:r>
            <a:r>
              <a:rPr b="0" i="0"/>
              <a:t> svolge un compito diverso: è una </a:t>
            </a:r>
            <a:r>
              <a:rPr b="1" i="0"/>
              <a:t>chinasi</a:t>
            </a:r>
            <a:r>
              <a:rPr b="0" i="0"/>
              <a:t> di segnalazione.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1DE57-B7FD-4DF5-BA31-D6D7AB3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06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BCL-2 e ciclina D</a:t>
            </a:r>
            <a:r>
              <a:t>. </a:t>
            </a:r>
            <a:r>
              <a:rPr b="1" i="0"/>
              <a:t>BCL-2</a:t>
            </a:r>
            <a:r>
              <a:rPr b="0" i="0"/>
              <a:t> limita l’apoptosi ed è associata soprattutto alle membrane mitocondriali. </a:t>
            </a:r>
            <a:r>
              <a:rPr b="1" i="0"/>
              <a:t>Ciclina D</a:t>
            </a:r>
            <a:r>
              <a:rPr b="0" i="0"/>
              <a:t> regola le CDK e favorisce il ciclo. Nessuna delle due è una protein-</a:t>
            </a:r>
            <a:r>
              <a:rPr b="1" i="0"/>
              <a:t>chinasi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306BF-05FD-4831-AA5D-5C971074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MYB · MYC · FOS · SKI</a:t>
            </a:r>
            <a:r>
              <a:t>. </a:t>
            </a:r>
            <a:r>
              <a:rPr b="1" i="0"/>
              <a:t>MYB</a:t>
            </a:r>
            <a:r>
              <a:rPr b="0" i="0"/>
              <a:t>, </a:t>
            </a:r>
            <a:r>
              <a:rPr b="1" i="0"/>
              <a:t>MYC</a:t>
            </a:r>
            <a:r>
              <a:rPr b="0" i="0"/>
              <a:t>, FOS e SKI sono </a:t>
            </a:r>
            <a:r>
              <a:rPr b="1" i="0"/>
              <a:t>regolatori nucleari</a:t>
            </a:r>
            <a:r>
              <a:rPr b="0" i="0"/>
              <a:t> della trascrizione: modificano quali geni vengono espressi.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acacfe674401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287C-43B9-44D8-9F05-4126D55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8E4FC-32CF-4321-A3D7-AFC787FD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62/95 · 2/2    |    69/128</a:t>
            </a:r>
          </a:p>
        </p:txBody>
      </p:sp>
    </p:spTree>
    <p:extLst>
      <p:ext uri="{BB962C8B-B14F-4D97-AF65-F5344CB8AC3E}">
        <p14:creationId xmlns:p14="http://schemas.microsoft.com/office/powerpoint/2010/main" val="111075548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91718-5332-450C-B398-CAD1DE1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CE20F-BD00-4091-9317-57411CD8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C172D-A0F8-4F1D-B38F-0B56183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limitano i segnali e si protegge il genoma?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980D7-264E-4D76-A6E7-1FB6C52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Proteggere la cellula richiede più funzioni: limitare i segnali, controllare il ciclo e riparare il </a:t>
            </a:r>
            <a:r>
              <a:rPr b="1" i="0"/>
              <a:t>DNA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9CD16-D4BC-4CD5-A555-AFF1E2C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Due modi diversi di </a:t>
            </a:r>
            <a:r>
              <a:rPr b="1" i="0"/>
              <a:t>ridurre un segnale</a:t>
            </a:r>
            <a:r>
              <a:rPr b="0" i="0"/>
              <a:t> di crescita.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63A5A-853F-473B-93F2-780DE4E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642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NF1 e PTEN riducono segnali diversi</a:t>
            </a:r>
            <a:r>
              <a:t>. </a:t>
            </a:r>
            <a:r>
              <a:rPr b="1" i="0"/>
              <a:t>NF1</a:t>
            </a:r>
            <a:r>
              <a:rPr b="0" i="0"/>
              <a:t> accelera il passaggio </a:t>
            </a:r>
            <a:r>
              <a:rPr b="1" i="0"/>
              <a:t>RAS</a:t>
            </a:r>
            <a:r>
              <a:rPr b="0" i="0"/>
              <a:t>–GTP→</a:t>
            </a:r>
            <a:r>
              <a:rPr b="1" i="0"/>
              <a:t>RAS</a:t>
            </a:r>
            <a:r>
              <a:rPr b="0" i="0"/>
              <a:t>–GDP. </a:t>
            </a:r>
            <a:r>
              <a:rPr b="1" i="0"/>
              <a:t>PTEN</a:t>
            </a:r>
            <a:r>
              <a:rPr b="0" i="0"/>
              <a:t> toglie un fosfato a </a:t>
            </a:r>
            <a:r>
              <a:rPr b="1" i="0"/>
              <a:t>PIP</a:t>
            </a:r>
            <a:r>
              <a:rPr b="1" i="0">
                <a:latin typeface="Arial Unicode MS"/>
                <a:ea typeface="Arial Unicode MS"/>
                <a:cs typeface="Arial Unicode MS"/>
              </a:rPr>
              <a:t>₃</a:t>
            </a:r>
            <a:r>
              <a:rPr b="0" i="0"/>
              <a:t>, un lipide della membrana: diminuisce il segnale che sostiene </a:t>
            </a:r>
            <a:r>
              <a:rPr b="1" i="0"/>
              <a:t>AKT</a:t>
            </a:r>
            <a:r>
              <a:rPr b="0" i="0"/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5BC32-9819-4C0F-B0D3-4FEB3E94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723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Rb e p53 controllano risposte diverse</a:t>
            </a:r>
            <a:r>
              <a:t>. </a:t>
            </a:r>
            <a:r>
              <a:rPr b="1" i="0"/>
              <a:t>Rb</a:t>
            </a:r>
            <a:r>
              <a:rPr b="0" i="0"/>
              <a:t> lega </a:t>
            </a:r>
            <a:r>
              <a:rPr b="1" i="0"/>
              <a:t>E2F</a:t>
            </a:r>
            <a:r>
              <a:rPr b="0" i="0"/>
              <a:t> e limita i geni necessari alla fase S. In risposta al danno, </a:t>
            </a:r>
            <a:r>
              <a:rPr b="1" i="0"/>
              <a:t>p53</a:t>
            </a:r>
            <a:r>
              <a:rPr b="0" i="0"/>
              <a:t> regola geni che favoriscono arresto, riparo o apoptosi, secondo il contesto.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0067E-014A-479F-9BAB-325253F9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8057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BRCA1/2 aiutano il riparo del DNA</a:t>
            </a:r>
            <a:r>
              <a:t>. </a:t>
            </a:r>
            <a:r>
              <a:rPr b="1" i="0"/>
              <a:t>BRCA1</a:t>
            </a:r>
            <a:r>
              <a:rPr b="0" i="0"/>
              <a:t> e </a:t>
            </a:r>
            <a:r>
              <a:rPr b="1" i="0"/>
              <a:t>BRCA2</a:t>
            </a:r>
            <a:r>
              <a:rPr b="0" i="0"/>
              <a:t> collaborano con altre proteine, fra cui </a:t>
            </a:r>
            <a:r>
              <a:rPr b="1" i="0"/>
              <a:t>RAD51</a:t>
            </a:r>
            <a:r>
              <a:rPr b="0" i="0"/>
              <a:t>, nel riparo per </a:t>
            </a:r>
            <a:r>
              <a:rPr b="1" i="0"/>
              <a:t>ricombinazione omologa</a:t>
            </a:r>
            <a:r>
              <a:rPr b="0" i="0"/>
              <a:t>. La sequenza omologa permette di ricostruire il tratto danneggiato.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4735392e34c4c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46D26-8D1C-49BB-A94D-BD0F3A6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949B2-3D9D-4269-8EAD-9D3D2BAC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63/95    |    70/128</a:t>
            </a:r>
          </a:p>
        </p:txBody>
      </p:sp>
    </p:spTree>
    <p:extLst>
      <p:ext uri="{BB962C8B-B14F-4D97-AF65-F5344CB8AC3E}">
        <p14:creationId xmlns:p14="http://schemas.microsoft.com/office/powerpoint/2010/main" val="54970060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D46F2-FE67-4E68-8203-493C1EE9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9C55C-FE71-4039-A447-AC93D800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887CE-DC10-4410-9B8D-DAA7A7C9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funzioni protettive svolgono gli oncosoppressori?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AB612-637C-4350-BC1A-B2FB488F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gene contiene l’informazione; il suo prodotto svolge la funzione. Le associazioni tumorali indicano </a:t>
            </a:r>
            <a:r>
              <a:rPr b="1" i="0"/>
              <a:t>predisposizioni</a:t>
            </a:r>
            <a:r>
              <a:rPr b="0" i="0"/>
              <a:t> o alterazioni osservate, </a:t>
            </a:r>
            <a:r>
              <a:rPr b="1" i="0"/>
              <a:t>non una diagnosi automatica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2F851-7CF7-425D-9ED1-D361C536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RB1 → Rb</a:t>
            </a:r>
            <a:r>
              <a:t>. </a:t>
            </a:r>
            <a:r>
              <a:rPr b="1" i="0"/>
              <a:t>RB1</a:t>
            </a:r>
            <a:r>
              <a:rPr b="0" i="0"/>
              <a:t> codifica Rb, che lega </a:t>
            </a:r>
            <a:r>
              <a:rPr b="1" i="0"/>
              <a:t>E2F</a:t>
            </a:r>
            <a:r>
              <a:rPr b="0" i="0"/>
              <a:t> e limita il programma della fase S. </a:t>
            </a:r>
            <a:r>
              <a:rPr b="1" i="0"/>
              <a:t>Varianti ereditarie</a:t>
            </a:r>
            <a:r>
              <a:rPr b="0" i="0"/>
              <a:t> </a:t>
            </a:r>
            <a:r>
              <a:rPr b="1" i="0"/>
              <a:t>predispongono</a:t>
            </a:r>
            <a:r>
              <a:rPr b="0" i="0"/>
              <a:t> al retinoblastoma familiare. Alterazioni somatiche sono descritte in retinoblastoma, osteosarcoma, mammella, prostata e altri tumori.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A4978-C9DB-4174-96D9-ABCF17BD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TP53 → p53</a:t>
            </a:r>
            <a:r>
              <a:t>. </a:t>
            </a:r>
            <a:r>
              <a:rPr b="1" i="0"/>
              <a:t>TP53</a:t>
            </a:r>
            <a:r>
              <a:rPr b="0" i="0"/>
              <a:t> codifica p53, fattore trascrizionale che regola ciclo e apoptosi. </a:t>
            </a:r>
            <a:r>
              <a:rPr b="1" i="0"/>
              <a:t>Varianti ereditarie</a:t>
            </a:r>
            <a:r>
              <a:rPr b="0" i="0"/>
              <a:t> </a:t>
            </a:r>
            <a:r>
              <a:rPr b="1" i="0"/>
              <a:t>predispongono</a:t>
            </a:r>
            <a:r>
              <a:rPr b="0" i="0"/>
              <a:t> alla sindrome di Li-Fraumeni, con rischio di più tipi tumorali. Nel progetto TCGA, The Cancer Genome Atlas, nel 2019 3.786 di 10.225 pazienti con 32 tipi di tumore avevano mutazioni di TP53: circa 37% in quel campione, non in ogni tumore.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bd4fa102045bf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D8C5D-9435-4518-A52A-8435BAA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51CA3-5E74-410B-8049-3573B89F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64/95 · 1/4    |    71/128</a:t>
            </a:r>
          </a:p>
        </p:txBody>
      </p:sp>
    </p:spTree>
    <p:extLst>
      <p:ext uri="{BB962C8B-B14F-4D97-AF65-F5344CB8AC3E}">
        <p14:creationId xmlns:p14="http://schemas.microsoft.com/office/powerpoint/2010/main" val="57271129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0E8E8-1B59-403C-8E68-7EC8B7BF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E08A1-FD79-4C6F-BCDF-6BD14D9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62252-C079-4575-89E1-9C6896F8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funzioni protettive svolgono gli oncosoppressori?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47DF2-F187-424F-ACAC-3CC08275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p16INK4a</a:t>
            </a:r>
            <a:r>
              <a:t>. </a:t>
            </a:r>
            <a:r>
              <a:rPr b="0" i="0"/>
              <a:t>Il locus </a:t>
            </a:r>
            <a:r>
              <a:rPr b="1" i="0"/>
              <a:t>CDKN2A</a:t>
            </a:r>
            <a:r>
              <a:rPr b="0" i="0"/>
              <a:t> produce p16INK4a e ARF. p16 frena CDK4/6; alterazioni ereditarie </a:t>
            </a:r>
            <a:r>
              <a:rPr b="1" i="0"/>
              <a:t>predispongono</a:t>
            </a:r>
            <a:r>
              <a:rPr b="0" i="0"/>
              <a:t> a melanoma e carcinoma pancreatico familiari. Alterazioni somatiche sono documentate anche in tumori di polmone, mammella e pancreas: mutazione, delezione e silenziamento sono eventi diversi, con frequenze dipendenti da campione e metodo.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30B7D-A993-43E6-9671-C77CDCF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2673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p14ARF umana</a:t>
            </a:r>
            <a:r>
              <a:t>. </a:t>
            </a:r>
            <a:r>
              <a:rPr b="1" i="0"/>
              <a:t>p14ARF</a:t>
            </a:r>
            <a:r>
              <a:rPr b="0" i="0"/>
              <a:t> limita MDM2, la proteina che favorisce la rimozione di p53. In questo modo sostiene la risposta protettiva di p53. Alterare questa regolazione può indebolirla. p19Arf è il nome nel topo; p14ARF è quello umano.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798B7-0991-46EA-96F6-86A88A4F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644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APC e WNT</a:t>
            </a:r>
            <a:r>
              <a:t>. </a:t>
            </a:r>
            <a:r>
              <a:rPr b="1" i="0"/>
              <a:t>APC</a:t>
            </a:r>
            <a:r>
              <a:rPr b="0" i="0"/>
              <a:t> contribuisce a controllare β-catenina, che partecipa alla risposta ai segnali WNT, e interagisce con i microtubuli. Le sue alterazioni sono associate a poliposi adenomatosa familiare e tumori colorettali. APC è distinto dal complesso APC/C studiato nella mitosi.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553ec3896477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09BC7-6EDA-445B-B32F-70E0331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2386A-867F-4569-9B2A-744121DB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64/95 · 2/4    |    72/128</a:t>
            </a:r>
          </a:p>
        </p:txBody>
      </p:sp>
    </p:spTree>
    <p:extLst>
      <p:ext uri="{BB962C8B-B14F-4D97-AF65-F5344CB8AC3E}">
        <p14:creationId xmlns:p14="http://schemas.microsoft.com/office/powerpoint/2010/main" val="89036145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3A29B-97FF-40B3-8250-8D902BC9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C324-2A44-4DC3-BF9F-E406BDEB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387F4-DD89-49E5-8F9A-5CEC4893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funzioni protettive svolgono gli oncosoppressori?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99D35-2F64-4408-812C-0135D4B3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BRCA1</a:t>
            </a:r>
            <a:r>
              <a:t>. </a:t>
            </a:r>
            <a:r>
              <a:rPr b="1" i="0"/>
              <a:t>BRCA1</a:t>
            </a:r>
            <a:r>
              <a:rPr b="0" i="0"/>
              <a:t> partecipa al riparo del </a:t>
            </a:r>
            <a:r>
              <a:rPr b="1" i="0"/>
              <a:t>DNA</a:t>
            </a:r>
            <a:r>
              <a:rPr b="0" i="0"/>
              <a:t> insieme a proteine come </a:t>
            </a:r>
            <a:r>
              <a:rPr b="1" i="0"/>
              <a:t>RAD51</a:t>
            </a:r>
            <a:r>
              <a:rPr b="0" i="0"/>
              <a:t> e </a:t>
            </a:r>
            <a:r>
              <a:rPr b="1" i="0"/>
              <a:t>BRCA2</a:t>
            </a:r>
            <a:r>
              <a:rPr b="0" i="0"/>
              <a:t>, e alla regolazione della trascrizione. </a:t>
            </a:r>
            <a:r>
              <a:rPr b="1" i="0"/>
              <a:t>Varianti ereditarie</a:t>
            </a:r>
            <a:r>
              <a:rPr b="0" i="0"/>
              <a:t> possono predisporre a tumori di mammella e ovaio.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3D462-4589-49B0-B508-81D37E7B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063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BRCA2</a:t>
            </a:r>
            <a:r>
              <a:t>. </a:t>
            </a:r>
            <a:r>
              <a:rPr b="1" i="0"/>
              <a:t>BRCA2</a:t>
            </a:r>
            <a:r>
              <a:rPr b="0" i="0"/>
              <a:t> aiuta il riparo del </a:t>
            </a:r>
            <a:r>
              <a:rPr b="1" i="0"/>
              <a:t>DNA</a:t>
            </a:r>
            <a:r>
              <a:rPr b="0" i="0"/>
              <a:t> attraverso </a:t>
            </a:r>
            <a:r>
              <a:rPr b="1" i="0"/>
              <a:t>RAD51</a:t>
            </a:r>
            <a:r>
              <a:rPr b="0" i="0"/>
              <a:t>, in collaborazione con </a:t>
            </a:r>
            <a:r>
              <a:rPr b="1" i="0"/>
              <a:t>BRCA1</a:t>
            </a:r>
            <a:r>
              <a:rPr b="0" i="0"/>
              <a:t> e altri fattori. </a:t>
            </a:r>
            <a:r>
              <a:rPr b="1" i="0"/>
              <a:t>Varianti ereditarie</a:t>
            </a:r>
            <a:r>
              <a:rPr b="0" i="0"/>
              <a:t> sono associate a tumori mammari maschili e femminili e pancreatici; sono descritte anche rare alterazioni somatiche nel pancreas.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46C4B-439C-4C22-8BEA-344DFCB5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WT1</a:t>
            </a:r>
            <a:r>
              <a:t>. </a:t>
            </a:r>
            <a:r>
              <a:rPr b="1" i="0"/>
              <a:t>WT1</a:t>
            </a:r>
            <a:r>
              <a:rPr b="0" i="0"/>
              <a:t> è un fattore di trascrizione: regola l’espressione di altri geni. Le sue alterazioni sono associate al tumore di Wilms e alla sindrome di Denys–Drash.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20B37-8550-405D-A75D-458FDE9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169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NF1</a:t>
            </a:r>
            <a:r>
              <a:t>. </a:t>
            </a:r>
            <a:r>
              <a:rPr b="1" i="0"/>
              <a:t>NF1</a:t>
            </a:r>
            <a:r>
              <a:rPr b="0" i="0"/>
              <a:t> codifica neurofibromina, una GAP: accelera la conversione </a:t>
            </a:r>
            <a:r>
              <a:rPr b="1" i="0"/>
              <a:t>RAS</a:t>
            </a:r>
            <a:r>
              <a:rPr b="0" i="0"/>
              <a:t>–GTP in </a:t>
            </a:r>
            <a:r>
              <a:rPr b="1" i="0"/>
              <a:t>RAS</a:t>
            </a:r>
            <a:r>
              <a:rPr b="0" i="0"/>
              <a:t>–GDP e riduce il segnale. È associato a neurofibromatosi tipo 1; sono descritti anche melanoma e neuroblastoma. Neurofibromina e p21 </a:t>
            </a:r>
            <a:r>
              <a:rPr b="1" i="0"/>
              <a:t>RAS</a:t>
            </a:r>
            <a:r>
              <a:rPr b="0" i="0"/>
              <a:t> sono proteine diverse.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0adbee41544ae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DF26-BB37-46AB-A81F-140DFF5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83957-8232-4833-8318-002B16A4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64/95 · 3/4    |    73/128</a:t>
            </a:r>
          </a:p>
        </p:txBody>
      </p:sp>
    </p:spTree>
    <p:extLst>
      <p:ext uri="{BB962C8B-B14F-4D97-AF65-F5344CB8AC3E}">
        <p14:creationId xmlns:p14="http://schemas.microsoft.com/office/powerpoint/2010/main" val="208696699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A6220-771B-44A8-A493-6D87C77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69C41-3CA3-4983-AD63-949C2F36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F6D0E-D215-43B7-8BBD-9A2BED2E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funzioni protettive svolgono gli oncosoppressori?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69F82-89DF-42EE-A302-281DA94A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NF2</a:t>
            </a:r>
            <a:r>
              <a:t>. </a:t>
            </a:r>
            <a:r>
              <a:rPr b="1" i="0"/>
              <a:t>NF2</a:t>
            </a:r>
            <a:r>
              <a:rPr b="0" i="0"/>
              <a:t> codifica merlina, che contribuisce ai rapporti fra membrana e citoscheletro e al controllo della crescita. Le associazioni comprendono neurofibromatosi tipo 2, schwannomi, meningiomi ed ependimomi.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8A2A9-7520-4382-AC0E-F30D7313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06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MEN1</a:t>
            </a:r>
            <a:r>
              <a:t>. </a:t>
            </a:r>
            <a:r>
              <a:rPr b="1" i="0"/>
              <a:t>MEN1</a:t>
            </a:r>
            <a:r>
              <a:rPr b="0" i="0"/>
              <a:t> codifica menina, regolatore di cromatina e trascrizione. Le </a:t>
            </a:r>
            <a:r>
              <a:rPr b="1" i="0"/>
              <a:t>varianti ereditarie</a:t>
            </a:r>
            <a:r>
              <a:rPr b="0" i="0"/>
              <a:t> </a:t>
            </a:r>
            <a:r>
              <a:rPr b="1" i="0"/>
              <a:t>predispongono</a:t>
            </a:r>
            <a:r>
              <a:rPr b="0" i="0"/>
              <a:t> a neoplasie endocrine multiple tipo 1: adenomi paratiroidei e ipofisari e tumori endocrini pancreatici.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C1263-A6F9-43AA-8110-C70987DF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PTEN / MMAC1</a:t>
            </a:r>
            <a:r>
              <a:t>. </a:t>
            </a:r>
            <a:r>
              <a:rPr b="1" i="0"/>
              <a:t>PTEN</a:t>
            </a:r>
            <a:r>
              <a:rPr b="0" i="0"/>
              <a:t> toglie un fosfato a PIP</a:t>
            </a:r>
            <a:r>
              <a:rPr b="0" i="0">
                <a:latin typeface="Arial Unicode MS"/>
                <a:ea typeface="Arial Unicode MS"/>
                <a:cs typeface="Arial Unicode MS"/>
              </a:rPr>
              <a:t>₃</a:t>
            </a:r>
            <a:r>
              <a:rPr b="0" i="0"/>
              <a:t>, un lipide di membrana, e limita la via </a:t>
            </a:r>
            <a:r>
              <a:rPr b="1" i="0"/>
              <a:t>PI3K</a:t>
            </a:r>
            <a:r>
              <a:rPr b="0" i="0"/>
              <a:t>–</a:t>
            </a:r>
            <a:r>
              <a:rPr b="1" i="0"/>
              <a:t>AKT</a:t>
            </a:r>
            <a:r>
              <a:rPr b="0" i="0"/>
              <a:t>; può agire anche su proteine. È associato alla sindrome di Cowden e ad alterazioni in gliomi, tumori di mammella, prostata, tiroide e testa-collo.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60eea700c458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290F-BF81-4C92-9B54-F1C0B2F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3F6F5-9272-4C1A-8BA9-E22B5AF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64/95 · 4/4    |    74/128</a:t>
            </a:r>
          </a:p>
        </p:txBody>
      </p:sp>
    </p:spTree>
    <p:extLst>
      <p:ext uri="{BB962C8B-B14F-4D97-AF65-F5344CB8AC3E}">
        <p14:creationId xmlns:p14="http://schemas.microsoft.com/office/powerpoint/2010/main" val="72535494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8A536-0920-4EEB-A242-59451A7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BAA3A-A606-4074-A68E-626085B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C05CD-F094-461E-87A8-BEBA59E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Perché nel modello RB1 una sola copia alterata non basta?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2EB5A-F0A1-419C-899E-293F781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Ogni cellula possiede </a:t>
            </a:r>
            <a:r>
              <a:rPr b="1" i="0"/>
              <a:t>due copie</a:t>
            </a:r>
            <a:r>
              <a:rPr b="0" i="0"/>
              <a:t> di </a:t>
            </a:r>
            <a:r>
              <a:rPr b="1" i="0"/>
              <a:t>RB1</a:t>
            </a:r>
            <a:r>
              <a:rPr b="0" i="0"/>
              <a:t>. Ereditare una copia difettosa significa predisposizione, non avere già un tumore.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CB9FB-41C2-4840-9679-C2434032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Confronto fra </a:t>
            </a:r>
            <a:r>
              <a:rPr b="1" i="0"/>
              <a:t>predisposizione ereditaria</a:t>
            </a:r>
            <a:r>
              <a:rPr b="0" i="0"/>
              <a:t> e due eventi somatici nella stessa linea cellulare.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AC4F2-0E1B-4C55-9F78-C7516E2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5313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Nel modello </a:t>
            </a:r>
            <a:r>
              <a:rPr b="1" i="0"/>
              <a:t>RB1</a:t>
            </a:r>
            <a:r>
              <a:rPr b="0" i="0"/>
              <a:t>, </a:t>
            </a:r>
            <a:r>
              <a:rPr b="1" i="0"/>
              <a:t>una copia funzionante</a:t>
            </a:r>
            <a:r>
              <a:rPr b="0" i="0"/>
              <a:t> conserva un controllo protettivo. Confrontiamo due situazioni iniziali: una copia già inattivata dalla nascita oppure entrambe le copie inizialmente funzionanti.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3532-E90E-42D8-84B7-2950051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613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Nella </a:t>
            </a:r>
            <a:r>
              <a:rPr b="1" i="0"/>
              <a:t>predisposizione ereditaria</a:t>
            </a:r>
            <a:r>
              <a:rPr b="0" i="0"/>
              <a:t>, un </a:t>
            </a:r>
            <a:r>
              <a:rPr b="1" i="0"/>
              <a:t>secondo evento</a:t>
            </a:r>
            <a:r>
              <a:rPr b="0" i="0"/>
              <a:t> può inattivare la copia rimasta funzionante nelle cellule predisposte. Possono comparire più focolai, anche in entrambi gli occhi.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94AE1-B718-4251-803E-CEA82893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694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Nella forma non ereditaria, i </a:t>
            </a:r>
            <a:r>
              <a:rPr b="1" i="0"/>
              <a:t>due eventi</a:t>
            </a:r>
            <a:r>
              <a:rPr b="0" i="0"/>
              <a:t> devono interessare la </a:t>
            </a:r>
            <a:r>
              <a:rPr b="1" i="0"/>
              <a:t>stessa linea cellulare</a:t>
            </a:r>
            <a:r>
              <a:rPr b="0" i="0"/>
              <a:t> durante la vita. Tipicamente compare un solo focolaio in un occhio. Ulteriori alterazioni contribuiscono alla trasformazione tumorale.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7aed9b3a54d3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5EBCB-0F54-4FB9-94D6-38A4B99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06027-32FB-4F84-AE70-5DD0AC0B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65/95    |    75/128</a:t>
            </a:r>
          </a:p>
        </p:txBody>
      </p:sp>
    </p:spTree>
    <p:extLst>
      <p:ext uri="{BB962C8B-B14F-4D97-AF65-F5344CB8AC3E}">
        <p14:creationId xmlns:p14="http://schemas.microsoft.com/office/powerpoint/2010/main" val="104826465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EAF48-6E59-4C7D-A9CE-2032125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C53DA-68E1-4ACE-9158-466C210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3AA4D-7D57-4DCD-988F-4DBDFE7E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perde la funzione della copia sana di RB1?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FEC1E-C699-4352-868C-7D5532FF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</a:t>
            </a:r>
            <a:r>
              <a:rPr b="1" i="0"/>
              <a:t>copia funzionante</a:t>
            </a:r>
            <a:r>
              <a:rPr b="0" i="0"/>
              <a:t> può essere perduta oppure sostituita da una copia difettosa.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D415F-A5F8-4F44-92D9-6C7224E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Alterazione locale o silenziamento</a:t>
            </a:r>
            <a:r>
              <a:t>. </a:t>
            </a:r>
            <a:r>
              <a:rPr b="0" i="0"/>
              <a:t>Una </a:t>
            </a:r>
            <a:r>
              <a:rPr b="1" i="0"/>
              <a:t>delezione</a:t>
            </a:r>
            <a:r>
              <a:rPr b="0" i="0"/>
              <a:t> elimina un tratto di </a:t>
            </a:r>
            <a:r>
              <a:rPr b="1" i="0"/>
              <a:t>DNA</a:t>
            </a:r>
            <a:r>
              <a:rPr b="0" i="0"/>
              <a:t>; una </a:t>
            </a:r>
            <a:r>
              <a:rPr b="1" i="0"/>
              <a:t>mutazione</a:t>
            </a:r>
            <a:r>
              <a:rPr b="0" i="0"/>
              <a:t> ne cambia la sequenza. Il </a:t>
            </a:r>
            <a:r>
              <a:rPr b="1" i="0"/>
              <a:t>silenziamento</a:t>
            </a:r>
            <a:r>
              <a:rPr b="0" i="0"/>
              <a:t> impedisce l’espressione del gene anche quando la regione codificante resta integra.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586c4e6d24702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8536-78F7-45C0-93B6-E13B304B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Segnali, danno e controllo genetico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0A59A-0E19-4CD1-9A67-77504963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66/95    |    76/128</a:t>
            </a:r>
          </a:p>
        </p:txBody>
      </p:sp>
    </p:spTree>
    <p:extLst>
      <p:ext uri="{BB962C8B-B14F-4D97-AF65-F5344CB8AC3E}">
        <p14:creationId xmlns:p14="http://schemas.microsoft.com/office/powerpoint/2010/main" val="82092525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CB26E-3FEA-4668-8723-2B21905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B3060-7D3D-498E-8D7C-09CBD5B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5035D-5F8D-420F-A17F-689C8982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formano le cellule che daranno origine ai gameti?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8C595-4031-49F2-92FE-6E546658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linea germinale</a:t>
            </a:r>
            <a:r>
              <a:rPr b="0" i="0"/>
              <a:t> dà origine ai gameti.</a:t>
            </a:r>
            <a:r>
              <a:t>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33F13-EA60-49C1-8DB5-3863C62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linea germinale</a:t>
            </a:r>
            <a:r>
              <a:rPr b="0" i="0"/>
              <a:t> collega due generazioni; le cellule somatiche costruiscono il corpo.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4E9C1-D1F7-45C3-9CE2-B50AFB85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642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Le cellule che formeranno i gameti</a:t>
            </a:r>
            <a:r>
              <a:t>. </a:t>
            </a:r>
            <a:r>
              <a:rPr b="0" i="0"/>
              <a:t>Durante lo sviluppo dell’embrione, alcune cellule ricevono segnali che le avviano verso la formazione dei </a:t>
            </a:r>
            <a:r>
              <a:rPr b="1" i="0"/>
              <a:t>gameti</a:t>
            </a:r>
            <a:r>
              <a:rPr b="0" i="0"/>
              <a:t>, cioè spermatozoi o cellule uovo. Queste cellule iniziali si chiamano </a:t>
            </a:r>
            <a:r>
              <a:rPr b="1" i="0"/>
              <a:t>cellule germinali primordiali</a:t>
            </a:r>
            <a:r>
              <a:rPr b="0" i="0"/>
              <a:t>, abbreviate </a:t>
            </a:r>
            <a:r>
              <a:rPr b="1" i="0"/>
              <a:t>PGC</a:t>
            </a:r>
            <a:r>
              <a:rPr b="0" i="0"/>
              <a:t>. Questo avvio del destino germinale si chiama </a:t>
            </a:r>
            <a:r>
              <a:rPr b="1" i="0"/>
              <a:t>specificazione</a:t>
            </a:r>
            <a:r>
              <a:rPr b="0" i="0"/>
              <a:t>. I loro discendenti trasmetteranno il </a:t>
            </a:r>
            <a:r>
              <a:rPr b="1" i="0"/>
              <a:t>DNA</a:t>
            </a:r>
            <a:r>
              <a:rPr b="0" i="0"/>
              <a:t> alla generazione successiva.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F7B10-5853-4905-AC19-BD887965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5391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Moltiplicarsi e raggiungere le gonadi</a:t>
            </a:r>
            <a:r>
              <a:t>. </a:t>
            </a:r>
            <a:r>
              <a:rPr b="0" i="0"/>
              <a:t>Le cellule germinali primordiali si moltiplicano, cioè </a:t>
            </a:r>
            <a:r>
              <a:rPr b="1" i="0"/>
              <a:t>proliferano</a:t>
            </a:r>
            <a:r>
              <a:rPr b="0" i="0"/>
              <a:t>, e </a:t>
            </a:r>
            <a:r>
              <a:rPr b="1" i="0"/>
              <a:t>migrano</a:t>
            </a:r>
            <a:r>
              <a:rPr b="0" i="0"/>
              <a:t>, cioè si spostano verso le </a:t>
            </a:r>
            <a:r>
              <a:rPr b="1" i="0"/>
              <a:t>gonadi</a:t>
            </a:r>
            <a:r>
              <a:rPr b="0" i="0"/>
              <a:t>: gli organi che diventeranno testicoli oppure ovaie. Le altre cellule dell’embrione, dette somatiche, producono segnali che ne sostengono la sopravvivenza e lo sviluppo durante questo percorso.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ad4db620645e1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C87F-DB5F-4BE6-A7A7-4FD0B8BE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ECEF9-7DA3-4074-B759-497B0D8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67/95 · 1/2    |    77/128</a:t>
            </a:r>
          </a:p>
        </p:txBody>
      </p:sp>
    </p:spTree>
    <p:extLst>
      <p:ext uri="{BB962C8B-B14F-4D97-AF65-F5344CB8AC3E}">
        <p14:creationId xmlns:p14="http://schemas.microsoft.com/office/powerpoint/2010/main" val="183185888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2FC0D-BE5D-4C9F-94EB-F98FFBC1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DEBCE-3EBD-4757-ADF9-2C92188A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2E8A7-81C2-49E3-9A54-E71D12EC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formano le cellule che daranno origine ai gameti?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6FDAD-5041-48BC-8516-3B6ED53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Preparare un solo corredo di cromosomi</a:t>
            </a:r>
            <a:r>
              <a:t>. </a:t>
            </a:r>
            <a:r>
              <a:rPr b="0" i="0"/>
              <a:t>Nelle gonadi, i discendenti delle cellule germinali primordiali maturano attraverso </a:t>
            </a:r>
            <a:r>
              <a:rPr b="1" i="0"/>
              <a:t>meiosi</a:t>
            </a:r>
            <a:r>
              <a:rPr b="0" i="0"/>
              <a:t> e </a:t>
            </a:r>
            <a:r>
              <a:rPr b="1" i="0"/>
              <a:t>differenziamento</a:t>
            </a:r>
            <a:r>
              <a:rPr b="0" i="0"/>
              <a:t>. La meiosi riduce il numero dei corredi cromosomici </a:t>
            </a:r>
            <a:r>
              <a:rPr b="1" i="0"/>
              <a:t>da due a uno</a:t>
            </a:r>
            <a:r>
              <a:rPr b="0" i="0"/>
              <a:t>; il differenziamento costruisce le caratteristiche del gamete. Alla fecondazione, l’unione di due gameti ristabilirà due corredi.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e893e97104d93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77CE7-B168-401C-8580-18010F92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3C569-689E-4472-93FA-D20453B4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67/95 · 2/2    |    78/128</a:t>
            </a:r>
          </a:p>
        </p:txBody>
      </p:sp>
    </p:spTree>
    <p:extLst>
      <p:ext uri="{BB962C8B-B14F-4D97-AF65-F5344CB8AC3E}">
        <p14:creationId xmlns:p14="http://schemas.microsoft.com/office/powerpoint/2010/main" val="1268963884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9CBD9-EA91-491C-8EFE-A3E7A9AF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160C5-DBE2-41D3-BEB3-7422CC46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3F88-F14A-4024-8026-75A9A17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arrivano nelle gonadi le cellule germinali?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B510B-6DD0-4078-9439-48AF85D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Aploide</a:t>
            </a:r>
            <a:r>
              <a:rPr b="0" i="0"/>
              <a:t> significa un corredo cromosomico; </a:t>
            </a:r>
            <a:r>
              <a:rPr b="1" i="0"/>
              <a:t>diploide</a:t>
            </a:r>
            <a:r>
              <a:rPr b="0" i="0"/>
              <a:t> due. La posizione della meiosi nel ciclo vitale cambia fra organismi.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CA85F-7455-4140-A07D-BAF2DE07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Nelle piante può crescere una fase aploide</a:t>
            </a:r>
            <a:r>
              <a:t>. </a:t>
            </a:r>
            <a:r>
              <a:rPr b="0" i="0"/>
              <a:t>Nelle piante, anche cellule con un solo corredo cromosomico possono dividersi e costruire un organismo pluricellulare. Questa </a:t>
            </a:r>
            <a:r>
              <a:rPr b="1" i="0"/>
              <a:t>fase aploide</a:t>
            </a:r>
            <a:r>
              <a:rPr b="0" i="0"/>
              <a:t> appartiene al normale ciclo vitale. Avere un solo corredo, quindi, non significa necessariamente essere un gamete incapace di moltiplicarsi.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1BC00-9596-45D1-98B6-C679E261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Due modi di avviare la linea germinale</a:t>
            </a:r>
            <a:r>
              <a:t>. </a:t>
            </a:r>
            <a:r>
              <a:rPr b="0" i="0"/>
              <a:t>In molti animali, alcune cellule ricevono dall’oocita molecole che ne orientano lo sviluppo verso la linea germinale: i </a:t>
            </a:r>
            <a:r>
              <a:rPr b="1" i="0"/>
              <a:t>determinanti citoplasmatici</a:t>
            </a:r>
            <a:r>
              <a:rPr b="0" i="0"/>
              <a:t>. Fra le proteine germinali, </a:t>
            </a:r>
            <a:r>
              <a:rPr b="1" i="0"/>
              <a:t>Vasa</a:t>
            </a:r>
            <a:r>
              <a:rPr b="0" i="0"/>
              <a:t> rimodella l’</a:t>
            </a:r>
            <a:r>
              <a:rPr b="1" i="0"/>
              <a:t>RNA</a:t>
            </a:r>
            <a:r>
              <a:rPr b="0" i="0"/>
              <a:t> usando energia da </a:t>
            </a:r>
            <a:r>
              <a:rPr b="1" i="0"/>
              <a:t>ATP</a:t>
            </a:r>
            <a:r>
              <a:rPr b="0" i="0"/>
              <a:t>: è un’</a:t>
            </a:r>
            <a:r>
              <a:rPr b="1" i="0"/>
              <a:t>RNA</a:t>
            </a:r>
            <a:r>
              <a:rPr b="0" i="0"/>
              <a:t>-elicasi. Nei mammiferi, invece, sono segnali delle cellule vicine a indurre il destino germinale.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8bd3a734047a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A973C-3FE2-4F2D-A969-9DE07239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2280-A6CA-4E66-AD9E-DCCD8A3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68/95 · 1/2    |    79/128</a:t>
            </a:r>
          </a:p>
        </p:txBody>
      </p:sp>
    </p:spTree>
    <p:extLst>
      <p:ext uri="{BB962C8B-B14F-4D97-AF65-F5344CB8AC3E}">
        <p14:creationId xmlns:p14="http://schemas.microsoft.com/office/powerpoint/2010/main" val="4599072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C6389-084A-4B27-A827-59EAF9B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935B1-61F3-42A4-9347-F355FBFA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BFF55-843D-4882-9A6A-55A5C3F4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arrivano nelle gonadi le cellule germinali?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98050-8406-4AE8-A16F-AC047E4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Impedire un diverso destino cellulare</a:t>
            </a:r>
            <a:r>
              <a:t>. </a:t>
            </a:r>
            <a:r>
              <a:rPr b="0" i="0"/>
              <a:t>Per mantenere il destino germinale, una cellula deve limitare anche i programmi che la farebbero diventare somatica. La proteina </a:t>
            </a:r>
            <a:r>
              <a:rPr b="1" i="0"/>
              <a:t>Nanos</a:t>
            </a:r>
            <a:r>
              <a:rPr b="0" i="0"/>
              <a:t> contribuisce a questo controllo legandosi a specifici </a:t>
            </a:r>
            <a:r>
              <a:rPr b="1" i="0"/>
              <a:t>RNA</a:t>
            </a:r>
            <a:r>
              <a:rPr b="0" i="0"/>
              <a:t> messaggeri, le istruzioni usate per produrre proteine. Quando ne blocca la </a:t>
            </a:r>
            <a:r>
              <a:rPr b="1" i="0"/>
              <a:t>traduzione</a:t>
            </a:r>
            <a:r>
              <a:rPr b="0" i="0"/>
              <a:t>, quei messaggi non vengono utilizzati per fabbricare le rispettive proteine.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0778F-FA1C-4271-A8D0-B8BFC555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2673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Il percorso verso la gonade</a:t>
            </a:r>
            <a:r>
              <a:t>. </a:t>
            </a:r>
            <a:r>
              <a:rPr b="0" i="0"/>
              <a:t>Le cellule germinali primordiali passano vicino all’intestino posteriore e attraversano il </a:t>
            </a:r>
            <a:r>
              <a:rPr b="1" i="0"/>
              <a:t>mesentere dorsale</a:t>
            </a:r>
            <a:r>
              <a:rPr b="0" i="0"/>
              <a:t> per raggiungere la gonade. Molecole di richiamo, chiamate </a:t>
            </a:r>
            <a:r>
              <a:rPr b="1" i="0"/>
              <a:t>chemochine</a:t>
            </a:r>
            <a:r>
              <a:rPr b="0" i="0"/>
              <a:t>, contribuiscono a guidarle. I segnali locali ne sostengono sopravvivenza e moltiplicazione, che continua dopo l’arrivo. 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60b2135ac4e2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55076-9905-4CDE-84B9-3F30416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DD067-2C24-4535-8591-3824789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68/95 · 2/2    |    80/128</a:t>
            </a:r>
          </a:p>
        </p:txBody>
      </p:sp>
    </p:spTree>
    <p:extLst>
      <p:ext uri="{BB962C8B-B14F-4D97-AF65-F5344CB8AC3E}">
        <p14:creationId xmlns:p14="http://schemas.microsoft.com/office/powerpoint/2010/main" val="30688999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156D5-950F-4E50-93AF-D8CC391C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E7CE0-C859-4576-8BB9-AC6A1CDA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FBF0B-108A-44A0-8AF3-E06A32C5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passa da due corredi di cromosomi a uno solo?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E1A65-FD64-4049-A413-E0DDBA31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Omologhi: </a:t>
            </a:r>
            <a:r>
              <a:rPr b="1" i="0"/>
              <a:t>cromosomi</a:t>
            </a:r>
            <a:r>
              <a:rPr b="0" i="0"/>
              <a:t> con gli stessi tipi di geni, uno per origine parentale. Fratelli: le due copie prodotte replicando un cromosoma.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99E74-0A25-4DB1-B56B-5DA356E8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Una </a:t>
            </a:r>
            <a:r>
              <a:rPr b="1" i="0"/>
              <a:t>replicazione</a:t>
            </a:r>
            <a:r>
              <a:rPr b="0" i="0"/>
              <a:t> prepara due divisioni: prima gli omologhi, poi i fratelli.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7EA0B-6EEF-4E1E-941F-ED81416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420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Prima si copia il DNA</a:t>
            </a:r>
            <a:r>
              <a:t>. </a:t>
            </a:r>
            <a:r>
              <a:rPr b="0" i="0"/>
              <a:t>Prima delle due divisioni meiotiche, la cellula copia il </a:t>
            </a:r>
            <a:r>
              <a:rPr b="1" i="0"/>
              <a:t>DNA</a:t>
            </a:r>
            <a:r>
              <a:rPr b="0" i="0"/>
              <a:t> nella fase S. Ogni cromosoma è così formato da due copie unite, i </a:t>
            </a:r>
            <a:r>
              <a:rPr b="1" i="0"/>
              <a:t>cromatidi fratelli</a:t>
            </a:r>
            <a:r>
              <a:rPr b="0" i="0"/>
              <a:t>. Nell’uomo i cromosomi restano 46, ma il </a:t>
            </a:r>
            <a:r>
              <a:rPr b="1" i="0"/>
              <a:t>DNA</a:t>
            </a:r>
            <a:r>
              <a:rPr b="0" i="0"/>
              <a:t> raddoppia: la condizione si indica con </a:t>
            </a:r>
            <a:r>
              <a:rPr b="1" i="0"/>
              <a:t>2n,4C</a:t>
            </a:r>
            <a:r>
              <a:rPr b="0" i="0"/>
              <a:t>. Il disegno mostra una sola coppia di omologhi.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5E516-10D6-4BF4-8451-A4DE468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2807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prima divisione separa gli omologhi</a:t>
            </a:r>
            <a:r>
              <a:t>. </a:t>
            </a:r>
            <a:r>
              <a:rPr b="0" i="0"/>
              <a:t>Nella </a:t>
            </a:r>
            <a:r>
              <a:rPr b="1" i="0"/>
              <a:t>meiosi I</a:t>
            </a:r>
            <a:r>
              <a:rPr b="0" i="0"/>
              <a:t> si separano i cromosomi omologhi: i due membri di una coppia, uno di origine materna e uno paterna. Ogni cellula riceve un solo corredo, ma conserva insieme i </a:t>
            </a:r>
            <a:r>
              <a:rPr b="1" i="0"/>
              <a:t>cromatidi fratelli</a:t>
            </a:r>
            <a:r>
              <a:rPr b="0" i="0"/>
              <a:t>. Nell’uomo contiene quindi 23 cromosomi ancora duplicati: </a:t>
            </a:r>
            <a:r>
              <a:rPr b="1" i="0"/>
              <a:t>n,2C</a:t>
            </a:r>
            <a:r>
              <a:rPr b="0" i="0"/>
              <a:t>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2dfdf139647de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93D4B-D8BB-4E64-8F30-185DE560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84F12-2B26-405C-92B8-3603618F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69/95 · 1/2    |    81/128</a:t>
            </a:r>
          </a:p>
        </p:txBody>
      </p:sp>
    </p:spTree>
    <p:extLst>
      <p:ext uri="{BB962C8B-B14F-4D97-AF65-F5344CB8AC3E}">
        <p14:creationId xmlns:p14="http://schemas.microsoft.com/office/powerpoint/2010/main" val="132998700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65C8C-4C83-46FE-A16F-BB0451C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A0BAA-BC39-4AE4-A14A-E43EBF02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F355E-854D-4CFC-8984-D3CC058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passa da due corredi di cromosomi a uno solo?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8ED7C-624C-45C7-8E9E-455CA5F1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seconda divisione separa i fratelli</a:t>
            </a:r>
            <a:r>
              <a:t>. </a:t>
            </a:r>
            <a:r>
              <a:rPr b="0" i="0"/>
              <a:t>Il </a:t>
            </a:r>
            <a:r>
              <a:rPr b="1" i="0"/>
              <a:t>DNA</a:t>
            </a:r>
            <a:r>
              <a:rPr b="0" i="0"/>
              <a:t> </a:t>
            </a:r>
            <a:r>
              <a:rPr b="1" i="0"/>
              <a:t>non viene copiato di nuovo</a:t>
            </a:r>
            <a:r>
              <a:rPr b="0" i="0"/>
              <a:t> prima della meiosi II. Questa seconda divisione separa i </a:t>
            </a:r>
            <a:r>
              <a:rPr b="1" i="0"/>
              <a:t>cromatidi fratelli</a:t>
            </a:r>
            <a:r>
              <a:rPr b="0" i="0"/>
              <a:t> e li distribuisce a cellule diverse. Ogni prodotto riceve un solo corredo di cromosomi non duplicati: nell’uomo sono 23, nella condizione indicata come </a:t>
            </a:r>
            <a:r>
              <a:rPr b="1" i="0"/>
              <a:t>n,1C</a:t>
            </a:r>
            <a:r>
              <a:rPr b="0" i="0"/>
              <a:t>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4c83ce05243a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389FC-F66C-4985-8527-A890606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3D26A-E597-454C-B421-F601FDEB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69/95 · 2/2    |    82/128</a:t>
            </a:r>
          </a:p>
        </p:txBody>
      </p:sp>
    </p:spTree>
    <p:extLst>
      <p:ext uri="{BB962C8B-B14F-4D97-AF65-F5344CB8AC3E}">
        <p14:creationId xmlns:p14="http://schemas.microsoft.com/office/powerpoint/2010/main" val="86932476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BB7E2-BFA0-4047-9E06-D267E134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5C4BF-AA7A-4127-8C3D-C8BADB7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1917E-AA0B-4B6A-86F8-8A53B44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diventa la gonade un testicolo oppure un ovaio?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CE49-663A-4802-B47C-67236AE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Prima si forma il tessuto gonadico; poi reti diverse ne guidano la specializzazione.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4AD69-B1D9-427C-97BF-1EE0B955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Avviare il programma testicolare</a:t>
            </a:r>
            <a:r>
              <a:t>. </a:t>
            </a:r>
            <a:r>
              <a:rPr b="0" i="0"/>
              <a:t>La </a:t>
            </a:r>
            <a:r>
              <a:rPr b="1" i="0"/>
              <a:t>gonade</a:t>
            </a:r>
            <a:r>
              <a:rPr b="0" i="0"/>
              <a:t> iniziale può svilupparsi come testicolo oppure come ovaio. Nella via testicolare tipica interviene </a:t>
            </a:r>
            <a:r>
              <a:rPr b="1" i="0"/>
              <a:t>SRY</a:t>
            </a:r>
            <a:r>
              <a:rPr b="0" i="0"/>
              <a:t>, un regolatore prodotto da un gene del cromosoma Y. </a:t>
            </a:r>
            <a:r>
              <a:rPr b="1" i="0"/>
              <a:t>SRY</a:t>
            </a:r>
            <a:r>
              <a:rPr b="0" i="0"/>
              <a:t> favorisce un altro regolatore, </a:t>
            </a:r>
            <a:r>
              <a:rPr b="1" i="0"/>
              <a:t>SOX9</a:t>
            </a:r>
            <a:r>
              <a:rPr b="0" i="0"/>
              <a:t>: insieme al resto della rete, questo avvia la formazione delle </a:t>
            </a:r>
            <a:r>
              <a:rPr b="1" i="0"/>
              <a:t>cellule di Sertoli</a:t>
            </a:r>
            <a:r>
              <a:rPr b="0" i="0"/>
              <a:t>, che organizzano l’ambiente delle cellule germinali.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514D5-7759-4032-A410-E4BF364F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Costruire attivamente l’ovaio</a:t>
            </a:r>
            <a:r>
              <a:t>. </a:t>
            </a:r>
            <a:r>
              <a:rPr b="0" i="0"/>
              <a:t>Anche lo sviluppo dell’ovaio richiede </a:t>
            </a:r>
            <a:r>
              <a:rPr b="1" i="0"/>
              <a:t>segnali</a:t>
            </a:r>
            <a:r>
              <a:rPr b="0" i="0"/>
              <a:t> e regolatori attivi. </a:t>
            </a:r>
            <a:r>
              <a:rPr b="1" i="0"/>
              <a:t>WNT4</a:t>
            </a:r>
            <a:r>
              <a:rPr b="0" i="0"/>
              <a:t> e </a:t>
            </a:r>
            <a:r>
              <a:rPr b="1" i="0"/>
              <a:t>RSPO1</a:t>
            </a:r>
            <a:r>
              <a:rPr b="0" i="0"/>
              <a:t> partecipano alla comunicazione fra cellule; </a:t>
            </a:r>
            <a:r>
              <a:rPr b="1" i="0"/>
              <a:t>FOXL2</a:t>
            </a:r>
            <a:r>
              <a:rPr b="0" i="0"/>
              <a:t> regola l’attività dei geni nel nucleo. Questi protagonisti svolgono compiti differenti e contribuiscono a costruire e mantenere l’</a:t>
            </a:r>
            <a:r>
              <a:rPr b="1" i="0"/>
              <a:t>identità ovarica</a:t>
            </a:r>
            <a:r>
              <a:rPr b="0" i="0"/>
              <a:t>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a5c11a6324bd4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1A2BC-876B-4695-9D0D-3D1EB79C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50A51-6B44-463F-BA90-5123C51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70/95 · 1/2    |    83/128</a:t>
            </a:r>
          </a:p>
        </p:txBody>
      </p:sp>
    </p:spTree>
    <p:extLst>
      <p:ext uri="{BB962C8B-B14F-4D97-AF65-F5344CB8AC3E}">
        <p14:creationId xmlns:p14="http://schemas.microsoft.com/office/powerpoint/2010/main" val="111794495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FD9D0-9F36-495D-9C6C-3F0712A8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FB20B-AB72-4CCA-B94A-B5AE8387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0D0FE-1FB7-4DBF-87DE-9595AF68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diventa la gonade un testicolo oppure un ovaio?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0281B-041D-4AC5-85C0-71E4F57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Quando SRY non funziona</a:t>
            </a:r>
            <a:r>
              <a:t>. </a:t>
            </a:r>
            <a:r>
              <a:rPr b="0" i="0"/>
              <a:t>Un individuo con 46 cromosomi e corredo sessuale XY può avere una versione </a:t>
            </a:r>
            <a:r>
              <a:rPr b="1" i="0"/>
              <a:t>non funzionante</a:t>
            </a:r>
            <a:r>
              <a:rPr b="0" i="0"/>
              <a:t> di </a:t>
            </a:r>
            <a:r>
              <a:rPr b="1" i="0"/>
              <a:t>SRY</a:t>
            </a:r>
            <a:r>
              <a:rPr b="0" i="0"/>
              <a:t>. In questo caso, il programma che normalmente avvia lo sviluppo testicolare può essere compromesso. La presenza del cromosoma Y, da sola, non garantisce che tutti i </a:t>
            </a:r>
            <a:r>
              <a:rPr b="1" i="0"/>
              <a:t>segnali</a:t>
            </a:r>
            <a:r>
              <a:rPr b="0" i="0"/>
              <a:t> necessari funzionino.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b2e401114fd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6592A-49A0-43EC-8373-32800773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C5A0A-EDA6-459B-9E97-AB4317FC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70/95 · 2/2    |    84/128</a:t>
            </a:r>
          </a:p>
        </p:txBody>
      </p:sp>
    </p:spTree>
    <p:extLst>
      <p:ext uri="{BB962C8B-B14F-4D97-AF65-F5344CB8AC3E}">
        <p14:creationId xmlns:p14="http://schemas.microsoft.com/office/powerpoint/2010/main" val="162138294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B693E-5F28-427B-BBB0-BC5E7B75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909F2-33B9-40BD-9117-E88D7165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51C91-CE07-4469-9EDF-81702FE6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organizza il tessuto di testicolo e ovaio?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CBCDA-5614-4C47-ADD5-BCADB5B8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Dopo la scelta del programma, le </a:t>
            </a:r>
            <a:r>
              <a:rPr b="1" i="0"/>
              <a:t>cellule</a:t>
            </a:r>
            <a:r>
              <a:rPr b="0" i="0"/>
              <a:t> devono organizzarsi in un tessuto funzionante.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59668-EBC3-4165-8E8E-4714199B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Costruire il tessuto testicolare</a:t>
            </a:r>
            <a:r>
              <a:t>. </a:t>
            </a:r>
            <a:r>
              <a:rPr b="0" i="0"/>
              <a:t>Le cellule di </a:t>
            </a:r>
            <a:r>
              <a:rPr b="1" i="0"/>
              <a:t>Sertoli</a:t>
            </a:r>
            <a:r>
              <a:rPr b="0" i="0"/>
              <a:t> contribuiscono a organizzare il testicolo in formazione. Favoriscono l’arrivo di cellule dai tessuti vicini: </a:t>
            </a:r>
            <a:r>
              <a:rPr b="1" i="0"/>
              <a:t>cellule endoteliali</a:t>
            </a:r>
            <a:r>
              <a:rPr b="0" i="0"/>
              <a:t>, che rivestono i vasi, e </a:t>
            </a:r>
            <a:r>
              <a:rPr b="1" i="0"/>
              <a:t>cellule muscolari lisce</a:t>
            </a:r>
            <a:r>
              <a:rPr b="0" i="0"/>
              <a:t>. Il loro ingresso permette di costruire componenti del tessuto e della sua rete vascolare.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A11E4-5EC0-4478-B176-1171918B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Cordoni interni e follicoli esterni</a:t>
            </a:r>
            <a:r>
              <a:t>. </a:t>
            </a:r>
            <a:r>
              <a:rPr b="0" i="0"/>
              <a:t>Nel testicolo in sviluppo, le cellule germinali si organizzano nei cordoni della regione interna, chiamata </a:t>
            </a:r>
            <a:r>
              <a:rPr b="1" i="0"/>
              <a:t>midollare</a:t>
            </a:r>
            <a:r>
              <a:rPr b="0" i="0"/>
              <a:t>. Le </a:t>
            </a:r>
            <a:r>
              <a:rPr b="1" i="0"/>
              <a:t>Sertoli</a:t>
            </a:r>
            <a:r>
              <a:rPr b="0" i="0"/>
              <a:t> ne sostengono l’organizzazione e favoriscono anche il differenziamento delle Leydig. Nell’ovaio, invece, le cellule germinali si troveranno nei follicoli della </a:t>
            </a:r>
            <a:r>
              <a:rPr b="1" i="0"/>
              <a:t>corteccia</a:t>
            </a:r>
            <a:r>
              <a:rPr b="0" i="0"/>
              <a:t>, cioè la regione più esterna.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8cf09b6cd4b51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F2F59-3F87-49D5-904C-65659A09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44233-6CA4-4A30-B6D7-9F40103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71/95    |    85/128</a:t>
            </a:r>
          </a:p>
        </p:txBody>
      </p:sp>
    </p:spTree>
    <p:extLst>
      <p:ext uri="{BB962C8B-B14F-4D97-AF65-F5344CB8AC3E}">
        <p14:creationId xmlns:p14="http://schemas.microsoft.com/office/powerpoint/2010/main" val="147065597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94DD6-F99B-4427-8E7B-9C4F593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C3E68-0567-44AC-A749-4769F78A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5EB5B-8AEC-4BDC-8CCE-B12F025B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guidano gli ormoni lo sviluppo dei dotti genitali?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2741-AD6A-45D2-943A-57C9308F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determinazione gonadica forma testicolo o ovaio; la differenziazione sessuale riguarda anche dotti, ghiandole e </a:t>
            </a:r>
            <a:r>
              <a:rPr b="1" i="0"/>
              <a:t>genitali esterni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D1DF9-3B92-4B4F-B2CA-C4879663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Due sistemi di dotti nell’embrione</a:t>
            </a:r>
            <a:r>
              <a:t>. </a:t>
            </a:r>
            <a:r>
              <a:rPr b="0" i="0"/>
              <a:t>Nell’embrione sono inizialmente presenti due sistemi di condotti: i </a:t>
            </a:r>
            <a:r>
              <a:rPr b="1" i="0"/>
              <a:t>dotti di Wolff</a:t>
            </a:r>
            <a:r>
              <a:rPr b="0" i="0"/>
              <a:t> e quelli di Müller. I condotti sono strutture diverse dalla gonade. Il loro destino dipenderà dai segnali ricevuti durante lo sviluppo: alcuni persisteranno e si differenzieranno, altri regrediranno.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3750A-51C4-4804-B627-60F13F13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Produrre AMH e far regredire Müller</a:t>
            </a:r>
            <a:r>
              <a:t>. </a:t>
            </a:r>
            <a:r>
              <a:rPr b="0" i="0"/>
              <a:t>Nelle cellule di </a:t>
            </a:r>
            <a:r>
              <a:rPr b="1" i="0"/>
              <a:t>Sertoli</a:t>
            </a:r>
            <a:r>
              <a:rPr b="0" i="0"/>
              <a:t>, </a:t>
            </a:r>
            <a:r>
              <a:rPr b="1" i="0"/>
              <a:t>SF1</a:t>
            </a:r>
            <a:r>
              <a:rPr b="0" i="0"/>
              <a:t> e </a:t>
            </a:r>
            <a:r>
              <a:rPr b="1" i="0"/>
              <a:t>SOX9</a:t>
            </a:r>
            <a:r>
              <a:rPr b="0" i="0"/>
              <a:t> collaborano alla produzione dell’ormone anti-Mülleriano, abbreviato </a:t>
            </a:r>
            <a:r>
              <a:rPr b="1" i="0"/>
              <a:t>AMH</a:t>
            </a:r>
            <a:r>
              <a:rPr b="0" i="0"/>
              <a:t>. L’ormone raggiunge i </a:t>
            </a:r>
            <a:r>
              <a:rPr b="1" i="0"/>
              <a:t>dotti di Müller</a:t>
            </a:r>
            <a:r>
              <a:rPr b="0" i="0"/>
              <a:t> e ne induce la </a:t>
            </a:r>
            <a:r>
              <a:rPr b="1" i="0"/>
              <a:t>regressione</a:t>
            </a:r>
            <a:r>
              <a:rPr b="0" i="0"/>
              <a:t>: questi condotti progressivamente scompaiono. La rete dei regolatori della gonade produce così un segnale che modifica un altro tessuto.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00d0046e245c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00D57-0B49-4556-882D-3A151A08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FDD13-1FC5-47C8-A33C-5331C03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72/95 · 1/2    |    86/128</a:t>
            </a:r>
          </a:p>
        </p:txBody>
      </p:sp>
    </p:spTree>
    <p:extLst>
      <p:ext uri="{BB962C8B-B14F-4D97-AF65-F5344CB8AC3E}">
        <p14:creationId xmlns:p14="http://schemas.microsoft.com/office/powerpoint/2010/main" val="173362627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3D4BE-DAE2-45B5-9B30-EC00E38C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12A1C-687B-4448-A752-A768C1E7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6E992-3681-4A06-9F3A-D6C0CF9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guidano gli ormoni lo sviluppo dei dotti genitali?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60116-03B7-4395-AC60-7E01FF6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Il destino dei dotti di Müller</a:t>
            </a:r>
            <a:r>
              <a:t>. </a:t>
            </a:r>
            <a:r>
              <a:rPr b="0" i="0"/>
              <a:t>Quando i </a:t>
            </a:r>
            <a:r>
              <a:rPr b="1" i="0"/>
              <a:t>dotti di Müller</a:t>
            </a:r>
            <a:r>
              <a:rPr b="0" i="0"/>
              <a:t> persistono, le loro diverse porzioni contribuiscono a formare le tube uterine, l’utero, la cervice e la porzione superiore della vagina. La cervice è il tratto inferiore dell’utero. Uno stesso sistema embrionale può quindi dare origine a più strutture collegate.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1ED18-4BD1-4B1C-835B-5D581436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7847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Sostenere Wolff con il testosterone</a:t>
            </a:r>
            <a:r>
              <a:t>. </a:t>
            </a:r>
            <a:r>
              <a:rPr b="0" i="0"/>
              <a:t>Nelle cellule di Leydig, </a:t>
            </a:r>
            <a:r>
              <a:rPr b="1" i="0"/>
              <a:t>SF1</a:t>
            </a:r>
            <a:r>
              <a:rPr b="0" i="0"/>
              <a:t> favorisce la sintesi degli ormoni steroidei, fra cui il </a:t>
            </a:r>
            <a:r>
              <a:rPr b="1" i="0"/>
              <a:t>testosterone</a:t>
            </a:r>
            <a:r>
              <a:rPr b="0" i="0"/>
              <a:t>. Questo androgeno sostiene i </a:t>
            </a:r>
            <a:r>
              <a:rPr b="1" i="0"/>
              <a:t>dotti di Wolff</a:t>
            </a:r>
            <a:r>
              <a:rPr b="0" i="0"/>
              <a:t>, che formano epididimo, dotto deferente e vescicole seminali. Senza il sostegno androgenico, i dotti </a:t>
            </a:r>
            <a:r>
              <a:rPr b="1" i="0"/>
              <a:t>regrediscono</a:t>
            </a:r>
            <a:r>
              <a:rPr b="0" i="0"/>
              <a:t>. L’epididimo maturerà gli spermatozoi; il deferente li trasporterà; le vescicole produrranno liquido seminale.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9CB47-8876-4D87-888E-F867DA2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534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Alcuni tessuti trasformano il testosterone</a:t>
            </a:r>
            <a:r>
              <a:t>. </a:t>
            </a:r>
            <a:r>
              <a:rPr b="0" i="0"/>
              <a:t>Nei tessuti bersaglio, un enzima chiamato </a:t>
            </a:r>
            <a:r>
              <a:rPr b="1" i="0"/>
              <a:t>5α-reduttasi</a:t>
            </a:r>
            <a:r>
              <a:rPr b="0" i="0"/>
              <a:t> trasforma il testosterone in </a:t>
            </a:r>
            <a:r>
              <a:rPr b="1" i="0"/>
              <a:t>diidrotestosterone</a:t>
            </a:r>
            <a:r>
              <a:rPr b="0" i="0"/>
              <a:t>, abbreviato </a:t>
            </a:r>
            <a:r>
              <a:rPr b="1" i="0"/>
              <a:t>DHT</a:t>
            </a:r>
            <a:r>
              <a:rPr b="0" i="0"/>
              <a:t>. Questa trasformazione rende disponibile un diverso segnale androgenico. Il </a:t>
            </a:r>
            <a:r>
              <a:rPr b="1" i="0"/>
              <a:t>DHT</a:t>
            </a:r>
            <a:r>
              <a:rPr b="0" i="0"/>
              <a:t> contribuisce allo sviluppo dei </a:t>
            </a:r>
            <a:r>
              <a:rPr b="1" i="0"/>
              <a:t>genitali esterni</a:t>
            </a:r>
            <a:r>
              <a:rPr b="0" i="0"/>
              <a:t> maschili e della prostata.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a5bf18eef4bba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C0A53-9C82-4676-9245-1E907C74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B5A1B-8A4C-4E61-9AC9-2E489BF4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72/95 · 2/2    |    87/128</a:t>
            </a:r>
          </a:p>
        </p:txBody>
      </p:sp>
    </p:spTree>
    <p:extLst>
      <p:ext uri="{BB962C8B-B14F-4D97-AF65-F5344CB8AC3E}">
        <p14:creationId xmlns:p14="http://schemas.microsoft.com/office/powerpoint/2010/main" val="10123914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566EF-7990-4C3D-A6B5-C388CB4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1CCD-4C8D-45CB-8C16-1AF68E22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DA1A1-A1E2-42F3-BA6C-F95078D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Da quali abbozzi derivano ghiandole e genitali esterni?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0C6DA-CBD3-461F-908E-4B292207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Dotti, </a:t>
            </a:r>
            <a:r>
              <a:rPr b="1" i="0"/>
              <a:t>seno urogenitale</a:t>
            </a:r>
            <a:r>
              <a:rPr b="0" i="0"/>
              <a:t> e abbozzi esterni sono strutture embrionali distinte.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39C7C-0AC8-431E-9E47-80954BB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Un’altra origine per alcune ghiandole</a:t>
            </a:r>
            <a:r>
              <a:t>. </a:t>
            </a:r>
            <a:r>
              <a:rPr b="0" i="0"/>
              <a:t>Alcune ghiandole derivano da una regione embrionale diversa dai dotti: il </a:t>
            </a:r>
            <a:r>
              <a:rPr b="1" i="0"/>
              <a:t>seno urogenitale</a:t>
            </a:r>
            <a:r>
              <a:rPr b="0" i="0"/>
              <a:t>. Da questa regione si sviluppano la prostata nel maschio e le ghiandole parauretrali di Skene nella femmina, poste vicino all’uretra. Il </a:t>
            </a:r>
            <a:r>
              <a:rPr b="1" i="0"/>
              <a:t>DHT</a:t>
            </a:r>
            <a:r>
              <a:rPr b="0" i="0"/>
              <a:t> contribuisce allo sviluppo della prostata, che quindi non deriva dal dotto di </a:t>
            </a:r>
            <a:r>
              <a:rPr b="1" i="0"/>
              <a:t>Wolff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D78C4-452D-47DD-A06F-3A4D791B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Riconoscere le strutture omologhe</a:t>
            </a:r>
            <a:r>
              <a:t>. </a:t>
            </a:r>
            <a:r>
              <a:rPr b="0" i="0"/>
              <a:t>Due strutture sono </a:t>
            </a:r>
            <a:r>
              <a:rPr b="1" i="0"/>
              <a:t>omologhe</a:t>
            </a:r>
            <a:r>
              <a:rPr b="0" i="0"/>
              <a:t> quando derivano dallo </a:t>
            </a:r>
            <a:r>
              <a:rPr b="1" i="0"/>
              <a:t>stesso abbozzo</a:t>
            </a:r>
            <a:r>
              <a:rPr b="0" i="0"/>
              <a:t> embrionale. Il tubercolo genitale può contribuire a pene o clitoride; le pieghe urogenitali all’uretra peniena o alle piccole labbra; i rigonfiamenti labioscrotali a scroto o grandi labbra. 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91f100c50456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6C97C-16CF-42A5-BAD2-C0435DF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47570-1547-4C0B-B819-0CEAC7FB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73/95    |    88/128</a:t>
            </a:r>
          </a:p>
        </p:txBody>
      </p:sp>
    </p:spTree>
    <p:extLst>
      <p:ext uri="{BB962C8B-B14F-4D97-AF65-F5344CB8AC3E}">
        <p14:creationId xmlns:p14="http://schemas.microsoft.com/office/powerpoint/2010/main" val="1604209788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9AB77-699E-486D-809F-B38C4A9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7F94C-31E6-4586-8F89-C665E8BE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F03A3-D8DE-4524-9E9C-A26BF667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Che cosa regola l’inizio della meiosi?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4898D-DCA7-4215-88A4-1C4B932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Confrontiamo il controllo studiato </a:t>
            </a:r>
            <a:r>
              <a:rPr b="1" i="0"/>
              <a:t>nel topo</a:t>
            </a:r>
            <a:r>
              <a:rPr b="0" i="0"/>
              <a:t> con il calendario della meiosi umana.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331D4-2169-4B1B-8E31-1FA4AA09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Il calendario della meiosi nell’uomo</a:t>
            </a:r>
            <a:r>
              <a:t>. </a:t>
            </a:r>
            <a:r>
              <a:rPr b="0" i="0"/>
              <a:t>Nell’ovaio umano, le cellule germinali iniziano la meiosi già durante la </a:t>
            </a:r>
            <a:r>
              <a:rPr b="1" i="0"/>
              <a:t>vita fetale</a:t>
            </a:r>
            <a:r>
              <a:rPr b="0" i="0"/>
              <a:t>. Nel testicolo umano, la produzione meiotica inizia invece dalla </a:t>
            </a:r>
            <a:r>
              <a:rPr b="1" i="0"/>
              <a:t>pubertà</a:t>
            </a:r>
            <a:r>
              <a:rPr b="0" i="0"/>
              <a:t>. </a:t>
            </a:r>
            <a:r>
              <a:t> 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dcff917844a58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D5EC9-9D9A-4D02-8C35-5D30DCA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Linea germinale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816A6-15AA-4163-98BF-F905579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74/95    |    89/128</a:t>
            </a:r>
          </a:p>
        </p:txBody>
      </p:sp>
    </p:spTree>
    <p:extLst>
      <p:ext uri="{BB962C8B-B14F-4D97-AF65-F5344CB8AC3E}">
        <p14:creationId xmlns:p14="http://schemas.microsoft.com/office/powerpoint/2010/main" val="128613431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DA9CB-BE44-42A4-A4AD-25D20D74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D01E3-BCB8-43C1-AE7A-3DD6C5E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B481D-753C-49E3-9632-B4A8492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associano gli omologhi prima di separarli?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FB4DF-1EC2-4EF8-BE21-27EC00D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Seguiamo una sola volta gli stadi della profase I, dall’avvicinamento alla preparazione del fuso.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9758-B494-4043-AB02-37C2BDA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Leptotene: preparare gli assi</a:t>
            </a:r>
            <a:r>
              <a:t>. </a:t>
            </a:r>
            <a:r>
              <a:rPr b="0" i="0"/>
              <a:t>Nel </a:t>
            </a:r>
            <a:r>
              <a:rPr b="1" i="0"/>
              <a:t>leptotene</a:t>
            </a:r>
            <a:r>
              <a:rPr b="0" i="0"/>
              <a:t> il </a:t>
            </a:r>
            <a:r>
              <a:rPr b="1" i="0"/>
              <a:t>DNA</a:t>
            </a:r>
            <a:r>
              <a:rPr b="0" i="0"/>
              <a:t> è già stato copiato, ma i cromosomi appaiono ancora sottili e i fratelli non sono facilmente distinguibili. Ogni cromosoma organizza un asse proteico che sostiene la cromatina. Gli </a:t>
            </a:r>
            <a:r>
              <a:rPr b="1" i="0"/>
              <a:t>omologhi</a:t>
            </a:r>
            <a:r>
              <a:rPr b="0" i="0"/>
              <a:t> si avvicinano e cercano sequenze corrispondenti: l’aspetto sottile non indica quindi un cromosoma non duplicato.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D446A-FE73-4F4C-9B7D-5E7C0D7F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Zigotene: collegare gli omologhi</a:t>
            </a:r>
            <a:r>
              <a:t>. </a:t>
            </a:r>
            <a:r>
              <a:rPr b="0" i="0"/>
              <a:t>Nello </a:t>
            </a:r>
            <a:r>
              <a:rPr b="1" i="0"/>
              <a:t>zigotene</a:t>
            </a:r>
            <a:r>
              <a:rPr b="0" i="0"/>
              <a:t> si costruisce il </a:t>
            </a:r>
            <a:r>
              <a:rPr b="1" i="0"/>
              <a:t>complesso sinaptonemico</a:t>
            </a:r>
            <a:r>
              <a:rPr b="0" i="0"/>
              <a:t>, una struttura proteica che collega gli assi dei due omologhi lungo la loro lunghezza. Questo appaiamento si chiama </a:t>
            </a:r>
            <a:r>
              <a:rPr b="1" i="0"/>
              <a:t>sinapsi</a:t>
            </a:r>
            <a:r>
              <a:rPr b="0" i="0"/>
              <a:t> e coinvolge anche l’organizzazione del nucleo e del suo involucro. Nella mitosi ordinaria gli omologhi non formano questa associazione.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4211efd5b40c2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DBB87-82E9-4BC7-91F2-09414091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F1FC9-DBA1-4941-B9E4-A9694A5E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75/95 · 1/3    |    90/128</a:t>
            </a:r>
          </a:p>
        </p:txBody>
      </p:sp>
    </p:spTree>
    <p:extLst>
      <p:ext uri="{BB962C8B-B14F-4D97-AF65-F5344CB8AC3E}">
        <p14:creationId xmlns:p14="http://schemas.microsoft.com/office/powerpoint/2010/main" val="136035443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16DF2-F904-446D-87A6-E77019D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36EF-FB05-4F27-A398-3B052247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147B-36F3-477C-9BF6-3E8C4593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associano gli omologhi prima di separarli?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DD265-90FA-41FE-8D38-42401BDE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Due omologhi, quattro cromatidi</a:t>
            </a:r>
            <a:r>
              <a:t>. </a:t>
            </a:r>
            <a:r>
              <a:rPr b="0" i="0"/>
              <a:t>La struttura appaiata contiene due cromosomi </a:t>
            </a:r>
            <a:r>
              <a:rPr b="1" i="0"/>
              <a:t>omologhi</a:t>
            </a:r>
            <a:r>
              <a:rPr b="0" i="0"/>
              <a:t>, ciascuno formato da due cromatidi fratelli. Se contiamo gli omologhi, la chiamiamo </a:t>
            </a:r>
            <a:r>
              <a:rPr b="1" i="0"/>
              <a:t>bivalente</a:t>
            </a:r>
            <a:r>
              <a:rPr b="0" i="0"/>
              <a:t>; se contiamo i quattro cromatidi, la chiamiamo </a:t>
            </a:r>
            <a:r>
              <a:rPr b="1" i="0"/>
              <a:t>tetrade</a:t>
            </a:r>
            <a:r>
              <a:rPr b="0" i="0"/>
              <a:t>. I due nomi descrivono quindi la stessa struttura, osservata con due conteggi diversi.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D519F-4D28-4EFE-A2DB-5896CCCD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7847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Pachitene: maturano gli scambi</a:t>
            </a:r>
            <a:r>
              <a:t>. </a:t>
            </a:r>
            <a:r>
              <a:rPr b="0" i="0"/>
              <a:t>Nel </a:t>
            </a:r>
            <a:r>
              <a:rPr b="1" i="0"/>
              <a:t>pachitene</a:t>
            </a:r>
            <a:r>
              <a:rPr b="0" i="0"/>
              <a:t> i cromosomi sono più condensati e appaiono più spessi. Fra cromatidi appartenenti a omologhi diversi, detti </a:t>
            </a:r>
            <a:r>
              <a:rPr b="1" i="0"/>
              <a:t>non fratelli</a:t>
            </a:r>
            <a:r>
              <a:rPr b="0" i="0"/>
              <a:t>, maturano gli scambi di </a:t>
            </a:r>
            <a:r>
              <a:rPr b="1" i="0"/>
              <a:t>DNA</a:t>
            </a:r>
            <a:r>
              <a:rPr b="0" i="0"/>
              <a:t>. I chiasmi diventeranno chiaramente visibili più avanti, quando gli omologhi inizieranno ad allontanarsi nel </a:t>
            </a:r>
            <a:r>
              <a:rPr b="1" i="0"/>
              <a:t>diplotene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0D34F-7FB2-493F-918F-EC2CF7E2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644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Diplotene: restare uniti nei chiasmi</a:t>
            </a:r>
            <a:r>
              <a:t>. </a:t>
            </a:r>
            <a:r>
              <a:rPr b="0" i="0"/>
              <a:t>Nel </a:t>
            </a:r>
            <a:r>
              <a:rPr b="1" i="0"/>
              <a:t>diplotene</a:t>
            </a:r>
            <a:r>
              <a:rPr b="0" i="0"/>
              <a:t> il </a:t>
            </a:r>
            <a:r>
              <a:rPr b="1" i="0"/>
              <a:t>complesso sinaptonemico</a:t>
            </a:r>
            <a:r>
              <a:rPr b="0" i="0"/>
              <a:t> si smonta e gli omologhi si allontanano. Restano collegati nei chiasmi, associati agli scambi di </a:t>
            </a:r>
            <a:r>
              <a:rPr b="1" i="0"/>
              <a:t>DNA</a:t>
            </a:r>
            <a:r>
              <a:rPr b="0" i="0"/>
              <a:t> precedenti; la coesione fra fratelli mantiene questi collegamenti. In questo stadio può continuare un’intensa </a:t>
            </a:r>
            <a:r>
              <a:rPr b="1" i="0"/>
              <a:t>trascrizione</a:t>
            </a:r>
            <a:r>
              <a:rPr b="0" i="0"/>
              <a:t>, cioè la produzione di </a:t>
            </a:r>
            <a:r>
              <a:rPr b="1" i="0"/>
              <a:t>RNA</a:t>
            </a:r>
            <a:r>
              <a:rPr b="0" i="0"/>
              <a:t>: la cellula continua a utilizzare i propri geni.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4affe66ff434c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A9EDC-8C0E-4A17-BD47-D14718C3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3B2D2-0C59-4D1B-A278-CE3EC51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75/95 · 2/3    |    91/128</a:t>
            </a:r>
          </a:p>
        </p:txBody>
      </p:sp>
    </p:spTree>
    <p:extLst>
      <p:ext uri="{BB962C8B-B14F-4D97-AF65-F5344CB8AC3E}">
        <p14:creationId xmlns:p14="http://schemas.microsoft.com/office/powerpoint/2010/main" val="777603687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857B0-7087-4BB6-B12D-647E4C2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EA45C-EDF5-435E-8D50-C63CA70E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F5A94-85F5-4DBF-B640-EC421FE7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associano gli omologhi prima di separarli?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8CF1C-638A-4493-982D-FB53910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Diacinesi: preparare la divisione</a:t>
            </a:r>
            <a:r>
              <a:t>. </a:t>
            </a:r>
            <a:r>
              <a:rPr b="0" i="0"/>
              <a:t>La </a:t>
            </a:r>
            <a:r>
              <a:rPr b="1" i="0"/>
              <a:t>diacinesi</a:t>
            </a:r>
            <a:r>
              <a:rPr b="0" i="0"/>
              <a:t> è l’ultimo stadio della profase I. I cromosomi si condensano ulteriormente e, verso il passaggio alla fase successiva, l’involucro nucleare viene disassemblato. Il fuso potrà così raggiungere i cromosomi. La metafase I, in cui i bivalenti si allineano, viene dopo.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02160464d41b8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349DB-1989-4D5E-9562-118CCC2B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2D86E-D6CA-427B-864E-4ACE65EE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75/95 · 3/3    |    92/128</a:t>
            </a:r>
          </a:p>
        </p:txBody>
      </p:sp>
    </p:spTree>
    <p:extLst>
      <p:ext uri="{BB962C8B-B14F-4D97-AF65-F5344CB8AC3E}">
        <p14:creationId xmlns:p14="http://schemas.microsoft.com/office/powerpoint/2010/main" val="33535253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5CC05-1D6E-4532-AEB4-B7E0BD9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11E6E-9690-457A-B0E2-2AD5DA5C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0702C-EEC7-4A73-8414-35A51D9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costruisce il collegamento fra gli omologhi?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AB2A1-B9C9-4E7C-ACD7-474D6CD1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Ingrandiamo gli assi, i filamenti che li uniscono e le anse di </a:t>
            </a:r>
            <a:r>
              <a:rPr b="1" i="0"/>
              <a:t>DNA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AA1B4-5C37-4EF2-BC07-C739595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Avvicinare sequenze corrispondenti</a:t>
            </a:r>
            <a:r>
              <a:t>. </a:t>
            </a:r>
            <a:r>
              <a:rPr b="0" i="0"/>
              <a:t>Quando gli assi degli omologhi sono ancora separati, nello schema di circa 400 nanometri, in molte specie intervengono </a:t>
            </a:r>
            <a:r>
              <a:rPr b="1" i="0"/>
              <a:t>rotture programmate</a:t>
            </a:r>
            <a:r>
              <a:rPr b="0" i="0"/>
              <a:t> del </a:t>
            </a:r>
            <a:r>
              <a:rPr b="1" i="0"/>
              <a:t>DNA</a:t>
            </a:r>
            <a:r>
              <a:rPr b="0" i="0"/>
              <a:t>. Proteine associate alle rotture ricercano una sequenza corrispondente nell’altro omologo. Il riconoscimento fra sequenze contribuisce a collegare appaiamento e ricombinazione.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9942E-86E5-4378-81D5-291C45A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Costruire il complesso sinaptonemico</a:t>
            </a:r>
            <a:r>
              <a:t>. </a:t>
            </a:r>
            <a:r>
              <a:rPr b="0" i="0"/>
              <a:t>Nel complesso sinaptonemico completo, gli assi distano nello schema circa 100 nanometri. </a:t>
            </a:r>
            <a:r>
              <a:rPr b="1" i="0"/>
              <a:t>Filamenti trasversali</a:t>
            </a:r>
            <a:r>
              <a:rPr b="0" i="0"/>
              <a:t> li collegano attraverso una regione centrale. Ogni </a:t>
            </a:r>
            <a:r>
              <a:rPr b="1" i="0"/>
              <a:t>omodimero</a:t>
            </a:r>
            <a:r>
              <a:rPr b="0" i="0"/>
              <a:t> contiene due copie della stessa proteina SYCP1; le regioni chiamate </a:t>
            </a:r>
            <a:r>
              <a:rPr b="1" i="0"/>
              <a:t>coiled-coil</a:t>
            </a:r>
            <a:r>
              <a:rPr b="0" i="0"/>
              <a:t> sono due eliche proteiche avvolte insieme. Difetti in questa struttura possono compromettere appaiamento e scambi.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59a6dae3d479c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5847D-F31B-4AD8-B6A3-2252F210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25B7D-1DA1-4E71-A27D-0DB00693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76/95    |    93/128</a:t>
            </a:r>
          </a:p>
        </p:txBody>
      </p:sp>
    </p:spTree>
    <p:extLst>
      <p:ext uri="{BB962C8B-B14F-4D97-AF65-F5344CB8AC3E}">
        <p14:creationId xmlns:p14="http://schemas.microsoft.com/office/powerpoint/2010/main" val="162681848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E7F2F-D22D-4744-98A7-7FC8203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9764B-2D4E-4058-BB18-E541DFF5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42760-0F7B-45FC-A7E9-C521760B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ripara il DNA usando il cromosoma omologo?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D2547-3DD6-420D-AA27-0A1F2F05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Seguiamo due doppie eliche: una per omologo. Ogni linea sottile rappresenta un filamento di </a:t>
            </a:r>
            <a:r>
              <a:rPr b="1" i="0"/>
              <a:t>DNA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1A2BC-2613-4A82-9481-8120034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Aprire il DNA per avviare il riparo</a:t>
            </a:r>
            <a:r>
              <a:t>. </a:t>
            </a:r>
            <a:r>
              <a:rPr b="0" i="0"/>
              <a:t>La ricombinazione meiotica inizia con una </a:t>
            </a:r>
            <a:r>
              <a:rPr b="1" i="0"/>
              <a:t>rottura programmata</a:t>
            </a:r>
            <a:r>
              <a:rPr b="0" i="0"/>
              <a:t> del </a:t>
            </a:r>
            <a:r>
              <a:rPr b="1" i="0"/>
              <a:t>DNA</a:t>
            </a:r>
            <a:r>
              <a:rPr b="0" i="0"/>
              <a:t>. L’enzima </a:t>
            </a:r>
            <a:r>
              <a:rPr b="1" i="0"/>
              <a:t>SPO11</a:t>
            </a:r>
            <a:r>
              <a:rPr b="0" i="0"/>
              <a:t> taglia entrambi i filamenti di una doppia elica e rimane inizialmente legato alle estremità. Questa apertura permette di avviare un riparo che utilizzerà la sequenza del cromosoma omologo.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4BF68-8CE6-41C0-9592-E4B5D0C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Preparare le estremità libere</a:t>
            </a:r>
            <a:r>
              <a:t>. </a:t>
            </a:r>
            <a:r>
              <a:rPr b="0" i="0"/>
              <a:t>Per usare il </a:t>
            </a:r>
            <a:r>
              <a:rPr b="1" i="0"/>
              <a:t>DNA</a:t>
            </a:r>
            <a:r>
              <a:rPr b="0" i="0"/>
              <a:t> dell’omologo, le estremità rotte devono essere preparate. </a:t>
            </a:r>
            <a:r>
              <a:rPr b="1" i="0"/>
              <a:t>MRE11</a:t>
            </a:r>
            <a:r>
              <a:rPr b="0" i="0"/>
              <a:t> e altri enzimi rimuovono </a:t>
            </a:r>
            <a:r>
              <a:rPr b="1" i="0"/>
              <a:t>SPO11</a:t>
            </a:r>
            <a:r>
              <a:rPr b="0" i="0"/>
              <a:t> e accorciano i filamenti dal lato chiamato cinque primo. Questa resezione lascia code a </a:t>
            </a:r>
            <a:r>
              <a:rPr b="1" i="0"/>
              <a:t>singolo filamento</a:t>
            </a:r>
            <a:r>
              <a:rPr b="0" i="0"/>
              <a:t> con estremità </a:t>
            </a:r>
            <a:r>
              <a:rPr b="1" i="0"/>
              <a:t>tre primo</a:t>
            </a:r>
            <a:r>
              <a:rPr b="0" i="0"/>
              <a:t>, capaci di cercare una sequenza corrispondente.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3BC46-F78E-4775-93F9-B953A6C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9483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Usare l’omologo come stampo</a:t>
            </a:r>
            <a:r>
              <a:t>. </a:t>
            </a:r>
            <a:r>
              <a:rPr b="0" i="0"/>
              <a:t>Una coda a </a:t>
            </a:r>
            <a:r>
              <a:rPr b="1" i="0"/>
              <a:t>singolo filamento</a:t>
            </a:r>
            <a:r>
              <a:rPr b="0" i="0"/>
              <a:t> si inserisce nella doppia elica dell’altro omologo e si appaia alla sequenza corrispondente. Quel </a:t>
            </a:r>
            <a:r>
              <a:rPr b="1" i="0"/>
              <a:t>DNA</a:t>
            </a:r>
            <a:r>
              <a:rPr b="0" i="0"/>
              <a:t> funziona da </a:t>
            </a:r>
            <a:r>
              <a:rPr b="1" i="0"/>
              <a:t>stampo</a:t>
            </a:r>
            <a:r>
              <a:rPr b="0" i="0"/>
              <a:t>: la cellula ne usa l’informazione per sintetizzare il </a:t>
            </a:r>
            <a:r>
              <a:rPr b="1" i="0"/>
              <a:t>tratto mancante</a:t>
            </a:r>
            <a:r>
              <a:rPr b="0" i="0"/>
              <a:t>. In questo modo il riparo recupera informazione da una sequenza omologa.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f06109ea04594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94315-11BC-4420-ACBA-ED7E7FB1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F3E0F-33CA-48AA-A08B-1840935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77/95 · 1/3    |    94/128</a:t>
            </a:r>
          </a:p>
        </p:txBody>
      </p:sp>
    </p:spTree>
    <p:extLst>
      <p:ext uri="{BB962C8B-B14F-4D97-AF65-F5344CB8AC3E}">
        <p14:creationId xmlns:p14="http://schemas.microsoft.com/office/powerpoint/2010/main" val="21621196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86263-665C-48B9-BC13-E9F725B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D4310-212E-4FF7-B56C-3E55CF4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317F6-A122-423B-A499-E6F3244D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ripara il DNA usando il cromosoma omologo?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A5588-79BD-4B53-94E7-1E1ABE6F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Produrre uno scambio reciproco</a:t>
            </a:r>
            <a:r>
              <a:t>. </a:t>
            </a:r>
            <a:r>
              <a:rPr b="0" i="0"/>
              <a:t>Coinvolgendo la seconda estremità rotta, sintesi e ligazione possono formare due </a:t>
            </a:r>
            <a:r>
              <a:rPr b="1" i="0"/>
              <a:t>giunzioni di Holliday</a:t>
            </a:r>
            <a:r>
              <a:rPr b="0" i="0"/>
              <a:t>, incroci fra filamenti delle due doppie eliche. Una risoluzione appropriata produce un </a:t>
            </a:r>
            <a:r>
              <a:rPr b="1" i="0"/>
              <a:t>crossover</a:t>
            </a:r>
            <a:r>
              <a:rPr b="0" i="0"/>
              <a:t>: lo scambio reciproco dei tratti laterali fra cromatidi </a:t>
            </a:r>
            <a:r>
              <a:rPr b="1" i="0"/>
              <a:t>non fratelli</a:t>
            </a:r>
            <a:r>
              <a:rPr b="0" i="0"/>
              <a:t>. Ogni cromatidio può così combinare segmenti materni e paterni; una giunzione, da sola, non garantisce lo scambio.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12291-AE04-4E5D-81B4-F56A96B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63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Riparare senza scambiare i tratti laterali</a:t>
            </a:r>
            <a:r>
              <a:t>. </a:t>
            </a:r>
            <a:r>
              <a:rPr b="0" i="0"/>
              <a:t>Dopo aver copiato l’omologo, il filamento appena sintetizzato può staccarsi e riappaiarsi all’altra estremità del </a:t>
            </a:r>
            <a:r>
              <a:rPr b="1" i="0"/>
              <a:t>DNA</a:t>
            </a:r>
            <a:r>
              <a:rPr b="0" i="0"/>
              <a:t> rotto. Il riparo si chiude </a:t>
            </a:r>
            <a:r>
              <a:rPr b="1" i="0"/>
              <a:t>senza scambio</a:t>
            </a:r>
            <a:r>
              <a:rPr b="0" i="0"/>
              <a:t> reciproco delle regioni laterali: è un esito </a:t>
            </a:r>
            <a:r>
              <a:rPr b="1" i="0"/>
              <a:t>non-crossover</a:t>
            </a:r>
            <a:r>
              <a:rPr b="0" i="0"/>
              <a:t>. Nell’esempio considerato, circa il 90% delle rotture si risolve senza crossover; la proporzione dipende dal contesto.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1a29c31ba450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22A85-26EE-4160-9F4C-E65E01CC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416F7-6D53-4915-92DB-9597E102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77/95 · 2/3    |    95/128</a:t>
            </a:r>
          </a:p>
        </p:txBody>
      </p:sp>
    </p:spTree>
    <p:extLst>
      <p:ext uri="{BB962C8B-B14F-4D97-AF65-F5344CB8AC3E}">
        <p14:creationId xmlns:p14="http://schemas.microsoft.com/office/powerpoint/2010/main" val="817089464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41E8E-80CC-40F0-92C3-352E2912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C886A-93C3-4D23-AAFB-9490DB8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8A41D-0C6C-4C00-982C-23C51B5B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ripara il DNA usando il cromosoma omologo?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23672-2EF1-4F2C-9A14-31C7490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Copiare una variante di sequenza</a:t>
            </a:r>
            <a:r>
              <a:t>. </a:t>
            </a:r>
            <a:r>
              <a:rPr b="0" i="0"/>
              <a:t>Durante il riparo, il </a:t>
            </a:r>
            <a:r>
              <a:rPr b="1" i="0"/>
              <a:t>DNA</a:t>
            </a:r>
            <a:r>
              <a:rPr b="0" i="0"/>
              <a:t> che riceve l’informazione può acquisire una variante presente nell’omologo usato come </a:t>
            </a:r>
            <a:r>
              <a:rPr b="1" i="0"/>
              <a:t>stampo</a:t>
            </a:r>
            <a:r>
              <a:rPr b="0" i="0"/>
              <a:t>. Questo cambiamento locale si chiama </a:t>
            </a:r>
            <a:r>
              <a:rPr b="1" i="0"/>
              <a:t>conversione genica</a:t>
            </a:r>
            <a:r>
              <a:rPr b="0" i="0"/>
              <a:t>. Nel disegno cambia la coppia di basi nella regione riparata, mentre i tratti ai lati restano nella loro posizione: conversione e scambio reciproco sono fenomeni distinti.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ec5af59624b5b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6EA10-CE63-499F-80F7-C6AFCA7B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4634D-D6F1-4A15-BD23-CD8CDB95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77/95 · 3/3    |    96/128</a:t>
            </a:r>
          </a:p>
        </p:txBody>
      </p:sp>
    </p:spTree>
    <p:extLst>
      <p:ext uri="{BB962C8B-B14F-4D97-AF65-F5344CB8AC3E}">
        <p14:creationId xmlns:p14="http://schemas.microsoft.com/office/powerpoint/2010/main" val="366437202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F9315-46CF-4028-BF4D-6AD067C8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A5AFF-1661-43C6-9563-EB4E7AD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FFBE-2C53-450B-9900-733DDAB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separano prima gli omologhi e poi i fratelli?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E52AF-C238-46AE-A9D4-CBC0BBD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legami devono essere rimossi </a:t>
            </a:r>
            <a:r>
              <a:rPr b="1" i="0"/>
              <a:t>in due tempi</a:t>
            </a:r>
            <a:r>
              <a:rPr b="0" i="0"/>
              <a:t>: prima lungo i bracci, poi vicino ai centromeri.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6597E-B69A-4340-957D-33B42D3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Preparare REC8 al taglio</a:t>
            </a:r>
            <a:r>
              <a:t>. </a:t>
            </a:r>
            <a:r>
              <a:rPr b="1" i="0"/>
              <a:t>REC8</a:t>
            </a:r>
            <a:r>
              <a:rPr b="0" i="0"/>
              <a:t> è una componente della coesina meiotica che può essere tagliata dalla </a:t>
            </a:r>
            <a:r>
              <a:rPr b="1" i="0"/>
              <a:t>separasi</a:t>
            </a:r>
            <a:r>
              <a:rPr b="0" i="0"/>
              <a:t>. Nel modello mostrato, l’aggiunta di gruppi fosfato a </a:t>
            </a:r>
            <a:r>
              <a:rPr b="1" i="0"/>
              <a:t>REC8</a:t>
            </a:r>
            <a:r>
              <a:rPr b="0" i="0"/>
              <a:t> ne favorisce il taglio.</a:t>
            </a:r>
            <a:r>
              <a:t>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D8FC0-EB9E-44C8-84A2-8BC01FD3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Proteggere REC8 togliendo fosfati</a:t>
            </a:r>
            <a:r>
              <a:t>. </a:t>
            </a:r>
            <a:r>
              <a:rPr b="1" i="0"/>
              <a:t>Shugoshin</a:t>
            </a:r>
            <a:r>
              <a:rPr b="0" i="0"/>
              <a:t> porta vicino al centromero </a:t>
            </a:r>
            <a:r>
              <a:rPr b="1" i="0"/>
              <a:t>PP2A</a:t>
            </a:r>
            <a:r>
              <a:rPr b="0" i="0"/>
              <a:t>, una fosfatasi: un enzima che rimuove gruppi fosfato. </a:t>
            </a:r>
            <a:r>
              <a:rPr b="1" i="0"/>
              <a:t>PP2A</a:t>
            </a:r>
            <a:r>
              <a:rPr b="0" i="0"/>
              <a:t> </a:t>
            </a:r>
            <a:r>
              <a:rPr b="1" i="0"/>
              <a:t>toglie fosfati</a:t>
            </a:r>
            <a:r>
              <a:rPr b="0" i="0"/>
              <a:t> a </a:t>
            </a:r>
            <a:r>
              <a:rPr b="1" i="0"/>
              <a:t>REC8</a:t>
            </a:r>
            <a:r>
              <a:rPr b="0" i="0"/>
              <a:t> e ne favorisce la protezione dal taglio. La coesione </a:t>
            </a:r>
            <a:r>
              <a:rPr b="1" i="0"/>
              <a:t>centromerica</a:t>
            </a:r>
            <a:r>
              <a:rPr b="0" i="0"/>
              <a:t> può così restare attiva mentre quella dei bracci viene eliminata durante la prima divisione.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C0045-1993-4F25-8FEC-9978068E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169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Separare gli omologhi e dividere il citoplasma</a:t>
            </a:r>
            <a:r>
              <a:t>. </a:t>
            </a:r>
            <a:r>
              <a:rPr b="0" i="0"/>
              <a:t>Dopo l’allineamento in metafase I, la rimozione della </a:t>
            </a:r>
            <a:r>
              <a:rPr b="1" i="0"/>
              <a:t>coesione</a:t>
            </a:r>
            <a:r>
              <a:rPr b="0" i="0"/>
              <a:t> sui bracci libera i collegamenti fra gli omologhi. In anafase I i due omologhi raggiungono </a:t>
            </a:r>
            <a:r>
              <a:rPr b="1" i="0"/>
              <a:t>poli opposti</a:t>
            </a:r>
            <a:r>
              <a:rPr b="0" i="0"/>
              <a:t>, mentre i </a:t>
            </a:r>
            <a:r>
              <a:rPr b="1" i="0"/>
              <a:t>fratelli restano uniti</a:t>
            </a:r>
            <a:r>
              <a:rPr b="0" i="0"/>
              <a:t>. Telofase e divisione del citoplasma producono due cellule, ciascuna con un membro di ogni coppia.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006c0d515448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94CC4-B9BF-4E59-A671-B115585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3D8F1-FFA8-4AE4-97F6-B6F18407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78/95 · 1/2    |    97/128</a:t>
            </a:r>
          </a:p>
        </p:txBody>
      </p:sp>
    </p:spTree>
    <p:extLst>
      <p:ext uri="{BB962C8B-B14F-4D97-AF65-F5344CB8AC3E}">
        <p14:creationId xmlns:p14="http://schemas.microsoft.com/office/powerpoint/2010/main" val="1904889256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B4B5A-B1A7-4963-BA41-2F6F434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48613-9356-443F-B4FD-61F2728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F1A45-BCBB-48FC-BD4F-C93DB84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separano prima gli omologhi e poi i fratelli?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1EB58-32E5-432A-B415-E9B982D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Separare i fratelli nella seconda divisione</a:t>
            </a:r>
            <a:r>
              <a:t>. </a:t>
            </a:r>
            <a:r>
              <a:rPr b="0" i="0"/>
              <a:t>La profase II prepara un nuovo fuso e disassembla l’eventuale involucro nucleare riformato. In metafase II i </a:t>
            </a:r>
            <a:r>
              <a:rPr b="1" i="0"/>
              <a:t>cinetocori</a:t>
            </a:r>
            <a:r>
              <a:rPr b="0" i="0"/>
              <a:t> fratelli si collegano a </a:t>
            </a:r>
            <a:r>
              <a:rPr b="1" i="0"/>
              <a:t>poli opposti</a:t>
            </a:r>
            <a:r>
              <a:rPr b="0" i="0"/>
              <a:t>. Perduta o riposizionata la protezione centromerica, la </a:t>
            </a:r>
            <a:r>
              <a:rPr b="1" i="0"/>
              <a:t>separasi</a:t>
            </a:r>
            <a:r>
              <a:rPr b="0" i="0"/>
              <a:t> taglia il legame rimasto: i fratelli si separano in anafase II. Telofase e citodieresi completano la divisione.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c2cd5349d4b8a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16A38-5AE8-4CB2-AF3B-529A989B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6D495-D605-4D65-B28C-82C00DC1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78/95 · 2/2    |    98/128</a:t>
            </a:r>
          </a:p>
        </p:txBody>
      </p:sp>
    </p:spTree>
    <p:extLst>
      <p:ext uri="{BB962C8B-B14F-4D97-AF65-F5344CB8AC3E}">
        <p14:creationId xmlns:p14="http://schemas.microsoft.com/office/powerpoint/2010/main" val="106755883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C03F1-295F-4D1E-87FF-B117728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3696C-B19C-42B3-B400-6BAE879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ABEA4-0E80-4212-979D-961E02F5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moltiplicano le combinazioni genetiche dei gameti?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C3959-81AC-429D-93D6-7C6486D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Orientamento delle coppie e posizione degli scambi contribuiscono in modi diversi alla variabilità.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771C2-2EF7-43C2-941D-F28F0AC8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Orientare ciascuna coppia indipendentemente</a:t>
            </a:r>
            <a:r>
              <a:t>. </a:t>
            </a:r>
            <a:r>
              <a:rPr b="0" i="0"/>
              <a:t>Nella metafase I, ciascuna coppia di omologhi può orientarsi in </a:t>
            </a:r>
            <a:r>
              <a:rPr b="1" i="0"/>
              <a:t>due modi</a:t>
            </a:r>
            <a:r>
              <a:rPr b="0" i="0"/>
              <a:t> rispetto ai poli del fuso. Nel disegno, la coppia corta può invertire il proprio orientamento senza cambiare quello della coppia lunga. Questa indipendenza permette di distribuire in combinazioni diverse i cromosomi materni e paterni.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7DEDD-1AD7-4E67-A2CC-7D90BC5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459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Calcolare le combinazioni degli omologhi</a:t>
            </a:r>
            <a:r>
              <a:t>. </a:t>
            </a:r>
            <a:r>
              <a:rPr b="0" i="0"/>
              <a:t>Con due coppie sono possibili </a:t>
            </a:r>
            <a:r>
              <a:rPr b="1" i="0"/>
              <a:t>quattro combinazioni</a:t>
            </a:r>
            <a:r>
              <a:rPr b="0" i="0"/>
              <a:t>: ogni gamete riceve un cromosoma lungo e uno corto. Ogni coppia aggiuntiva raddoppia le possibilità, secondo la formula </a:t>
            </a:r>
            <a:r>
              <a:rPr b="1" i="0"/>
              <a:t>2ⁿ</a:t>
            </a:r>
            <a:r>
              <a:rPr b="0" i="0"/>
              <a:t>. Nell’uomo, con 23 coppie, sono 8.388.608, circa </a:t>
            </a:r>
            <a:r>
              <a:rPr b="1" i="0"/>
              <a:t>8,4 milioni</a:t>
            </a:r>
            <a:r>
              <a:rPr b="0" i="0"/>
              <a:t>. Il calcolo esclude la ricombinazione e indica possibilità teoriche, non il numero di gameti prodotti.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759a3e44a4c29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B7660-5696-4457-BEB0-61D0DA9D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FC489-CAB5-4540-8BC4-216C909A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79/95 · 1/2    |    99/128</a:t>
            </a:r>
          </a:p>
        </p:txBody>
      </p:sp>
    </p:spTree>
    <p:extLst>
      <p:ext uri="{BB962C8B-B14F-4D97-AF65-F5344CB8AC3E}">
        <p14:creationId xmlns:p14="http://schemas.microsoft.com/office/powerpoint/2010/main" val="2008421490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5C7C8-A320-49E0-BFA7-7CCDEABA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73016-2DDD-4BC6-8728-2B91864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CF9B4-F064-4B01-9D59-30983EC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moltiplicano le combinazioni genetiche dei gameti?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6F1CF-F34F-407B-9EDA-9D26A460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Uno scambio influenza quelli vicini</a:t>
            </a:r>
            <a:r>
              <a:t>. </a:t>
            </a:r>
            <a:r>
              <a:rPr b="0" i="0"/>
              <a:t>Quando si forma un </a:t>
            </a:r>
            <a:r>
              <a:rPr b="1" i="0"/>
              <a:t>crossover</a:t>
            </a:r>
            <a:r>
              <a:rPr b="0" i="0"/>
              <a:t>, diminuisce la probabilità che se ne formi un altro nelle immediate vicinanze. Questo fenomeno si chiama </a:t>
            </a:r>
            <a:r>
              <a:rPr b="1" i="0"/>
              <a:t>interferenza dei crossover</a:t>
            </a:r>
            <a:r>
              <a:rPr b="0" i="0"/>
              <a:t>. Il suo effetto è favorire una distribuzione più distanziata degli scambi lungo il cromosoma.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DEA6-0A58-431C-8CC1-E42FDB8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377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Alcune regioni ricombinano più spesso</a:t>
            </a:r>
            <a:r>
              <a:t>. </a:t>
            </a:r>
            <a:r>
              <a:rPr b="0" i="0"/>
              <a:t>I punti con ricombinazione frequente si chiamano </a:t>
            </a:r>
            <a:r>
              <a:rPr b="1" i="0"/>
              <a:t>hotspot</a:t>
            </a:r>
            <a:r>
              <a:rPr b="0" i="0"/>
              <a:t>. Nell’uomo, la proteina </a:t>
            </a:r>
            <a:r>
              <a:rPr b="1" i="0"/>
              <a:t>PRDM9</a:t>
            </a:r>
            <a:r>
              <a:rPr b="0" i="0"/>
              <a:t> contribuisce a determinarne molti. Vicino ai centromeri gli eventi sono spesso ridotti; vicino ai telomeri possono essere frequenti, soprattutto nella meiosi maschile umana. 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ab37217ed48cb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568F3-ACEA-44B2-BE07-9F4DA67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2104B-409B-4E0F-8C1B-9D7CD8CD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79/95 · 2/2    |    100/128</a:t>
            </a:r>
          </a:p>
        </p:txBody>
      </p:sp>
    </p:spTree>
    <p:extLst>
      <p:ext uri="{BB962C8B-B14F-4D97-AF65-F5344CB8AC3E}">
        <p14:creationId xmlns:p14="http://schemas.microsoft.com/office/powerpoint/2010/main" val="1051206637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780B8-C3D8-4BDD-B27F-5C81C62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9E418-AF85-42C8-ABC7-BC2C6DF2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E100A-0EFD-4E58-9247-E9C6B4C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 gamete ricevere un cromosoma in più o in meno?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E3CBF-08CD-4582-BCF4-530CF49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Confrontiamo l’errore nella prima e nella seconda </a:t>
            </a:r>
            <a:r>
              <a:rPr b="1" i="0"/>
              <a:t>divisione</a:t>
            </a:r>
            <a:r>
              <a:rPr b="0" i="0"/>
              <a:t>, seguendo un solo tipo di cromosoma.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3E7D5-CB89-4EC4-BD74-1BC056EF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Quando una coppia non si separa</a:t>
            </a:r>
            <a:r>
              <a:t>. </a:t>
            </a:r>
            <a:r>
              <a:rPr b="0" i="0"/>
              <a:t>Se gli omologhi non si separano durante la meiosi I, entrambi raggiungono lo </a:t>
            </a:r>
            <a:r>
              <a:rPr b="1" i="0"/>
              <a:t>stesso polo</a:t>
            </a:r>
            <a:r>
              <a:rPr b="0" i="0"/>
              <a:t>. L’altro polo resta privo di quel cromosoma. Questo errore di separazione si chiama </a:t>
            </a:r>
            <a:r>
              <a:rPr b="1" i="0"/>
              <a:t>non-disgiunzione</a:t>
            </a:r>
            <a:r>
              <a:rPr b="0" i="0"/>
              <a:t> e crea già nella prima divisione una distribuzione sbilanciata.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E3908-53F3-42A5-8DC8-7354E980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680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L’errore passa ai prodotti meiotici</a:t>
            </a:r>
            <a:r>
              <a:t>. </a:t>
            </a:r>
            <a:r>
              <a:rPr b="0" i="0"/>
              <a:t>La </a:t>
            </a:r>
            <a:r>
              <a:rPr b="1" i="0"/>
              <a:t>meiosi II</a:t>
            </a:r>
            <a:r>
              <a:rPr b="0" i="0"/>
              <a:t> separa i fratelli, ma non recupera l’omologo perso nella prima divisione. Si formano così due gameti con </a:t>
            </a:r>
            <a:r>
              <a:rPr b="1" i="0"/>
              <a:t>una copia in più</a:t>
            </a:r>
            <a:r>
              <a:rPr b="0" i="0"/>
              <a:t> e due con </a:t>
            </a:r>
            <a:r>
              <a:rPr b="1" i="0"/>
              <a:t>una copia in meno</a:t>
            </a:r>
            <a:r>
              <a:rPr b="0" i="0"/>
              <a:t>. Nell’uomo avrebbero rispettivamente 24 e 22 cromosomi; la figura mostra un gamete per ciascun tipo.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C2B70-9E65-40B0-B6D5-6D3E211F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541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 errore nella seconda divisione</a:t>
            </a:r>
            <a:r>
              <a:t>. </a:t>
            </a:r>
            <a:r>
              <a:rPr b="0" i="0"/>
              <a:t>La </a:t>
            </a:r>
            <a:r>
              <a:rPr b="1" i="0"/>
              <a:t>non-disgiunzione</a:t>
            </a:r>
            <a:r>
              <a:rPr b="0" i="0"/>
              <a:t> può verificarsi anche in meiosi II, quando dovrebbero separarsi i fratelli. Se l’errore riguarda una delle due cellule, si formano </a:t>
            </a:r>
            <a:r>
              <a:rPr b="1" i="0"/>
              <a:t>due gameti normali</a:t>
            </a:r>
            <a:r>
              <a:rPr b="0" i="0"/>
              <a:t>, uno con </a:t>
            </a:r>
            <a:r>
              <a:rPr b="1" i="0"/>
              <a:t>una copia in più</a:t>
            </a:r>
            <a:r>
              <a:rPr b="0" i="0"/>
              <a:t> e uno con una in meno. La distribuzione finale è quindi diversa dall’errore avvenuto in meiosi I.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1870c3c744a48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FC6D6-A64D-454F-88FD-2EF5C815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8DFD8-0188-4D82-ACCB-5088251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80/95 · 1/2    |    101/128</a:t>
            </a:r>
          </a:p>
        </p:txBody>
      </p:sp>
    </p:spTree>
    <p:extLst>
      <p:ext uri="{BB962C8B-B14F-4D97-AF65-F5344CB8AC3E}">
        <p14:creationId xmlns:p14="http://schemas.microsoft.com/office/powerpoint/2010/main" val="137563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9BC27-F417-4195-9087-15E2B106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158EC-EC7F-41CA-B2E4-A37C847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452D1-87D4-49D9-9E62-9F91EF52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può un gamete ricevere un cromosoma in più o in meno?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48823-21A4-4C61-8617-121E091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Dopo la fecondazione cambia il numero di copie</a:t>
            </a:r>
            <a:r>
              <a:t>. </a:t>
            </a:r>
            <a:r>
              <a:rPr b="0" i="0"/>
              <a:t>Se un gamete sbilanciato si unisce a un gamete normale, lo zigote può ricevere tre copie di un cromosoma, cioè una </a:t>
            </a:r>
            <a:r>
              <a:rPr b="1" i="0"/>
              <a:t>trisomia</a:t>
            </a:r>
            <a:r>
              <a:rPr b="0" i="0"/>
              <a:t>, oppure una sola copia, cioè una </a:t>
            </a:r>
            <a:r>
              <a:rPr b="1" i="0"/>
              <a:t>monosomia</a:t>
            </a:r>
            <a:r>
              <a:rPr b="0" i="0"/>
              <a:t>. Queste alterazioni di singoli cromosomi si chiamano </a:t>
            </a:r>
            <a:r>
              <a:rPr b="1" i="0"/>
              <a:t>aneuploidie</a:t>
            </a:r>
            <a:r>
              <a:rPr b="0" i="0"/>
              <a:t>. Non corrispondono all’aggiunta o alla perdita di un intero corredo.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6db96fa6a4c06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2BECB-A1D2-4689-BB7B-F502F8FA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483BA-1D7D-4DDD-8970-C8F3D4B0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80/95 · 2/2    |    102/128</a:t>
            </a:r>
          </a:p>
        </p:txBody>
      </p:sp>
    </p:spTree>
    <p:extLst>
      <p:ext uri="{BB962C8B-B14F-4D97-AF65-F5344CB8AC3E}">
        <p14:creationId xmlns:p14="http://schemas.microsoft.com/office/powerpoint/2010/main" val="25676502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79D82-982C-44EB-AD5A-A48F7E1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50E4C-9F93-4962-94C4-593060A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7076D-5593-4D60-A5DD-3810C0DE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Da che cosa dipendono gli effetti e la frequenza degli errori?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983F6-AF10-47DE-AF72-5D33149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Dosaggio</a:t>
            </a:r>
            <a:r>
              <a:rPr b="0" i="0"/>
              <a:t> dei geni, età e </a:t>
            </a:r>
            <a:r>
              <a:rPr b="1" i="0"/>
              <a:t>popolazione osservata</a:t>
            </a:r>
            <a:r>
              <a:rPr b="0" i="0"/>
              <a:t> rispondono a domande diverse.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94F29-37E3-4EA4-AEE8-C1434763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trisomia del cromosoma 21</a:t>
            </a:r>
            <a:r>
              <a:t>. </a:t>
            </a:r>
            <a:r>
              <a:rPr b="0" i="0"/>
              <a:t>La sindrome di Down è associata a una copia aggiuntiva del </a:t>
            </a:r>
            <a:r>
              <a:rPr b="1" i="0"/>
              <a:t>cromosoma 21</a:t>
            </a:r>
            <a:r>
              <a:rPr b="0" i="0"/>
              <a:t>, spesso dovuta a un errore nella meiosi materna. È un esempio di </a:t>
            </a:r>
            <a:r>
              <a:rPr b="1" i="0"/>
              <a:t>aneuploidia</a:t>
            </a:r>
            <a:r>
              <a:rPr b="0" i="0"/>
              <a:t> compatibile con la nascita. La probabilità di errori nella separazione dei cromosomi aumenta con l’</a:t>
            </a:r>
            <a:r>
              <a:rPr b="1" i="0"/>
              <a:t>età materna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68EED-8DBA-40BA-8345-5AE3230A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6570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Conservare i legami durante un lungo arresto</a:t>
            </a:r>
            <a:r>
              <a:t>. </a:t>
            </a:r>
            <a:r>
              <a:rPr b="0" i="0"/>
              <a:t>Durante il lungo arresto meiotico dell’oocita devono conservarsi i collegamenti fra cromatidi. Con l’età possono deteriorarsi la </a:t>
            </a:r>
            <a:r>
              <a:rPr b="1" i="0"/>
              <a:t>coesione</a:t>
            </a:r>
            <a:r>
              <a:rPr b="0" i="0"/>
              <a:t> e altri sistemi che permettono una separazione corretta. Questo contribuisce all’aumento del rischio di errore; non significa che ogni oocita di una donna più avanti con l’età sia aneuploide.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7d33da8b841d2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06A28-D3E2-401A-BE04-3D48D018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F3E78-B4F1-4E70-B7E2-8928A932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81/95 · 1/2    |    103/128</a:t>
            </a:r>
          </a:p>
        </p:txBody>
      </p:sp>
    </p:spTree>
    <p:extLst>
      <p:ext uri="{BB962C8B-B14F-4D97-AF65-F5344CB8AC3E}">
        <p14:creationId xmlns:p14="http://schemas.microsoft.com/office/powerpoint/2010/main" val="142222123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45E4E-BCBF-422D-83F2-199601D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71B6B-B79A-4EE1-86AE-EA52150A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81A32-209A-4F31-AB19-50940524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Da che cosa dipendono gli effetti e la frequenza degli errori?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E0EF5-CC1F-4E2E-AE8C-B4B5C16D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Leggere una misura sperimentale</a:t>
            </a:r>
            <a:r>
              <a:t>. </a:t>
            </a:r>
            <a:r>
              <a:rPr b="0" i="0"/>
              <a:t>Un’analisi citogenetica del 1991 studiò 11.615 spermatozoi e 772 oociti umani. Le stime di </a:t>
            </a:r>
            <a:r>
              <a:rPr b="1" i="0"/>
              <a:t>aneuploidia</a:t>
            </a:r>
            <a:r>
              <a:rPr b="0" i="0"/>
              <a:t> erano rispettivamente del 3–4% e del </a:t>
            </a:r>
            <a:r>
              <a:rPr b="1" i="0"/>
              <a:t>18–19%</a:t>
            </a:r>
            <a:r>
              <a:rPr b="0" i="0"/>
              <a:t>. Queste percentuali descrivono </a:t>
            </a:r>
            <a:r>
              <a:rPr b="1" i="0"/>
              <a:t>campioni selezionati</a:t>
            </a:r>
            <a:r>
              <a:rPr b="0" i="0"/>
              <a:t> per l’analisi: non misurano il rischio di una singola gravidanza.</a:t>
            </a:r>
            <a:r>
              <a:t> 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d976329ec411e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48890-1D99-43A0-BBC0-70E254B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Ricombinare e distribuire in meiosi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2C4BD-242D-4A95-B4C7-3056EA21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81/95 · 2/2    |    104/128</a:t>
            </a:r>
          </a:p>
        </p:txBody>
      </p:sp>
    </p:spTree>
    <p:extLst>
      <p:ext uri="{BB962C8B-B14F-4D97-AF65-F5344CB8AC3E}">
        <p14:creationId xmlns:p14="http://schemas.microsoft.com/office/powerpoint/2010/main" val="1124585520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72B51-FCFE-4097-BE2D-65A848C4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288A8-E06D-4B0E-97CD-4B8B797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80ADF-AA85-496A-80D6-1A0F6442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dimezzano i corredi conservando il citoplasma?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9FA16-F0DA-4A21-83E7-2D2F76AC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Nell’oocita le divisioni meiotiche sono asimmetriche e separate da lunghi arresti.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7A09D-0942-46FC-A511-6B58B940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Formare l’oocita e arrestare la prima meiosi</a:t>
            </a:r>
            <a:r>
              <a:t>. </a:t>
            </a:r>
            <a:r>
              <a:rPr b="0" i="0"/>
              <a:t>Nell’ovaio umano, le cellule germinali primordiali diventano </a:t>
            </a:r>
            <a:r>
              <a:rPr b="1" i="0"/>
              <a:t>oogoni</a:t>
            </a:r>
            <a:r>
              <a:rPr b="0" i="0"/>
              <a:t> e si moltiplicano per mitosi. Entrando in meiosi durante la vita fetale diventano </a:t>
            </a:r>
            <a:r>
              <a:rPr b="1" i="0"/>
              <a:t>oociti primari</a:t>
            </a:r>
            <a:r>
              <a:rPr b="0" i="0"/>
              <a:t>. Si arrestano nel diplotene della profase I, detto anche </a:t>
            </a:r>
            <a:r>
              <a:rPr b="1" i="0"/>
              <a:t>dictyate</a:t>
            </a:r>
            <a:r>
              <a:rPr b="0" i="0"/>
              <a:t>. L’arresto può durare oltre quarant’anni; dalla pubertà alcuni oociti riprendono la maturazione.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2826F-537F-4FCB-92D6-9F51373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Dividere i cromosomi conservando quasi tutto il citoplasma</a:t>
            </a:r>
            <a:r>
              <a:t>. </a:t>
            </a:r>
            <a:r>
              <a:rPr b="0" i="0"/>
              <a:t>Il picco di </a:t>
            </a:r>
            <a:r>
              <a:rPr b="1" i="0"/>
              <a:t>LH</a:t>
            </a:r>
            <a:r>
              <a:rPr b="0" i="0"/>
              <a:t>, l’ormone luteinizzante, induce la ripresa della meiosi. Gli </a:t>
            </a:r>
            <a:r>
              <a:rPr b="1" i="0"/>
              <a:t>omologhi</a:t>
            </a:r>
            <a:r>
              <a:rPr b="0" i="0"/>
              <a:t> si separano: oocita secondario e </a:t>
            </a:r>
            <a:r>
              <a:rPr b="1" i="0"/>
              <a:t>primo corpo polare</a:t>
            </a:r>
            <a:r>
              <a:rPr b="0" i="0"/>
              <a:t> ricevono ciascuno 23 cromosomi duplicati, n,2C, ma quasi tutto il citoplasma resta nell’oocita. Questo si arresta in </a:t>
            </a:r>
            <a:r>
              <a:rPr b="1" i="0"/>
              <a:t>metafase II</a:t>
            </a:r>
            <a:r>
              <a:rPr b="0" i="0"/>
              <a:t> e viene ovulato. Il corpo polare tende a degenerare</a:t>
            </a:r>
            <a:r>
              <a:rPr b="0" i="0"/>
              <a:t>.</a:t>
            </a:r>
            <a:r>
              <a:t> 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ac512483a4c25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3AC13-BBE0-4F7C-968D-90416DA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B665C-A3ED-4C23-803C-E299FC6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82/95 · 1/2    |    105/128</a:t>
            </a:r>
          </a:p>
        </p:txBody>
      </p:sp>
    </p:spTree>
    <p:extLst>
      <p:ext uri="{BB962C8B-B14F-4D97-AF65-F5344CB8AC3E}">
        <p14:creationId xmlns:p14="http://schemas.microsoft.com/office/powerpoint/2010/main" val="89228192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9F19A-3D72-43D3-9B89-85528341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25DE7-6D6C-4F4A-BE49-9A2E71B8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16004-1CDC-437D-8C55-0D9F1C4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dimezzano i corredi conservando il citoplasma?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93209-BF5C-4798-BF63-260ECE1A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fecondazione permette di completare la meiosi</a:t>
            </a:r>
            <a:r>
              <a:t>. </a:t>
            </a:r>
            <a:r>
              <a:rPr b="0" i="0"/>
              <a:t>La </a:t>
            </a:r>
            <a:r>
              <a:rPr b="1" i="0"/>
              <a:t>fecondazione</a:t>
            </a:r>
            <a:r>
              <a:rPr b="0" i="0"/>
              <a:t> attiva l’oocita e gli permette di completare la </a:t>
            </a:r>
            <a:r>
              <a:rPr b="1" i="0"/>
              <a:t>meiosi II</a:t>
            </a:r>
            <a:r>
              <a:rPr b="0" i="0"/>
              <a:t>. I cromatidi fratelli si separano: uno per ciascun cromosoma resta nell’oocita, l’altro entra nel </a:t>
            </a:r>
            <a:r>
              <a:rPr b="1" i="0"/>
              <a:t>secondo corpo polare</a:t>
            </a:r>
            <a:r>
              <a:rPr b="0" i="0"/>
              <a:t>. Il disegno segue soltanto i cromosomi dell’oocita; in questo ingrandimento il genoma paterno non è rappresentato.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bcbadffb74754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72874-3EAE-41DE-A516-E6BA68A2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A49F8-1B7F-4C51-A5D6-69B03293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82/95 · 2/2    |    106/128</a:t>
            </a:r>
          </a:p>
        </p:txBody>
      </p:sp>
    </p:spTree>
    <p:extLst>
      <p:ext uri="{BB962C8B-B14F-4D97-AF65-F5344CB8AC3E}">
        <p14:creationId xmlns:p14="http://schemas.microsoft.com/office/powerpoint/2010/main" val="98720936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C63BF-C64A-4197-AB3E-760164DB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AAEE7-59BC-4431-8B9A-A3A8D76D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2F82D-45B9-4A08-9351-1F70D62C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Quali strutture e riserve prepara l’oocita?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47795-24C5-46BD-A251-92874D3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Durante l’arresto meiotico la cellula continua a crescere e ad accumulare materiali.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0B50-C847-4B93-98AA-6FFA459B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Confrontare le dimensioni degli oociti</a:t>
            </a:r>
            <a:r>
              <a:t>. </a:t>
            </a:r>
            <a:r>
              <a:rPr b="0" i="0"/>
              <a:t>Gli oociti hanno generalmente forma sferica oppure ovoidale. Nell’uomo misurano circa un decimo di millimetro, cioè </a:t>
            </a:r>
            <a:r>
              <a:rPr b="1" i="0"/>
              <a:t>cento micrometri</a:t>
            </a:r>
            <a:r>
              <a:rPr b="0" i="0"/>
              <a:t>.</a:t>
            </a:r>
            <a:r>
              <a:t>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7EE73-E3D1-4C7D-9A72-AD574890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3097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Distinguere rivestimento, membrana e granuli</a:t>
            </a:r>
            <a:r>
              <a:t>. </a:t>
            </a:r>
            <a:r>
              <a:rPr b="0" i="0"/>
              <a:t>Nei mammiferi, l’oocita è circondato dalla </a:t>
            </a:r>
            <a:r>
              <a:rPr b="1" i="0"/>
              <a:t>zona pellucida</a:t>
            </a:r>
            <a:r>
              <a:rPr b="0" i="0"/>
              <a:t>, una rete esterna ricca di glicoproteine, proteine associate a zuccheri. Più internamente si trova la membrana cellulare, con sporgenze chiamate </a:t>
            </a:r>
            <a:r>
              <a:rPr b="1" i="0"/>
              <a:t>microvilli</a:t>
            </a:r>
            <a:r>
              <a:rPr b="0" i="0"/>
              <a:t>. Subito sotto, nel citoplasma periferico, sono presenti i </a:t>
            </a:r>
            <a:r>
              <a:rPr b="1" i="0"/>
              <a:t>granuli corticali</a:t>
            </a:r>
            <a:r>
              <a:rPr b="0" i="0"/>
              <a:t>: vescicole pronte a rilasciare il proprio contenuto.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efb42d0554a0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C514E-D710-4A4E-A341-FE52F993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8ACDB-64BE-4FF9-BA3D-F663495E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83/95    |    107/128</a:t>
            </a:r>
          </a:p>
        </p:txBody>
      </p:sp>
    </p:spTree>
    <p:extLst>
      <p:ext uri="{BB962C8B-B14F-4D97-AF65-F5344CB8AC3E}">
        <p14:creationId xmlns:p14="http://schemas.microsoft.com/office/powerpoint/2010/main" val="127341069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32112-7447-4B42-B3F1-B05063F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87C61-A526-4339-9475-89BAD6EB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9E285-0D1F-4655-8BFC-EA00DD9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cresce un follicolo fino a liberare l’oocita?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A70EF-1AD5-40E9-AF6E-F0989843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Seguiamo il follicolo dall’organizzazione dei suoi strati all’</a:t>
            </a:r>
            <a:r>
              <a:rPr b="1" i="0"/>
              <a:t>ovulazione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4F27C-EF24-4414-A7D5-94881ED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Organizzare gli strati intorno all’oocita</a:t>
            </a:r>
            <a:r>
              <a:t>. </a:t>
            </a:r>
            <a:r>
              <a:rPr b="0" i="0"/>
              <a:t>Il </a:t>
            </a:r>
            <a:r>
              <a:rPr b="1" i="0"/>
              <a:t>follicolo primordiale</a:t>
            </a:r>
            <a:r>
              <a:rPr b="0" i="0"/>
              <a:t> comprende un oocita primario e cellule follicolari somatiche. Crescendo, la </a:t>
            </a:r>
            <a:r>
              <a:rPr b="1" i="0"/>
              <a:t>granulosa</a:t>
            </a:r>
            <a:r>
              <a:rPr b="0" i="0"/>
              <a:t> forma più strati vicino all’oocita; oltre la lamina basale si organizza la teca. Si distingue anche la zona pellucida. Questi tessuti sostengono l’oocita e partecipano alla produzione degli ormoni ovarici.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10530-141D-4B9E-871A-988E769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Comunicare attraverso piccoli canali</a:t>
            </a:r>
            <a:r>
              <a:t>. </a:t>
            </a:r>
            <a:r>
              <a:rPr b="0" i="0"/>
              <a:t>Le </a:t>
            </a:r>
            <a:r>
              <a:rPr b="1" i="0"/>
              <a:t>giunzioni gap</a:t>
            </a:r>
            <a:r>
              <a:rPr b="0" i="0"/>
              <a:t> collegano granulosa e oocita e permettono il passaggio di segnali, precursori e </a:t>
            </a:r>
            <a:r>
              <a:rPr b="1" i="0"/>
              <a:t>piccole molecole</a:t>
            </a:r>
            <a:r>
              <a:rPr b="0" i="0"/>
              <a:t>; le proteine intere sono troppo grandi. I canali sono costruiti da </a:t>
            </a:r>
            <a:r>
              <a:rPr b="1" i="0"/>
              <a:t>connessine</a:t>
            </a:r>
            <a:r>
              <a:rPr b="0" i="0"/>
              <a:t>. </a:t>
            </a: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AD6A7-C292-48AB-AC26-CDED2C57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169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Formare una cavità nel follicolo</a:t>
            </a:r>
            <a:r>
              <a:t>. </a:t>
            </a:r>
            <a:r>
              <a:rPr b="0" i="0"/>
              <a:t>Durante la crescita del follicolo compare l’</a:t>
            </a:r>
            <a:r>
              <a:rPr b="1" i="0"/>
              <a:t>antro</a:t>
            </a:r>
            <a:r>
              <a:rPr b="0" i="0"/>
              <a:t>, una cavità piena di liquido. L’oocita resta circondato da un gruppo di cellule della </a:t>
            </a:r>
            <a:r>
              <a:rPr b="1" i="0"/>
              <a:t>granulosa</a:t>
            </a:r>
            <a:r>
              <a:rPr b="0" i="0"/>
              <a:t> chiamato </a:t>
            </a:r>
            <a:r>
              <a:rPr b="1" i="0"/>
              <a:t>cumulo</a:t>
            </a:r>
            <a:r>
              <a:rPr b="0" i="0"/>
              <a:t>. Con l’ampliamento della cavità, l’oocita e il cumulo si trovano verso un lato del follicolo, anziché al centro.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ca9c216544f6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90C83-74A0-419A-AEE1-2161DED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94B3B-4D72-4FA9-A507-EBFDC3FD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84/95 · 1/2    |    108/128</a:t>
            </a:r>
          </a:p>
        </p:txBody>
      </p:sp>
    </p:spTree>
    <p:extLst>
      <p:ext uri="{BB962C8B-B14F-4D97-AF65-F5344CB8AC3E}">
        <p14:creationId xmlns:p14="http://schemas.microsoft.com/office/powerpoint/2010/main" val="726874804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52DCA-F6BB-4E89-AB8A-A77A4671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860CC-58DE-4D5A-B203-208E7CC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3BC5E-4CBF-4B11-A01A-BBE7C71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cresce un follicolo fino a liberare l’oocita?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2BD78-82B9-4771-845B-7FCF014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 ormone sostiene un gruppo di follicoli</a:t>
            </a:r>
            <a:r>
              <a:t>. </a:t>
            </a:r>
            <a:r>
              <a:rPr b="0" i="0"/>
              <a:t>Dopo la pubertà, l’ipofisi produce </a:t>
            </a:r>
            <a:r>
              <a:rPr b="1" i="0"/>
              <a:t>FSH</a:t>
            </a:r>
            <a:r>
              <a:rPr b="0" i="0"/>
              <a:t>, l’ormone follicolo-stimolante, che sostiene un gruppo di follicoli già antrali: una </a:t>
            </a:r>
            <a:r>
              <a:rPr b="1" i="0"/>
              <a:t>coorte</a:t>
            </a:r>
            <a:r>
              <a:rPr b="0" i="0"/>
              <a:t>. Questi follicoli avevano iniziato a crescere prima del ciclo in corso. A metà ciclo, </a:t>
            </a:r>
            <a:r>
              <a:rPr b="1" i="0"/>
              <a:t>FSH</a:t>
            </a:r>
            <a:r>
              <a:rPr b="0" i="0"/>
              <a:t> aumenta anche insieme al picco di </a:t>
            </a:r>
            <a:r>
              <a:rPr b="1" i="0"/>
              <a:t>LH</a:t>
            </a:r>
            <a:r>
              <a:rPr b="0" i="0"/>
              <a:t>.</a:t>
            </a:r>
            <a:r>
              <a:t>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E91EA-AAD1-44B0-BACF-208417E7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7847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 follicolo prosegue, gli altri regrediscono</a:t>
            </a:r>
            <a:r>
              <a:t>. </a:t>
            </a:r>
            <a:r>
              <a:rPr b="0" i="0"/>
              <a:t>Normalmente un follicolo della </a:t>
            </a:r>
            <a:r>
              <a:rPr b="1" i="0"/>
              <a:t>coorte</a:t>
            </a:r>
            <a:r>
              <a:rPr b="0" i="0"/>
              <a:t> diventa </a:t>
            </a:r>
            <a:r>
              <a:rPr b="1" i="0"/>
              <a:t>dominante</a:t>
            </a:r>
            <a:r>
              <a:rPr b="0" i="0"/>
              <a:t> e prosegue la crescita. Gli altri vanno incontro ad atresia, cioè regressione e degenerazione. La selezione dipende dalle condizioni dei follicoli e dalla loro risposta ai segnali ormonali: l’intero gruppo iniziale non arriva quindi all’</a:t>
            </a:r>
            <a:r>
              <a:rPr b="1" i="0"/>
              <a:t>ovulazione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43AFF-EAD6-4710-8F98-7F7B1A1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534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Ovulare e formare il corpo luteo</a:t>
            </a:r>
            <a:r>
              <a:t>. </a:t>
            </a:r>
            <a:r>
              <a:rPr b="0" i="0"/>
              <a:t>Il picco di </a:t>
            </a:r>
            <a:r>
              <a:rPr b="1" i="0"/>
              <a:t>LH</a:t>
            </a:r>
            <a:r>
              <a:rPr b="0" i="0"/>
              <a:t>, prodotto dall’ipofisi, induce maturazione e </a:t>
            </a:r>
            <a:r>
              <a:rPr b="1" i="0"/>
              <a:t>ovulazione</a:t>
            </a:r>
            <a:r>
              <a:rPr b="0" i="0"/>
              <a:t>. Il follicolo si apre e libera l’oocita con il cumulo, le cui cellule sono tenute insieme da una matrice ricca di ialuronato. Il tessuto rimasto forma il </a:t>
            </a:r>
            <a:r>
              <a:rPr b="1" i="0"/>
              <a:t>corpo luteo</a:t>
            </a:r>
            <a:r>
              <a:rPr b="0" i="0"/>
              <a:t>, che produce </a:t>
            </a:r>
            <a:r>
              <a:rPr b="1" i="0"/>
              <a:t>progesterone</a:t>
            </a:r>
            <a:r>
              <a:rPr b="0" i="0"/>
              <a:t>: dopo l’ovulazione il follicolo cambia funzione.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3d93ffb95440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B04E1-7E2C-4958-A630-684DF2E5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4183F-3D3A-43CF-93D2-BEE14A2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84/95 · 2/2    |    109/128</a:t>
            </a:r>
          </a:p>
        </p:txBody>
      </p:sp>
    </p:spTree>
    <p:extLst>
      <p:ext uri="{BB962C8B-B14F-4D97-AF65-F5344CB8AC3E}">
        <p14:creationId xmlns:p14="http://schemas.microsoft.com/office/powerpoint/2010/main" val="65778574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7870D-5BBA-4AF2-9BB2-B0E9126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551BF-8111-463D-81F0-85544151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563AA-79C6-4A1F-AB4D-59F5E3DB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costruisce uno spermatozoo capace di muoversi?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530FA-9A92-4D1A-9EC8-7693EDEE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Dalla testa alla coda: conservare il genoma, fornire energia e produrre una spinta.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77B6A-248A-40B6-9F4D-2065686B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testa conserva il genoma</a:t>
            </a:r>
            <a:r>
              <a:t>. </a:t>
            </a:r>
            <a:r>
              <a:rPr b="0" i="0"/>
              <a:t>La testa dello spermatozoo contiene il </a:t>
            </a:r>
            <a:r>
              <a:rPr b="1" i="0"/>
              <a:t>nucleo</a:t>
            </a:r>
            <a:r>
              <a:rPr b="0" i="0"/>
              <a:t>, in cui un </a:t>
            </a:r>
            <a:r>
              <a:rPr b="1" i="0"/>
              <a:t>corredo aploide</a:t>
            </a:r>
            <a:r>
              <a:rPr b="0" i="0"/>
              <a:t> di </a:t>
            </a:r>
            <a:r>
              <a:rPr b="1" i="0"/>
              <a:t>DNA</a:t>
            </a:r>
            <a:r>
              <a:rPr b="0" i="0"/>
              <a:t> è fortemente compattato. Davanti al nucleo si trova l’</a:t>
            </a:r>
            <a:r>
              <a:rPr b="1" i="0"/>
              <a:t>acrosoma</a:t>
            </a:r>
            <a:r>
              <a:rPr b="0" i="0"/>
              <a:t>, una vescicola contenente enzimi. Sono strutture distinte: il nucleo trasporta l’informazione genetica, mentre l’acrosoma partecipa alle interazioni necessarie alla fecondazione.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B30EE-9A02-407D-88EC-E46B3C06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Compattare il DNA con le protamine</a:t>
            </a:r>
            <a:r>
              <a:t>. </a:t>
            </a:r>
            <a:r>
              <a:rPr b="0" i="0"/>
              <a:t>Durante la maturazione, gran parte degli </a:t>
            </a:r>
            <a:r>
              <a:rPr b="1" i="0"/>
              <a:t>istoni</a:t>
            </a:r>
            <a:r>
              <a:rPr b="0" i="0"/>
              <a:t> associati al </a:t>
            </a:r>
            <a:r>
              <a:rPr b="1" i="0"/>
              <a:t>DNA</a:t>
            </a:r>
            <a:r>
              <a:rPr b="0" i="0"/>
              <a:t> viene sostituita da </a:t>
            </a:r>
            <a:r>
              <a:rPr b="1" i="0"/>
              <a:t>protamine</a:t>
            </a:r>
            <a:r>
              <a:rPr b="0" i="0"/>
              <a:t>. Le protamine sono piccole proteine basiche, a carica positiva, che interagiscono con il </a:t>
            </a:r>
            <a:r>
              <a:rPr b="1" i="0"/>
              <a:t>DNA</a:t>
            </a:r>
            <a:r>
              <a:rPr b="0" i="0"/>
              <a:t> a carica negativa e ne favoriscono la </a:t>
            </a:r>
            <a:r>
              <a:rPr b="1" i="0"/>
              <a:t>compattazione</a:t>
            </a:r>
            <a:r>
              <a:rPr b="0" i="0"/>
              <a:t>. Una parte della cromatina conserva comunque gli istoni.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85311-68A3-44BA-BB13-9D9B4BAB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9483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Fornire energia al movimento</a:t>
            </a:r>
            <a:r>
              <a:t>. </a:t>
            </a:r>
            <a:r>
              <a:rPr b="0" i="0"/>
              <a:t>Nel tratto intermedio dello spermatozoo è presente una guaina di </a:t>
            </a:r>
            <a:r>
              <a:rPr b="1" i="0"/>
              <a:t>mitocondri</a:t>
            </a:r>
            <a:r>
              <a:rPr b="0" i="0"/>
              <a:t>. Il movimento richiede </a:t>
            </a:r>
            <a:r>
              <a:rPr b="1" i="0"/>
              <a:t>ATP</a:t>
            </a:r>
            <a:r>
              <a:rPr b="0" i="0"/>
              <a:t>, una molecola che fornisce energia ai motori cellulari. Alla sua produzione contribuiscono più vie metaboliche, fra cui l’attività mitocondriale e la </a:t>
            </a:r>
            <a:r>
              <a:rPr b="1" i="0"/>
              <a:t>glicolisi</a:t>
            </a:r>
            <a:r>
              <a:rPr b="0" i="0"/>
              <a:t>, che ricava energia dalla degradazione del glucosio.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bc3bca42441b9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6E4E1-4B99-4BEF-BD90-4C289EF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79446-56B9-4FBC-AAA1-9C0E80C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85/95 · 1/2    |    110/128</a:t>
            </a:r>
          </a:p>
        </p:txBody>
      </p:sp>
    </p:spTree>
    <p:extLst>
      <p:ext uri="{BB962C8B-B14F-4D97-AF65-F5344CB8AC3E}">
        <p14:creationId xmlns:p14="http://schemas.microsoft.com/office/powerpoint/2010/main" val="188971698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F47AB-D414-45DC-9939-CC9CE17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CA585-1C67-49CB-9B6D-058BC41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48F14-1D8D-4F4F-A486-1F4E718D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costruisce uno spermatozoo capace di muoversi?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98351-620D-4F13-8398-D2188113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Organizzare il flagello dalla sua base</a:t>
            </a:r>
            <a:r>
              <a:t>. </a:t>
            </a:r>
            <a:r>
              <a:rPr b="0" i="0"/>
              <a:t>Dietro il </a:t>
            </a:r>
            <a:r>
              <a:rPr b="1" i="0"/>
              <a:t>nucleo</a:t>
            </a:r>
            <a:r>
              <a:rPr b="0" i="0"/>
              <a:t>, nella regione del collo, si trova il </a:t>
            </a:r>
            <a:r>
              <a:rPr b="1" i="0"/>
              <a:t>corpo basale</a:t>
            </a:r>
            <a:r>
              <a:rPr b="0" i="0"/>
              <a:t>, una struttura derivata da un centriolo. Da questa base viene organizzata la struttura di microtubuli del </a:t>
            </a:r>
            <a:r>
              <a:rPr b="1" i="0"/>
              <a:t>flagello</a:t>
            </a:r>
            <a:r>
              <a:rPr b="0" i="0"/>
              <a:t>. Il corpo basale collega quindi l’organizzazione della coda alla regione posteriore della testa.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E2549-8CD7-4204-AF4C-D7D92E09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784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Leggere la sezione del flagello</a:t>
            </a:r>
            <a:r>
              <a:t>. </a:t>
            </a:r>
            <a:r>
              <a:rPr b="0" i="0"/>
              <a:t>L’</a:t>
            </a:r>
            <a:r>
              <a:rPr b="1" i="0"/>
              <a:t>assonema</a:t>
            </a:r>
            <a:r>
              <a:rPr b="0" i="0"/>
              <a:t> comprende due microtubuli centrali e </a:t>
            </a:r>
            <a:r>
              <a:rPr b="1" i="0"/>
              <a:t>nove doppiette periferiche</a:t>
            </a:r>
            <a:r>
              <a:rPr b="0" i="0"/>
              <a:t>, ciascuna formata dai tubuli A e B. I bracci interni ed esterni di </a:t>
            </a:r>
            <a:r>
              <a:rPr b="1" i="0"/>
              <a:t>dineina</a:t>
            </a:r>
            <a:r>
              <a:rPr b="0" i="0"/>
              <a:t> sono motori; raggi radiali, guaina centrale e collegamenti fra doppiette organizzano la struttura.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29B2C-F577-46DC-8325-5853289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7557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Trasformare lo scorrimento in curvatura</a:t>
            </a:r>
            <a:r>
              <a:t>. </a:t>
            </a:r>
            <a:r>
              <a:rPr b="0" i="0"/>
              <a:t>La </a:t>
            </a:r>
            <a:r>
              <a:rPr b="1" i="0"/>
              <a:t>dineina</a:t>
            </a:r>
            <a:r>
              <a:rPr b="0" i="0"/>
              <a:t> usa energia da </a:t>
            </a:r>
            <a:r>
              <a:rPr b="1" i="0"/>
              <a:t>ATP</a:t>
            </a:r>
            <a:r>
              <a:rPr b="0" i="0"/>
              <a:t> per far scorrere una doppietta di microtubuli rispetto a quella vicina. Se le doppiette sono isolate, possono scorrere liberamente. Nel flagello integro, i collegamenti limitano lo </a:t>
            </a:r>
            <a:r>
              <a:rPr b="1" i="0"/>
              <a:t>scorrimento</a:t>
            </a:r>
            <a:r>
              <a:rPr b="0" i="0"/>
              <a:t> e lo trasformano in </a:t>
            </a:r>
            <a:r>
              <a:rPr b="1" i="0"/>
              <a:t>curvatura</a:t>
            </a:r>
            <a:r>
              <a:rPr b="0" i="0"/>
              <a:t>.</a:t>
            </a:r>
            <a:r>
              <a:t> 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ab2e6fc45487f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3A392-2E99-464E-B927-4C8F4D9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1E508-4DD1-42EC-A1AD-C536E9E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85/95 · 2/2    |    111/128</a:t>
            </a:r>
          </a:p>
        </p:txBody>
      </p:sp>
    </p:spTree>
    <p:extLst>
      <p:ext uri="{BB962C8B-B14F-4D97-AF65-F5344CB8AC3E}">
        <p14:creationId xmlns:p14="http://schemas.microsoft.com/office/powerpoint/2010/main" val="255851441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BF50B-C4C3-4683-A106-6E3B9506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FD2AE-DB90-4EA9-84F4-DB97001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11156-B357-4870-B1F3-DEB3461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producono spermatozoi nel tubulo seminifero?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3FE10-BABB-453B-A763-FA67784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maturazione procede dalla regione basale del tubulo verso il lume, la sua cavità interna.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A876-1FB9-4115-AB12-641354F6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Conservare la riserva e avviare il differenziamento</a:t>
            </a:r>
            <a:r>
              <a:t>. </a:t>
            </a:r>
            <a:r>
              <a:rPr b="0" i="0"/>
              <a:t>Gli </a:t>
            </a:r>
            <a:r>
              <a:rPr b="1" i="0"/>
              <a:t>spermatogoni</a:t>
            </a:r>
            <a:r>
              <a:rPr b="0" i="0"/>
              <a:t> si trovano vicino alla lamina basale del tubulo seminifero. Alcuni mantengono la riserva staminale; altri compiono un numero limitato di divisioni e si differenziano. La cellula destinata alla meiosi diventa </a:t>
            </a:r>
            <a:r>
              <a:rPr b="1" i="0"/>
              <a:t>spermatocita primario</a:t>
            </a:r>
            <a:r>
              <a:rPr b="0" i="0"/>
              <a:t> e copia il </a:t>
            </a:r>
            <a:r>
              <a:rPr b="1" i="0"/>
              <a:t>DNA</a:t>
            </a:r>
            <a:r>
              <a:rPr b="0" i="0"/>
              <a:t>.</a:t>
            </a:r>
            <a:r>
              <a:t>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4849E-82A7-4F50-900D-60D93B83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Produrre quattro cellule aploidi</a:t>
            </a:r>
            <a:r>
              <a:t>. </a:t>
            </a:r>
            <a:r>
              <a:rPr b="0" i="0"/>
              <a:t>La </a:t>
            </a:r>
            <a:r>
              <a:rPr b="1" i="0"/>
              <a:t>meiosi I</a:t>
            </a:r>
            <a:r>
              <a:rPr b="0" i="0"/>
              <a:t> produce due spermatociti secondari: ciascuno ha 22 autosomi e X oppure Y, tutti ancora duplicati, nella condizione n,2C. La </a:t>
            </a:r>
            <a:r>
              <a:rPr b="1" i="0"/>
              <a:t>meiosi II</a:t>
            </a:r>
            <a:r>
              <a:rPr b="0" i="0"/>
              <a:t> separa i fratelli e forma </a:t>
            </a:r>
            <a:r>
              <a:rPr b="1" i="0"/>
              <a:t>quattro spermatidi</a:t>
            </a:r>
            <a:r>
              <a:rPr b="0" i="0"/>
              <a:t> con 23 cromosomi non duplicati, n,1C. </a:t>
            </a: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03062-2750-4809-BDF2-8F98DC59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0591"/>
            <a:ext cx="65151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Cambiare forma e raggiungere il lume</a:t>
            </a:r>
            <a:r>
              <a:t>. </a:t>
            </a:r>
            <a:r>
              <a:rPr b="0" i="0"/>
              <a:t>Ogni spermatide si trasforma in spermatozoo mediante la </a:t>
            </a:r>
            <a:r>
              <a:rPr b="1" i="0"/>
              <a:t>spermiogenesi</a:t>
            </a:r>
            <a:r>
              <a:rPr b="0" i="0"/>
              <a:t>, senza altre divisioni cellulari. Le cellule di Sertoli sostengono il rimodellamento. Nel tubulo gli spermatozoi vengono infine rilasciati e lasciano la sede in cui sono stati prodotti.</a:t>
            </a:r>
            <a:r>
              <a:t> 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2839fc70d48d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E22B-9C37-404A-BA5B-A6AE081C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9F4E6-6E0D-40D9-8B2C-E3A8181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86/95    |    112/128</a:t>
            </a:r>
          </a:p>
        </p:txBody>
      </p:sp>
    </p:spTree>
    <p:extLst>
      <p:ext uri="{BB962C8B-B14F-4D97-AF65-F5344CB8AC3E}">
        <p14:creationId xmlns:p14="http://schemas.microsoft.com/office/powerpoint/2010/main" val="107608383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985FF-4EBA-4AD0-847A-CD87EDCF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E2391-FA42-4C24-9C26-69B06D95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AE20E-CAE7-4E62-ABFE-9C66F550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distinguono classificazioni, durata e maturazione?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DF0A1-90DE-4161-B72C-74607AC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nomi dei modelli sperimentali e i tempi di misura vanno letti nel loro contesto.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4A1B5-0FB8-4CCC-AAE9-1D25815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Misurare il percorso fino all’eiaculato</a:t>
            </a:r>
            <a:r>
              <a:t>. </a:t>
            </a:r>
            <a:r>
              <a:rPr b="0" i="0"/>
              <a:t>In uno studio del 2006 su undici uomini, spermatozoi con </a:t>
            </a:r>
            <a:r>
              <a:rPr b="1" i="0"/>
              <a:t>DNA</a:t>
            </a:r>
            <a:r>
              <a:rPr b="0" i="0"/>
              <a:t> marcato comparvero nell’eiaculato dopo una media di </a:t>
            </a:r>
            <a:r>
              <a:rPr b="1" i="0"/>
              <a:t>64 giorni</a:t>
            </a:r>
            <a:r>
              <a:rPr b="0" i="0"/>
              <a:t>, con una dispersione (</a:t>
            </a:r>
            <a:r>
              <a:rPr b="1" i="0"/>
              <a:t>deviazione standard</a:t>
            </a:r>
            <a:r>
              <a:rPr b="0" i="0"/>
              <a:t>) di 8 giorni e intervallo osservato fra 42 e 76. Il tempo misurato comprende il percorso fino all’eiaculato e il campionamento; non tratta la durata della meiosi o della spermiogenesi.</a:t>
            </a:r>
            <a:r>
              <a:t>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D2EDB-2870-4CDE-AAA9-B520CFBD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Maturare e sostare nell’epididimo</a:t>
            </a:r>
            <a:r>
              <a:t>. </a:t>
            </a:r>
            <a:r>
              <a:rPr b="0" i="0"/>
              <a:t>Dopo aver lasciato il testicolo, gli spermatozoi entrano nell’</a:t>
            </a:r>
            <a:r>
              <a:rPr b="1" i="0"/>
              <a:t>epididimo</a:t>
            </a:r>
            <a:r>
              <a:rPr b="0" i="0"/>
              <a:t>, un lungo condotto ripiegato disposto sopra e dietro il testicolo. Qui maturano ulteriormente e possono essere conservati. Proseguiranno poi nel </a:t>
            </a:r>
            <a:r>
              <a:rPr b="1" i="0"/>
              <a:t>dotto deferente</a:t>
            </a:r>
            <a:r>
              <a:rPr b="0" i="0"/>
              <a:t>: produzione nel testicolo e maturazione nell’epididimo sono quindi tappe distinte.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f8e0d92344353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62FC9-D780-4116-A7E8-66BE152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A4A1B-C72D-41CB-BD9A-F9913E3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87/95    |    113/128</a:t>
            </a:r>
          </a:p>
        </p:txBody>
      </p:sp>
    </p:spTree>
    <p:extLst>
      <p:ext uri="{BB962C8B-B14F-4D97-AF65-F5344CB8AC3E}">
        <p14:creationId xmlns:p14="http://schemas.microsoft.com/office/powerpoint/2010/main" val="1462093871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DC933-D49F-4867-AAB9-A5FD520F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82079-9789-436F-B09F-A35342DB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6342C-606C-4187-9CEF-DF3E54E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Perché gli spermatidi restano collegati dopo la meiosi?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5B4C6-01B3-46E3-881C-791D8721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I ponti citoplasmatici permettono a </a:t>
            </a:r>
            <a:r>
              <a:rPr b="1" i="0"/>
              <a:t>cellule</a:t>
            </a:r>
            <a:r>
              <a:rPr b="0" i="0"/>
              <a:t> geneticamente diverse di condividere </a:t>
            </a:r>
            <a:r>
              <a:rPr b="1" i="0"/>
              <a:t>RNA</a:t>
            </a:r>
            <a:r>
              <a:rPr b="0" i="0"/>
              <a:t> e </a:t>
            </a:r>
            <a:r>
              <a:rPr b="1" i="0"/>
              <a:t>proteine</a:t>
            </a:r>
            <a:r>
              <a:rPr b="0" i="0"/>
              <a:t> e di maturare insieme.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A79E0-FFF1-44C4-AB42-9091A31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La divisione lascia un ponte</a:t>
            </a:r>
            <a:r>
              <a:t>. </a:t>
            </a:r>
            <a:r>
              <a:rPr b="0" i="0"/>
              <a:t>Al termine della meiosi, le </a:t>
            </a:r>
            <a:r>
              <a:rPr b="1" i="0"/>
              <a:t>cellule</a:t>
            </a:r>
            <a:r>
              <a:rPr b="0" i="0"/>
              <a:t> prodotte si chiamano spermatidi. La </a:t>
            </a:r>
            <a:r>
              <a:rPr b="1" i="0"/>
              <a:t>separazione</a:t>
            </a:r>
            <a:r>
              <a:rPr b="0" i="0"/>
              <a:t> del citoplasma, o citodieresi, non si completa: tra cellule vicine rimangono ponti citoplasmatici. Ogni spermatide possiede il proprio nucleo aploide, ma il citoplasma resta collegato a quello delle cellule sorelle.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FB45-E851-487B-82D9-C41A32BF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Condividere RNA e proteine serve a maturare insieme</a:t>
            </a:r>
            <a:r>
              <a:t>. </a:t>
            </a:r>
            <a:r>
              <a:rPr b="0" i="0"/>
              <a:t>Gli spermatidi non sono geneticamente identici: per esempio, alcuni possiedono il cromosoma X e altri il cromosoma Y. Attraverso i ponti possono scambiarsi </a:t>
            </a:r>
            <a:r>
              <a:rPr b="1" i="0"/>
              <a:t>RNA</a:t>
            </a:r>
            <a:r>
              <a:rPr b="0" i="0"/>
              <a:t> e </a:t>
            </a:r>
            <a:r>
              <a:rPr b="1" i="0"/>
              <a:t>proteine</a:t>
            </a:r>
            <a:r>
              <a:rPr b="0" i="0"/>
              <a:t>. La condivisione riduce le differenze fra le </a:t>
            </a:r>
            <a:r>
              <a:rPr b="1" i="0"/>
              <a:t>cellule</a:t>
            </a:r>
            <a:r>
              <a:rPr b="0" i="0"/>
              <a:t> e permette all’intero gruppo di maturare in modo coordinato.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c9c3e6fe94fdc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C47C0-9684-4873-B516-2B6C918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07FF7-9A75-4192-ABB4-66730EC6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88/95 · 1/2    |    114/128</a:t>
            </a:r>
          </a:p>
        </p:txBody>
      </p:sp>
    </p:spTree>
    <p:extLst>
      <p:ext uri="{BB962C8B-B14F-4D97-AF65-F5344CB8AC3E}">
        <p14:creationId xmlns:p14="http://schemas.microsoft.com/office/powerpoint/2010/main" val="17911250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145CC-B502-4289-AB54-3F769C23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A4D86-F8B2-4B10-968B-27FB8CE0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B18EB-9C6F-4D1D-A8BC-1776A41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Perché gli spermatidi restano collegati dopo la meiosi?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D17CA-4E68-4FE8-9BE1-9E18947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Separarsi al termine della maturazione</a:t>
            </a:r>
            <a:r>
              <a:t>. </a:t>
            </a:r>
            <a:r>
              <a:rPr b="0" i="0"/>
              <a:t>Quando la maturazione procede, i collegamenti vengono risolti e ciascuno spermatide diventa una cellula individuale. Il citoplasma in eccesso forma </a:t>
            </a:r>
            <a:r>
              <a:rPr b="1" i="0"/>
              <a:t>corpi residui</a:t>
            </a:r>
            <a:r>
              <a:rPr b="0" i="0"/>
              <a:t>, che le cellule di Sertoli inglobano e degradano. Una piccola </a:t>
            </a:r>
            <a:r>
              <a:rPr b="1" i="0"/>
              <a:t>goccia citoplasmatica</a:t>
            </a:r>
            <a:r>
              <a:rPr b="0" i="0"/>
              <a:t> può restare temporaneamente sullo spermatozoo.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9d97161c449f7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CE9B1-7CFC-4F00-B91B-607271CE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E9A72-94AE-4A47-9703-D4D642F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88/95 · 2/2    |    115/128</a:t>
            </a:r>
          </a:p>
        </p:txBody>
      </p:sp>
    </p:spTree>
    <p:extLst>
      <p:ext uri="{BB962C8B-B14F-4D97-AF65-F5344CB8AC3E}">
        <p14:creationId xmlns:p14="http://schemas.microsoft.com/office/powerpoint/2010/main" val="172322904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24218-E438-4861-8B83-FC9805EA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8216E-B69B-4F50-8AC1-A6F70E9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80AE4-DEAB-4B57-A114-5667894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diventa uno spermatozoo capace di fecondare?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22B4D-99F0-4114-82E4-A9BCCC32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produzione nel testicolo non conclude la preparazione dello spermatozoo.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8936D-29CD-48AA-8B6B-B22CF8F2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Diventare capace di fecondare</a:t>
            </a:r>
            <a:r>
              <a:t>. </a:t>
            </a:r>
            <a:r>
              <a:rPr b="0" i="0"/>
              <a:t>Dopo l’eiaculazione, lo spermatozoo completa la </a:t>
            </a:r>
            <a:r>
              <a:rPr b="1" i="0"/>
              <a:t>capacitazione</a:t>
            </a:r>
            <a:r>
              <a:rPr b="0" i="0"/>
              <a:t>: cambiamenti che lo rendono capace di fecondare. Nel tratto genitale femminile cambiano lipidi e proteine della membrana. In laboratorio favoriscono il processo l’</a:t>
            </a:r>
            <a:r>
              <a:rPr b="1" i="0"/>
              <a:t>albumina</a:t>
            </a:r>
            <a:r>
              <a:rPr b="0" i="0"/>
              <a:t>, una proteina che lega lipidi, insieme a </a:t>
            </a:r>
            <a:r>
              <a:rPr b="1" i="0"/>
              <a:t>bicarbonato e calcio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D7586-09B6-4C10-8F7A-48E37736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Modificare membrana e segnali interni</a:t>
            </a:r>
            <a:r>
              <a:t>. </a:t>
            </a:r>
            <a:r>
              <a:rPr b="0" i="0"/>
              <a:t>L’</a:t>
            </a:r>
            <a:r>
              <a:rPr b="1" i="0"/>
              <a:t>albumina</a:t>
            </a:r>
            <a:r>
              <a:rPr b="0" i="0"/>
              <a:t> riceve colesterolo dalla membrana. Cambiano canali e passaggio degli ioni: l’interno diventa meno acido e il potenziale più negativo. Aumenta la </a:t>
            </a:r>
            <a:r>
              <a:rPr b="1" i="0"/>
              <a:t>fosforilazione su tirosina</a:t>
            </a:r>
            <a:r>
              <a:rPr b="0" i="0"/>
              <a:t>, un amminoacido delle proteine. Questi cambiamenti modificano segnali e interazioni; in superficie cambia anche l’accessibilità dei recettori per le componenti della </a:t>
            </a:r>
            <a:r>
              <a:rPr b="1" i="0"/>
              <a:t>zona pellucida</a:t>
            </a:r>
            <a:r>
              <a:rPr b="0" i="0"/>
              <a:t>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840a47ea943c6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900E4-76A9-48C6-84B7-FC18C2F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BA704-4B75-47D6-9A46-4CE50DD4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89/95 · 1/2    |    116/128</a:t>
            </a:r>
          </a:p>
        </p:txBody>
      </p:sp>
    </p:spTree>
    <p:extLst>
      <p:ext uri="{BB962C8B-B14F-4D97-AF65-F5344CB8AC3E}">
        <p14:creationId xmlns:p14="http://schemas.microsoft.com/office/powerpoint/2010/main" val="211849193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8BA50-060E-4AC7-9136-F787AB1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4F66C-0711-463B-9058-6CC4A043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BAD9-96D9-4DFD-BE7F-B6EC28D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diventa uno spermatozoo capace di fecondare?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6B6AE-7320-42D4-A368-0BDB62FB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Cambiare il battito del flagello</a:t>
            </a:r>
            <a:r>
              <a:t>. </a:t>
            </a:r>
            <a:r>
              <a:rPr b="0" i="0"/>
              <a:t>Durante la </a:t>
            </a:r>
            <a:r>
              <a:rPr b="1" i="0"/>
              <a:t>capacitazione</a:t>
            </a:r>
            <a:r>
              <a:rPr b="0" i="0"/>
              <a:t>, il battito del flagello può diventare più ampio e asimmetrico: questa motilità si chiama iperattivata. Lo spermatozoo acquisisce inoltre la capacità di compiere la </a:t>
            </a:r>
            <a:r>
              <a:rPr b="1" i="0"/>
              <a:t>reazione acrosomica</a:t>
            </a:r>
            <a:r>
              <a:rPr b="0" i="0"/>
              <a:t>, cioè di liberare il contenuto dell’acrosoma. Essere pronto a questa reazione e averla già compiuta sono </a:t>
            </a:r>
            <a:r>
              <a:rPr b="1" i="0"/>
              <a:t>due condizioni diverse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EC4E8-3E5D-47E0-9CEE-B02012D1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26739"/>
            <a:ext cx="65151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Pochi spermatozoi raggiungono la sede di fecondazione</a:t>
            </a:r>
            <a:r>
              <a:t>. </a:t>
            </a:r>
            <a:r>
              <a:rPr b="0" i="0"/>
              <a:t>Lungo il tratto genitale, il numero degli spermatozoi diminuisce fortemente. Un esempio illustrativo confronta circa </a:t>
            </a:r>
            <a:r>
              <a:rPr b="1" i="0"/>
              <a:t>trecento milioni</a:t>
            </a:r>
            <a:r>
              <a:rPr b="0" i="0"/>
              <a:t> di spermatozoi eiaculati con circa </a:t>
            </a:r>
            <a:r>
              <a:rPr b="1" i="0"/>
              <a:t>duecento</a:t>
            </a:r>
            <a:r>
              <a:rPr b="0" i="0"/>
              <a:t> che raggiungono la sede di fecondazione nella tuba, detta anche ovidotto. Sono </a:t>
            </a:r>
            <a:r>
              <a:rPr b="1" i="0"/>
              <a:t>ordini di grandezza</a:t>
            </a:r>
            <a:r>
              <a:rPr b="0" i="0"/>
              <a:t> che mostrano la selezione del percorso, non numeri fissi per ogni eiaculato.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ef4cf96da420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6E459-A7E2-456F-88AB-239CCFC2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Produrre gameti competenti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89EB4-C07D-4A8A-A6F4-219DA1E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89/95 · 2/2    |    117/128</a:t>
            </a:r>
          </a:p>
        </p:txBody>
      </p:sp>
    </p:spTree>
    <p:extLst>
      <p:ext uri="{BB962C8B-B14F-4D97-AF65-F5344CB8AC3E}">
        <p14:creationId xmlns:p14="http://schemas.microsoft.com/office/powerpoint/2010/main" val="114843964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A609D-1693-4E16-8928-896419B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6BD09-731D-4305-B31D-9C79E385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7CC16-2DF5-4640-82F6-AA2E3C64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raggiunge l’oocita e si uniscono le membrane?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991A4-DF28-47C1-843B-14B2FE0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Cumulo</a:t>
            </a:r>
            <a:r>
              <a:rPr b="0" i="0"/>
              <a:t>, </a:t>
            </a:r>
            <a:r>
              <a:rPr b="1" i="0"/>
              <a:t>zona pellucida</a:t>
            </a:r>
            <a:r>
              <a:rPr b="0" i="0"/>
              <a:t> e membrana dell’oocita richiedono azioni distinte.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8A571-0CA5-4593-8900-40CB0A8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Attraversare la matrice del cumulo</a:t>
            </a:r>
            <a:r>
              <a:t>. </a:t>
            </a:r>
            <a:r>
              <a:rPr b="0" i="0"/>
              <a:t>Lo spermatozoo incontra le cellule del </a:t>
            </a:r>
            <a:r>
              <a:rPr b="1" i="0"/>
              <a:t>cumulo</a:t>
            </a:r>
            <a:r>
              <a:rPr b="0" i="0"/>
              <a:t> e la matrice ricca di </a:t>
            </a:r>
            <a:r>
              <a:rPr b="1" i="0"/>
              <a:t>ialuronato</a:t>
            </a:r>
            <a:r>
              <a:rPr b="0" i="0"/>
              <a:t> che le circonda. Alla sua superficie è associata l’ialuronidasi, un’attività enzimatica che modifica questa matrice. Insieme al movimento del flagello, facilita il passaggio fra le cellule e l’avvicinamento alla </a:t>
            </a:r>
            <a:r>
              <a:rPr b="1" i="0"/>
              <a:t>zona pellucida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50781-C8EE-4C6F-9F69-3809454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881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Liberare il contenuto dell’acrosoma</a:t>
            </a:r>
            <a:r>
              <a:t>. </a:t>
            </a:r>
            <a:r>
              <a:rPr b="0" i="0"/>
              <a:t>Nella </a:t>
            </a:r>
            <a:r>
              <a:rPr b="1" i="0"/>
              <a:t>reazione acrosomica</a:t>
            </a:r>
            <a:r>
              <a:rPr b="0" i="0"/>
              <a:t>, la membrana esterna dell’acrosoma </a:t>
            </a:r>
            <a:r>
              <a:rPr b="1" i="0"/>
              <a:t>si fonde</a:t>
            </a:r>
            <a:r>
              <a:rPr b="0" i="0"/>
              <a:t> localmente con quella della testa spermatica. Il contenuto della vescicola esce e cambia anche la superficie esposta dello spermatozoo. La reazione può iniziare già prima del contatto con la </a:t>
            </a:r>
            <a:r>
              <a:rPr b="1" i="0"/>
              <a:t>zona pellucida</a:t>
            </a:r>
            <a:r>
              <a:rPr b="0" i="0"/>
              <a:t>: il momento varia secondo specie e condizioni.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138ddfa8f475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7CB3B-2D98-48AB-B286-368F3B0D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C1120-12D7-428C-97C3-006F4E1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90/95 · 1/2    |    118/128</a:t>
            </a:r>
          </a:p>
        </p:txBody>
      </p:sp>
    </p:spTree>
    <p:extLst>
      <p:ext uri="{BB962C8B-B14F-4D97-AF65-F5344CB8AC3E}">
        <p14:creationId xmlns:p14="http://schemas.microsoft.com/office/powerpoint/2010/main" val="226560746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7AC91-3D04-4393-8F45-E349F19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CC5EA-5DF9-4B84-A1E3-ABFF82DE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919D6-CC87-49B9-9B54-7F9CAE2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raggiunge l’oocita e si uniscono le membrane?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13244-4007-4100-BC35-BB40C8EA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Aprire un passaggio locale nella zona</a:t>
            </a:r>
            <a:r>
              <a:t>. </a:t>
            </a:r>
            <a:r>
              <a:rPr b="0" i="0"/>
              <a:t>Per attraversare la </a:t>
            </a:r>
            <a:r>
              <a:rPr b="1" i="0"/>
              <a:t>zona pellucida</a:t>
            </a:r>
            <a:r>
              <a:rPr b="0" i="0"/>
              <a:t>, lo spermatozoo combina la motilità con attività che modificano proteine, fra cui enzimi proteolitici e proteasomi. Il passaggio interessa una </a:t>
            </a:r>
            <a:r>
              <a:rPr b="1" i="0"/>
              <a:t>regione locale</a:t>
            </a:r>
            <a:r>
              <a:rPr b="0" i="0"/>
              <a:t> della rete: il rivestimento non viene sciolto interamente. Superata la zona, lo spermatozoo raggiunge la membrana dell’oocita.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5E179-0B12-4E20-8F61-79ED176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47847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Riconoscersi e mettere in comunicazione i citoplasmi</a:t>
            </a:r>
            <a:r>
              <a:t>. </a:t>
            </a:r>
            <a:r>
              <a:rPr b="0" i="0"/>
              <a:t>Sulla membrana dello spermatozoo, la proteina </a:t>
            </a:r>
            <a:r>
              <a:rPr b="1" i="0"/>
              <a:t>IZUMO1</a:t>
            </a:r>
            <a:r>
              <a:rPr b="0" i="0"/>
              <a:t> si lega a </a:t>
            </a:r>
            <a:r>
              <a:rPr b="1" i="0"/>
              <a:t>JUNO</a:t>
            </a:r>
            <a:r>
              <a:rPr b="0" i="0"/>
              <a:t>, presente sulla membrana dell’oocita. Questo legame permette il riconoscimento fra i gameti. </a:t>
            </a:r>
            <a:r>
              <a:rPr b="1" i="0"/>
              <a:t>CD9</a:t>
            </a:r>
            <a:r>
              <a:rPr b="0" i="0"/>
              <a:t> e altri fattori contribuiscono poi alla </a:t>
            </a:r>
            <a:r>
              <a:rPr b="1" i="0"/>
              <a:t>fusione delle membrane</a:t>
            </a:r>
            <a:r>
              <a:rPr b="0" i="0"/>
              <a:t>, che mette in comunicazione i due citoplasmi; il solo legame </a:t>
            </a:r>
            <a:r>
              <a:rPr b="1" i="0"/>
              <a:t>IZUMO1</a:t>
            </a:r>
            <a:r>
              <a:rPr b="0" i="0"/>
              <a:t>–</a:t>
            </a:r>
            <a:r>
              <a:rPr b="1" i="0"/>
              <a:t>JUNO</a:t>
            </a:r>
            <a:r>
              <a:rPr b="0" i="0"/>
              <a:t> </a:t>
            </a:r>
            <a:r>
              <a:rPr b="1" i="0"/>
              <a:t>non è sufficiente</a:t>
            </a:r>
            <a:r>
              <a:rPr b="0" i="0"/>
              <a:t>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da636d2264bcd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5D261-B7D8-4607-AE86-2A907B9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C11F2-F866-48EC-9CBD-C7F1DDD8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90/95 · 2/2    |    119/128</a:t>
            </a:r>
          </a:p>
        </p:txBody>
      </p:sp>
    </p:spTree>
    <p:extLst>
      <p:ext uri="{BB962C8B-B14F-4D97-AF65-F5344CB8AC3E}">
        <p14:creationId xmlns:p14="http://schemas.microsoft.com/office/powerpoint/2010/main" val="1956825343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8C22E-981A-47A3-B4EE-5BF01729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797EB-53F5-4A17-A4A1-11AC2C2E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996B7-2675-4085-BEC3-CAF5C7E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Che cosa mostrano gli esperimenti sui rivestimenti e la fusione?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9A579-AD8E-4728-9EB6-57293A26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Specie, condizioni e perdita di una proteina aiutano a interpretare ciò che è </a:t>
            </a:r>
            <a:r>
              <a:rPr b="1" i="0"/>
              <a:t>necessario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A5305-3333-4A71-B6B4-3DD42863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709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Confrontare la zona nel topo e nell’uomo</a:t>
            </a:r>
            <a:r>
              <a:t>. </a:t>
            </a:r>
            <a:r>
              <a:rPr b="0" i="0"/>
              <a:t>La zona pellucida è una rete extracellulare di glicoproteine. Nel modello classico del topo, </a:t>
            </a:r>
            <a:r>
              <a:rPr b="1" i="0"/>
              <a:t>ZP2</a:t>
            </a:r>
            <a:r>
              <a:rPr b="0" i="0"/>
              <a:t> e </a:t>
            </a:r>
            <a:r>
              <a:rPr b="1" i="0"/>
              <a:t>ZP3</a:t>
            </a:r>
            <a:r>
              <a:rPr b="0" i="0"/>
              <a:t> contribuiscono ai filamenti e </a:t>
            </a:r>
            <a:r>
              <a:rPr b="1" i="0"/>
              <a:t>ZP1</a:t>
            </a:r>
            <a:r>
              <a:rPr b="0" i="0"/>
              <a:t> li collega; queste proteine sono prodotte dall’oocita. Nell’uomo è presente anche </a:t>
            </a:r>
            <a:r>
              <a:rPr b="1" i="0"/>
              <a:t>ZP4</a:t>
            </a:r>
            <a:r>
              <a:rPr b="0" i="0"/>
              <a:t>. Composizione e organizzazione della rete contribuiscono alle interazioni fra gameti della </a:t>
            </a:r>
            <a:r>
              <a:rPr b="1" i="0"/>
              <a:t>stessa specie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7218C-0BF2-4301-99AA-9DC962B4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459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Rimuovere la zona cambia l’interazione</a:t>
            </a:r>
            <a:r>
              <a:t>. </a:t>
            </a:r>
            <a:r>
              <a:rPr b="0" i="0"/>
              <a:t>In laboratorio, </a:t>
            </a:r>
            <a:r>
              <a:rPr b="1" i="0"/>
              <a:t>rimuovendo la zona</a:t>
            </a:r>
            <a:r>
              <a:rPr b="0" i="0"/>
              <a:t> da oociti di </a:t>
            </a:r>
            <a:r>
              <a:rPr b="1" i="0"/>
              <a:t>criceto</a:t>
            </a:r>
            <a:r>
              <a:rPr b="0" i="0"/>
              <a:t>, spermatozoi umani possono penetrarli e fondersi con la loro membrana. Questa proprietà è stata utilizzata in test di penetrazione. L’esperimento dimostra un’interazione fra gameti in quelle condizioni; non produce un embrione ibrido capace di svilupparsi normalmente.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e4328914f4375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C84DC-FEB6-46F4-AD92-01FD3E1D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E8FCD-FA0A-4050-99E4-C0629A69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91/95 · 1/2    |    120/128</a:t>
            </a:r>
          </a:p>
        </p:txBody>
      </p:sp>
    </p:spTree>
    <p:extLst>
      <p:ext uri="{BB962C8B-B14F-4D97-AF65-F5344CB8AC3E}">
        <p14:creationId xmlns:p14="http://schemas.microsoft.com/office/powerpoint/2010/main" val="76615675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E0937-0B1E-45CE-A613-7DFD535E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CAE88-4486-4229-A256-A4CCD36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E6AAE-277B-4A49-B257-DF4CC521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102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Che cosa mostrano gli esperimenti sui rivestimenti e la fusione?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D0CD4-A2E1-4951-BDBF-7C70EE82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406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Una risposta sperimentale a ZP3</a:t>
            </a:r>
            <a:r>
              <a:t>. </a:t>
            </a:r>
            <a:r>
              <a:rPr b="0" i="0"/>
              <a:t>In esperimenti </a:t>
            </a:r>
            <a:r>
              <a:rPr b="1" i="0"/>
              <a:t>in vitro</a:t>
            </a:r>
            <a:r>
              <a:rPr b="0" i="0"/>
              <a:t>, </a:t>
            </a:r>
            <a:r>
              <a:rPr b="1" i="0"/>
              <a:t>ZP3</a:t>
            </a:r>
            <a:r>
              <a:rPr b="0" i="0"/>
              <a:t> purificata può aumentare il calcio nello spermatozoo e favorire la liberazione del contenuto acrosomico. Questa osservazione collega una componente della zona a una risposta cellulare. Descrive però condizioni sperimentali definite: l’innesco della reazione acrosomica può avvenire anche in altri modi.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24C03-77D2-4848-AB72-F9330210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155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Togliere JUNO per verificarne la necessità</a:t>
            </a:r>
            <a:r>
              <a:t>. </a:t>
            </a:r>
            <a:r>
              <a:rPr b="0" i="0"/>
              <a:t>Negli esperimenti sul topo, gli oociti privi di </a:t>
            </a:r>
            <a:r>
              <a:rPr b="1" i="0"/>
              <a:t>JUNO</a:t>
            </a:r>
            <a:r>
              <a:rPr b="0" i="0"/>
              <a:t> non permettono la normale fusione con lo spermatozoo: </a:t>
            </a:r>
            <a:r>
              <a:rPr b="1" i="0"/>
              <a:t>JUNO</a:t>
            </a:r>
            <a:r>
              <a:rPr b="0" i="0"/>
              <a:t> è </a:t>
            </a:r>
            <a:r>
              <a:rPr b="1" i="0"/>
              <a:t>necessario</a:t>
            </a:r>
            <a:r>
              <a:rPr b="0" i="0"/>
              <a:t> in quel modello. Questo </a:t>
            </a:r>
            <a:r>
              <a:rPr b="1" i="0"/>
              <a:t>non dimostra</a:t>
            </a:r>
            <a:r>
              <a:rPr b="0" i="0"/>
              <a:t> che </a:t>
            </a:r>
            <a:r>
              <a:rPr b="1" i="0"/>
              <a:t>JUNO</a:t>
            </a:r>
            <a:r>
              <a:rPr b="0" i="0"/>
              <a:t> e </a:t>
            </a:r>
            <a:r>
              <a:rPr b="1" i="0"/>
              <a:t>IZUMO1</a:t>
            </a:r>
            <a:r>
              <a:rPr b="0" i="0"/>
              <a:t> bastino da soli a fondere le membrane. Il nome </a:t>
            </a:r>
            <a:r>
              <a:rPr b="1" i="0"/>
              <a:t>JUNO</a:t>
            </a:r>
            <a:r>
              <a:rPr b="0" i="0"/>
              <a:t> richiama Giunone, dea romana associata al matrimonio e alla fertilità.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94e9768cf4195"/>
          <a:stretch xmlns:a="http://schemas.openxmlformats.org/drawingml/2006/main"/>
        </p:blipFill>
        <p:spPr>
          <a:xfrm xmlns:a="http://schemas.openxmlformats.org/drawingml/2006/main">
            <a:off x="7296150" y="3472452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6097F-2A47-4F2C-A62D-1C78E79F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113CF-3AD3-458A-89D0-F128F5D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91/95 · 2/2    |    121/128</a:t>
            </a:r>
          </a:p>
        </p:txBody>
      </p:sp>
    </p:spTree>
    <p:extLst>
      <p:ext uri="{BB962C8B-B14F-4D97-AF65-F5344CB8AC3E}">
        <p14:creationId xmlns:p14="http://schemas.microsoft.com/office/powerpoint/2010/main" val="2056547860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76868-0EE6-4445-B003-83F99B1A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002E8-56C1-4A7C-844B-D1C62190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39DBA-7463-4395-A562-3D7110C7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attiva l’oocita dopo la fusione dei gameti?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20213-35A1-4BB3-B44F-B2B1310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Seguiamo il segnale dal fattore spermatico alle risposte dell’oocita.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A9AE6-C27A-490F-A11D-6046A80F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Liberare calcio dalle riserve dell’oocita</a:t>
            </a:r>
            <a:r>
              <a:t>. </a:t>
            </a:r>
            <a:r>
              <a:rPr b="0" i="0"/>
              <a:t>Dopo la fusione, un enzima dello spermatozoo chiamato fosfolipasi C zeta, o </a:t>
            </a:r>
            <a:r>
              <a:rPr b="1" i="0"/>
              <a:t>PLCζ</a:t>
            </a:r>
            <a:r>
              <a:rPr b="0" i="0"/>
              <a:t>, favorisce la produzione del messaggero IP</a:t>
            </a:r>
            <a:r>
              <a:rPr b="0" i="0">
                <a:latin typeface="Arial Unicode MS"/>
                <a:ea typeface="Arial Unicode MS"/>
                <a:cs typeface="Arial Unicode MS"/>
              </a:rPr>
              <a:t>₃</a:t>
            </a:r>
            <a:r>
              <a:rPr b="0" i="0"/>
              <a:t>. Questo messaggero raggiunge i suoi recettori sul </a:t>
            </a:r>
            <a:r>
              <a:rPr b="1" i="0"/>
              <a:t>reticolo endoplasmatico</a:t>
            </a:r>
            <a:r>
              <a:rPr b="0" i="0"/>
              <a:t>, un deposito intracellulare di </a:t>
            </a:r>
            <a:r>
              <a:rPr b="1" i="0"/>
              <a:t>calcio</a:t>
            </a:r>
            <a:r>
              <a:rPr b="0" i="0"/>
              <a:t>. L’apertura dei canali permette al calcio immagazzinato di raggiungere il citoplasma.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5B781-8153-4E33-BD30-CB85D670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Ripetere il segnale di calcio</a:t>
            </a:r>
            <a:r>
              <a:t>. </a:t>
            </a:r>
            <a:r>
              <a:rPr b="0" i="0"/>
              <a:t>La concentrazione di </a:t>
            </a:r>
            <a:r>
              <a:rPr b="1" i="0"/>
              <a:t>calcio</a:t>
            </a:r>
            <a:r>
              <a:rPr b="0" i="0"/>
              <a:t> nel citoplasma dell’oocita aumenta e diminuisce ripetutamente. Queste </a:t>
            </a:r>
            <a:r>
              <a:rPr b="1" i="0"/>
              <a:t>oscillazioni</a:t>
            </a:r>
            <a:r>
              <a:rPr b="0" i="0"/>
              <a:t>, associate a onde che si propagano nella cellula, possono continuare per ore. La ripetizione del segnale aiuta a coordinare le diverse risposte con cui l’oocita si prepara ad avviare lo sviluppo.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d716f29aa4ae5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8E853-4B05-45C8-882B-510F7E58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41075-3946-4282-92E2-FC2904F1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92/95 · 1/2    |    122/128</a:t>
            </a:r>
          </a:p>
        </p:txBody>
      </p:sp>
    </p:spTree>
    <p:extLst>
      <p:ext uri="{BB962C8B-B14F-4D97-AF65-F5344CB8AC3E}">
        <p14:creationId xmlns:p14="http://schemas.microsoft.com/office/powerpoint/2010/main" val="40114171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79667-1349-40CE-98D8-32BC2B19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DC711-9990-43F4-8317-69FF8499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5BAFA-4518-48E1-9830-76721C91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attiva l’oocita dopo la fusione dei gameti?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E7E7-5473-4C57-865B-790F1E5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Rilasciare il contenuto dei granuli corticali</a:t>
            </a:r>
            <a:r>
              <a:t>. </a:t>
            </a:r>
            <a:r>
              <a:rPr b="0" i="0"/>
              <a:t>Il segnale di </a:t>
            </a:r>
            <a:r>
              <a:rPr b="1" i="0"/>
              <a:t>attivazione</a:t>
            </a:r>
            <a:r>
              <a:rPr b="0" i="0"/>
              <a:t> permette il completamento della </a:t>
            </a:r>
            <a:r>
              <a:rPr b="1" i="0"/>
              <a:t>meiosi II</a:t>
            </a:r>
            <a:r>
              <a:rPr b="0" i="0"/>
              <a:t> già descritto. Ora seguiamo un’altra risposta: i </a:t>
            </a:r>
            <a:r>
              <a:rPr b="1" i="0"/>
              <a:t>granuli corticali</a:t>
            </a:r>
            <a:r>
              <a:rPr b="0" i="0"/>
              <a:t> fondono la propria membrana con quella dell’oocita e liberano il contenuto all’esterno. Questa secrezione mette i loro prodotti a contatto con il rivestimento che circonda la cellula.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80F9F-DCF2-46C0-96E9-303AF4AD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2673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Attivare un oocita in laboratorio</a:t>
            </a:r>
            <a:r>
              <a:t>. </a:t>
            </a:r>
            <a:r>
              <a:rPr b="0" i="0"/>
              <a:t>In specie sperimentali, un </a:t>
            </a:r>
            <a:r>
              <a:rPr b="1" i="0"/>
              <a:t>aumento artificiale del calcio</a:t>
            </a:r>
            <a:r>
              <a:rPr b="0" i="0"/>
              <a:t> può avviare risposte di attivazione in un oocita non fecondato. Il segnale può quindi essere prodotto anche senza l’ingresso di uno spermatozoo. Manca però l’apporto del </a:t>
            </a:r>
            <a:r>
              <a:rPr b="1" i="0"/>
              <a:t>genoma paterno</a:t>
            </a:r>
            <a:r>
              <a:rPr b="0" i="0"/>
              <a:t>: l’attivazione, da sola, </a:t>
            </a:r>
            <a:r>
              <a:rPr b="1" i="0"/>
              <a:t>non garantisce</a:t>
            </a:r>
            <a:r>
              <a:rPr b="0" i="0"/>
              <a:t> lo sviluppo normale di un embrione completo.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bb63531744f58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FAEC9-80F3-4B5F-9FE9-6649491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42922-7CBC-4C80-BBF2-FC59A8E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92/95 · 2/2    |    123/128</a:t>
            </a:r>
          </a:p>
        </p:txBody>
      </p:sp>
    </p:spTree>
    <p:extLst>
      <p:ext uri="{BB962C8B-B14F-4D97-AF65-F5344CB8AC3E}">
        <p14:creationId xmlns:p14="http://schemas.microsoft.com/office/powerpoint/2010/main" val="47170096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B7F56-BBAF-4CF0-B5D4-0DF1AA29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BCF6-D97B-449A-8C4A-B0F2942C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1BA21-8A0A-4DB6-AFD5-538C38D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ostacola l’ingresso di altri spermatozoi?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06798-DD4F-4E77-9801-4E34AF5D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La </a:t>
            </a:r>
            <a:r>
              <a:rPr b="1" i="0"/>
              <a:t>polispermia</a:t>
            </a:r>
            <a:r>
              <a:rPr b="0" i="0"/>
              <a:t> aggiunge genomi e strutture organizzatrici: confrontiamo le protezioni senza confondere le </a:t>
            </a:r>
            <a:r>
              <a:rPr b="1" i="0"/>
              <a:t>specie</a:t>
            </a:r>
            <a:r>
              <a:rPr b="0" i="0"/>
              <a:t>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69E6D-6D2D-4A45-B36D-1C5E54FA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2279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Modificare la rete dopo la secrezione corticale</a:t>
            </a:r>
            <a:r>
              <a:t>. </a:t>
            </a:r>
            <a:r>
              <a:rPr b="0" i="0"/>
              <a:t>I prodotti dei </a:t>
            </a:r>
            <a:r>
              <a:rPr b="1" i="0"/>
              <a:t>granuli corticali</a:t>
            </a:r>
            <a:r>
              <a:rPr b="0" i="0"/>
              <a:t> modificano la </a:t>
            </a:r>
            <a:r>
              <a:rPr b="1" i="0"/>
              <a:t>zona pellucida</a:t>
            </a:r>
            <a:r>
              <a:rPr b="0" i="0"/>
              <a:t> e ostacolano altri ingressi. Nei modelli studiati, una proteasi taglia </a:t>
            </a:r>
            <a:r>
              <a:rPr b="1" i="0"/>
              <a:t>ZP2</a:t>
            </a:r>
            <a:r>
              <a:rPr b="0" i="0"/>
              <a:t> e cambia l’organizzazione della rete. Il blocco della polispermia, cioè l’ingresso di più spermatozoi, non si spiega quindi soltanto con l’inattivazione di </a:t>
            </a:r>
            <a:r>
              <a:rPr b="1" i="0"/>
              <a:t>ZP3</a:t>
            </a:r>
            <a:r>
              <a:rPr b="0" i="0"/>
              <a:t>; i dettagli variano fra </a:t>
            </a:r>
            <a:r>
              <a:rPr b="1" i="0"/>
              <a:t>specie</a:t>
            </a:r>
            <a:r>
              <a:rPr b="0" i="0"/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52BE4-C5BF-4344-A9F8-E5BD791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9773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Un blocco elettrico nel riccio di mare</a:t>
            </a:r>
            <a:r>
              <a:t>. </a:t>
            </a:r>
            <a:r>
              <a:rPr b="0" i="0"/>
              <a:t>Nel </a:t>
            </a:r>
            <a:r>
              <a:rPr b="1" i="0"/>
              <a:t>riccio di mare</a:t>
            </a:r>
            <a:r>
              <a:rPr b="0" i="0"/>
              <a:t>, dopo la fecondazione cambia rapidamente la differenza elettrica fra interno ed esterno della membrana: avviene una </a:t>
            </a:r>
            <a:r>
              <a:rPr b="1" i="0"/>
              <a:t>depolarizzazione</a:t>
            </a:r>
            <a:r>
              <a:rPr b="0" i="0"/>
              <a:t>. Questa variazione contribuisce a ostacolare altri ingressi. È un blocco rapido studiato in questo organismo; </a:t>
            </a:r>
            <a:r>
              <a:rPr b="1" i="0"/>
              <a:t>nell’uomo non è accertato</a:t>
            </a:r>
            <a:r>
              <a:rPr b="0" i="0"/>
              <a:t> un meccanismo equivalente con lo stesso ruolo.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f15f57ce04f10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4CA80-F751-4B3B-A789-C03EB8C4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28D11-3A0C-4886-9C8E-53237B9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93/95 · 1/2    |    124/128</a:t>
            </a:r>
          </a:p>
        </p:txBody>
      </p:sp>
    </p:spTree>
    <p:extLst>
      <p:ext uri="{BB962C8B-B14F-4D97-AF65-F5344CB8AC3E}">
        <p14:creationId xmlns:p14="http://schemas.microsoft.com/office/powerpoint/2010/main" val="202553290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C5B45-0911-40B8-BDFA-10B4233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96020-D865-43DE-A7C4-3A656AE7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D09F2-33B8-4AD6-8F3C-8589A2D6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ostacola l’ingresso di altri spermatozoi?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92B6C-A15F-479C-93FD-1F0DF139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Perché più spermatozoi creano un problema</a:t>
            </a:r>
            <a:r>
              <a:t>. </a:t>
            </a:r>
            <a:r>
              <a:rPr b="0" i="0"/>
              <a:t>Se entrano più spermatozoi, lo zigote riceve corredi cromosomici e componenti centrosomali in eccesso. Possono formarsi fusi con </a:t>
            </a:r>
            <a:r>
              <a:rPr b="1" i="0"/>
              <a:t>più di due poli</a:t>
            </a:r>
            <a:r>
              <a:rPr b="0" i="0"/>
              <a:t>, che distribuiscono i cromosomi in modo anomalo. Prevenire la </a:t>
            </a:r>
            <a:r>
              <a:rPr b="1" i="0"/>
              <a:t>polispermia</a:t>
            </a:r>
            <a:r>
              <a:rPr b="0" i="0"/>
              <a:t> protegge quindi sia il numero dei genomi sia l’organizzazione della divisione.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875fa3ba34ade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9695B-4170-45CA-B03B-1A82DDB9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88108-B149-40EC-84A6-9C504681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93/95 · 2/2    |    125/128</a:t>
            </a:r>
          </a:p>
        </p:txBody>
      </p:sp>
    </p:spTree>
    <p:extLst>
      <p:ext uri="{BB962C8B-B14F-4D97-AF65-F5344CB8AC3E}">
        <p14:creationId xmlns:p14="http://schemas.microsoft.com/office/powerpoint/2010/main" val="1645301004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2F6F8-4AEB-4141-B283-CE24B721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5E0F9-863E-42B4-AED6-6D4B397F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F25C7-8DF7-40DF-8FE6-0336851C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arriva dallo zigote alle prime due cellule?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7DA44-9B36-46D7-971A-89042AA0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Schemi: </a:t>
            </a:r>
            <a:r>
              <a:rPr b="1" i="0"/>
              <a:t>rosa e ciano</a:t>
            </a:r>
            <a:r>
              <a:rPr b="0" i="0"/>
              <a:t> distinguono le origini parentali. Micrografie: DNA </a:t>
            </a:r>
            <a:r>
              <a:rPr b="1" i="0"/>
              <a:t>blu</a:t>
            </a:r>
            <a:r>
              <a:rPr b="0" i="0"/>
              <a:t> e tubulina </a:t>
            </a:r>
            <a:r>
              <a:rPr b="1" i="0"/>
              <a:t>verde</a:t>
            </a:r>
            <a:r>
              <a:rPr b="0" i="0"/>
              <a:t>. I tempi indicano la serie osservata, non scadenze universali.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32917-2C61-4346-8B6B-47D5949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1171"/>
            <a:ext cx="6515100" cy="232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Tenere i genomi separati e organizzare i centrosomi</a:t>
            </a:r>
            <a:r>
              <a:t>. </a:t>
            </a:r>
            <a:r>
              <a:rPr b="0" i="0"/>
              <a:t>Nello zigote, il </a:t>
            </a:r>
            <a:r>
              <a:rPr b="1" i="0"/>
              <a:t>DNA</a:t>
            </a:r>
            <a:r>
              <a:rPr b="0" i="0"/>
              <a:t> materno e paterno è racchiuso in due </a:t>
            </a:r>
            <a:r>
              <a:rPr b="1" i="0"/>
              <a:t>pronuclei</a:t>
            </a:r>
            <a:r>
              <a:rPr b="0" i="0"/>
              <a:t> distinti dentro un’unica cellula. Lo spermatozoo porta anche coda e </a:t>
            </a:r>
            <a:r>
              <a:rPr b="1" i="0"/>
              <a:t>centrioli</a:t>
            </a:r>
            <a:r>
              <a:rPr b="0" i="0"/>
              <a:t>. Nell’oocita umano maturo mancano centrioli canonici equivalenti; materiale </a:t>
            </a:r>
            <a:r>
              <a:rPr b="1" i="0"/>
              <a:t>centrosomale</a:t>
            </a:r>
            <a:r>
              <a:rPr b="0" i="0"/>
              <a:t> si raccoglie attorno a quelli paterni, contribuendo all’organizzazione dei centrosomi per la prima divisione.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29088-EBB7-489C-82C0-C2D6045D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7557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Riconoscere i pronuclei nella serie osservata</a:t>
            </a:r>
            <a:r>
              <a:t>. </a:t>
            </a:r>
            <a:r>
              <a:rPr b="0" i="0"/>
              <a:t>Nella serie sperimentale illustrata, dopo circa </a:t>
            </a:r>
            <a:r>
              <a:rPr b="1" i="0"/>
              <a:t>cinque ore</a:t>
            </a:r>
            <a:r>
              <a:rPr b="0" i="0"/>
              <a:t> sono visibili il secondo corpo polare e due </a:t>
            </a:r>
            <a:r>
              <a:rPr b="1" i="0"/>
              <a:t>pronuclei</a:t>
            </a:r>
            <a:r>
              <a:rPr b="0" i="0"/>
              <a:t> ancora distanti. Vicino alla testa spermatica si organizzano microtubuli, le fibre che contribuiranno al fuso. Il tempo indica quando è stato osservato quello stato in quella serie; può variare fra campioni.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90879a4f94951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B5A57-BC64-447C-A006-614A6639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3BAEF-3B97-4725-9A93-A327BF8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94/95 · 1/2    |    126/128</a:t>
            </a:r>
          </a:p>
        </p:txBody>
      </p:sp>
    </p:spTree>
    <p:extLst>
      <p:ext uri="{BB962C8B-B14F-4D97-AF65-F5344CB8AC3E}">
        <p14:creationId xmlns:p14="http://schemas.microsoft.com/office/powerpoint/2010/main" val="1717229817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0A987-F8A4-4CE8-B3F2-21E8181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AD924-8BE0-47C7-A6C7-9306770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772A7-DB32-4F40-B7F1-3CC2773B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Come si arriva dallo zigote alle prime due cellule?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178D8-7677-4167-BFE2-3E4F054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2047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Preparare i cromosomi alla prima mitosi</a:t>
            </a:r>
            <a:r>
              <a:t>. </a:t>
            </a:r>
            <a:r>
              <a:rPr b="0" i="0"/>
              <a:t>Dopo la copia del </a:t>
            </a:r>
            <a:r>
              <a:rPr b="1" i="0"/>
              <a:t>DNA</a:t>
            </a:r>
            <a:r>
              <a:rPr b="0" i="0"/>
              <a:t>, gli involucri dei due </a:t>
            </a:r>
            <a:r>
              <a:rPr b="1" i="0"/>
              <a:t>pronuclei</a:t>
            </a:r>
            <a:r>
              <a:rPr b="0" i="0"/>
              <a:t> </a:t>
            </a:r>
            <a:r>
              <a:rPr b="1" i="0"/>
              <a:t>si disassemblano</a:t>
            </a:r>
            <a:r>
              <a:rPr b="0" i="0"/>
              <a:t>. I cromosomi di origine materna e paterna possono così partecipare alla </a:t>
            </a:r>
            <a:r>
              <a:rPr b="1" i="0"/>
              <a:t>prima mitosi</a:t>
            </a:r>
            <a:r>
              <a:rPr b="0" i="0"/>
              <a:t> dello zigote. L’incontro dei genomi avviene quindi attraverso questa organizzazione dei cromosomi, non attraverso la semplice fusione di due nuclei rimasti integri.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CEB9-0057-4F1F-B93E-B28E1D88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26739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Riconoscere il primo fuso nella stessa serie</a:t>
            </a:r>
            <a:r>
              <a:t>. </a:t>
            </a:r>
            <a:r>
              <a:rPr b="0" i="0"/>
              <a:t>Nella stessa serie, entro circa </a:t>
            </a:r>
            <a:r>
              <a:rPr b="1" i="0"/>
              <a:t>sedici ore</a:t>
            </a:r>
            <a:r>
              <a:rPr b="0" i="0"/>
              <a:t> è organizzato un </a:t>
            </a:r>
            <a:r>
              <a:rPr b="1" i="0"/>
              <a:t>fuso con due poli</a:t>
            </a:r>
            <a:r>
              <a:rPr b="0" i="0"/>
              <a:t> e cromosomi di origine materna e paterna. La coda spermatica resta associata a uno dei centrosomi. Questa immagine mostra la preparazione della </a:t>
            </a:r>
            <a:r>
              <a:rPr b="1" i="0"/>
              <a:t>prima mitosi</a:t>
            </a:r>
            <a:r>
              <a:rPr b="0" i="0"/>
              <a:t>; anche questo tempo dipende dal campione e dalle condizioni.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28D8A-A68F-4900-9C28-DEAFDAF8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5341"/>
            <a:ext cx="65151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Distribuire entrambi i genomi alle figlie</a:t>
            </a:r>
            <a:r>
              <a:t>. </a:t>
            </a:r>
            <a:r>
              <a:rPr b="0" i="0"/>
              <a:t>Il fuso della </a:t>
            </a:r>
            <a:r>
              <a:rPr b="1" i="0"/>
              <a:t>prima mitosi</a:t>
            </a:r>
            <a:r>
              <a:rPr b="0" i="0"/>
              <a:t> separa i </a:t>
            </a:r>
            <a:r>
              <a:rPr b="1" i="0"/>
              <a:t>cromatidi</a:t>
            </a:r>
            <a:r>
              <a:rPr b="0" i="0"/>
              <a:t> e li distribuisce ai due poli. Il citoplasma si divide e si formano </a:t>
            </a:r>
            <a:r>
              <a:rPr b="1" i="0"/>
              <a:t>due cellule figlie</a:t>
            </a:r>
            <a:r>
              <a:rPr b="0" i="0"/>
              <a:t>. Ciascuna riceve cromosomi di origine sia materna sia paterna: i due genomi vengono distribuiti insieme a entrambe le cellule.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f754e62404403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2041C-4E4F-47BF-AB65-D45AAE48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3F6ED-93C7-4324-B397-DA82FBE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94/95 · 2/2    |    127/128</a:t>
            </a:r>
          </a:p>
        </p:txBody>
      </p:sp>
    </p:spTree>
    <p:extLst>
      <p:ext uri="{BB962C8B-B14F-4D97-AF65-F5344CB8AC3E}">
        <p14:creationId xmlns:p14="http://schemas.microsoft.com/office/powerpoint/2010/main" val="2016914680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50085-DC95-4744-9BDC-575BB08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34D"/>
                </a:solidFill>
                <a:latin typeface="Arial"/>
                <a:ea typeface="Arial"/>
                <a:cs typeface="Arial"/>
              </a:defRPr>
            </a:pPr>
            <a:r>
              <a:t>AG TEST  /  CICLO CELLULARE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2FE26-5236-4985-8A9C-4422A81F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CAPITOLO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7A6AC-FBEB-4AE8-A9B0-490EFC40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9625"/>
            <a:ext cx="1120140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t>La prossima volta vedremo…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7CA40-BCFB-4B67-ACCB-07A4AD7B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9245"/>
            <a:ext cx="65151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0" i="0"/>
              <a:t>Un ultimo indizio prima di chiudere.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43626-0C15-42CE-8297-61798F7F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3387"/>
            <a:ext cx="65151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2"/>
                </a:solidFill>
                <a:latin typeface="Arial"/>
                <a:ea typeface="Arial"/>
                <a:cs typeface="Arial"/>
              </a:defRPr>
            </a:pPr>
            <a:r>
              <a:rPr b="1" i="0"/>
              <a:t>L’apoptosi</a:t>
            </a:r>
            <a:r>
              <a:t>. </a:t>
            </a:r>
            <a:r>
              <a:rPr b="0" i="0"/>
              <a:t>La prossima volta vedremo come una cellula attiva un programma di </a:t>
            </a:r>
            <a:r>
              <a:rPr b="1" i="0"/>
              <a:t>morte controllata</a:t>
            </a:r>
            <a:r>
              <a:rPr b="0" i="0"/>
              <a:t> e perché questo processo è essenziale per lo </a:t>
            </a:r>
            <a:r>
              <a:rPr b="1" i="0"/>
              <a:t>sviluppo</a:t>
            </a:r>
            <a:r>
              <a:rPr b="0" i="0"/>
              <a:t> e l’equilibrio dei tessuti.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c436761e1413a"/>
          <a:stretch xmlns:a="http://schemas.openxmlformats.org/drawingml/2006/main"/>
        </p:blipFill>
        <p:spPr>
          <a:xfrm xmlns:a="http://schemas.openxmlformats.org/drawingml/2006/main">
            <a:off x="7296150" y="3153364"/>
            <a:ext cx="4400550" cy="28906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20C7C-56C5-4387-9074-7E05051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867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Fecondare e avviare lo sviluppo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D20EE-1348-46A4-A7FE-C49F05C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86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36A"/>
                </a:solidFill>
                <a:latin typeface="Arial"/>
                <a:ea typeface="Arial"/>
                <a:cs typeface="Arial"/>
              </a:defRPr>
            </a:pPr>
            <a:r>
              <a:t>Argomento 95/95    |    128/128</a:t>
            </a:r>
          </a:p>
        </p:txBody>
      </p:sp>
    </p:spTree>
    <p:extLst>
      <p:ext uri="{BB962C8B-B14F-4D97-AF65-F5344CB8AC3E}">
        <p14:creationId xmlns:p14="http://schemas.microsoft.com/office/powerpoint/2010/main" val="1205840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2026-09-25T15:08:32.2970000Z</dcterms:created>
  <dcterms:modified xsi:type="dcterms:W3CDTF">2026-09-25T15:08:32.2970000Z</dcterms:modified>
</coreProperties>
</file>